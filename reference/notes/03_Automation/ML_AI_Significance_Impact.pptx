
<file path=[Content_Types].xml><?xml version="1.0" encoding="utf-8"?>
<Types xmlns="http://schemas.openxmlformats.org/package/2006/content-types">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p:restoredTop sz="94610"/>
  </p:normalViewPr>
  <p:slideViewPr>
    <p:cSldViewPr snapToGrid="0" snapToObjects="1">
      <p:cViewPr varScale="1">
        <p:scale>
          <a:sx n="184" d="100"/>
          <a:sy n="184" d="100"/>
        </p:scale>
        <p:origin x="176"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0475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A84C"/>
          </a:solidFill>
          <a:ln w="12700">
            <a:solidFill>
              <a:srgbClr val="C9A84C"/>
            </a:solidFill>
            <a:prstDash val="solid"/>
          </a:ln>
        </p:spPr>
        <p:txBody>
          <a:bodyPr/>
          <a:lstStyle/>
          <a:p>
            <a:endParaRPr lang="en-AU"/>
          </a:p>
        </p:txBody>
      </p:sp>
      <p:sp>
        <p:nvSpPr>
          <p:cNvPr id="3" name="Shape 1"/>
          <p:cNvSpPr/>
          <p:nvPr/>
        </p:nvSpPr>
        <p:spPr>
          <a:xfrm>
            <a:off x="5943600" y="3474720"/>
            <a:ext cx="3200400" cy="1668780"/>
          </a:xfrm>
          <a:prstGeom prst="rect">
            <a:avLst/>
          </a:prstGeom>
          <a:solidFill>
            <a:srgbClr val="028090"/>
          </a:solidFill>
          <a:ln w="12700">
            <a:solidFill>
              <a:srgbClr val="028090"/>
            </a:solidFill>
            <a:prstDash val="solid"/>
          </a:ln>
        </p:spPr>
        <p:txBody>
          <a:bodyPr/>
          <a:lstStyle/>
          <a:p>
            <a:endParaRPr lang="en-AU"/>
          </a:p>
        </p:txBody>
      </p:sp>
      <p:sp>
        <p:nvSpPr>
          <p:cNvPr id="4" name="Text 2"/>
          <p:cNvSpPr/>
          <p:nvPr/>
        </p:nvSpPr>
        <p:spPr>
          <a:xfrm>
            <a:off x="411480" y="502920"/>
            <a:ext cx="8503920" cy="274320"/>
          </a:xfrm>
          <a:prstGeom prst="rect">
            <a:avLst/>
          </a:prstGeom>
          <a:noFill/>
          <a:ln/>
        </p:spPr>
        <p:txBody>
          <a:bodyPr wrap="square" rtlCol="0" anchor="ctr"/>
          <a:lstStyle/>
          <a:p>
            <a:pPr marL="0" indent="0">
              <a:buNone/>
            </a:pPr>
            <a:r>
              <a:rPr lang="en-US" sz="1000" b="1" kern="0" spc="200" dirty="0">
                <a:solidFill>
                  <a:srgbClr val="C9A84C"/>
                </a:solidFill>
                <a:latin typeface="Calibri" pitchFamily="34" charset="0"/>
                <a:ea typeface="Calibri" pitchFamily="34" charset="-122"/>
                <a:cs typeface="Calibri" pitchFamily="34" charset="-120"/>
              </a:rPr>
              <a:t>NSW HSC SOFTWARE ENGINEERING  |  Software Automation</a:t>
            </a:r>
            <a:endParaRPr lang="en-US" sz="1000" dirty="0"/>
          </a:p>
        </p:txBody>
      </p:sp>
      <p:sp>
        <p:nvSpPr>
          <p:cNvPr id="5" name="Text 3"/>
          <p:cNvSpPr/>
          <p:nvPr/>
        </p:nvSpPr>
        <p:spPr>
          <a:xfrm>
            <a:off x="411480" y="1005840"/>
            <a:ext cx="7772400" cy="173736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Significance and Impact of</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Machine Learning and AI</a:t>
            </a:r>
            <a:endParaRPr lang="en-US" sz="4000" dirty="0"/>
          </a:p>
        </p:txBody>
      </p:sp>
      <p:sp>
        <p:nvSpPr>
          <p:cNvPr id="6" name="Text 4"/>
          <p:cNvSpPr/>
          <p:nvPr/>
        </p:nvSpPr>
        <p:spPr>
          <a:xfrm>
            <a:off x="411480" y="2834640"/>
            <a:ext cx="5486400" cy="320040"/>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Outcomes: SE-12-03  |  SE-12-05</a:t>
            </a:r>
            <a:endParaRPr lang="en-US" sz="1300" dirty="0"/>
          </a:p>
        </p:txBody>
      </p:sp>
      <p:sp>
        <p:nvSpPr>
          <p:cNvPr id="7" name="Shape 5"/>
          <p:cNvSpPr/>
          <p:nvPr/>
        </p:nvSpPr>
        <p:spPr>
          <a:xfrm>
            <a:off x="411480" y="3310128"/>
            <a:ext cx="2743200" cy="1097280"/>
          </a:xfrm>
          <a:prstGeom prst="rect">
            <a:avLst/>
          </a:prstGeom>
          <a:solidFill>
            <a:srgbClr val="028090"/>
          </a:solidFill>
          <a:ln w="6350">
            <a:solidFill>
              <a:srgbClr val="FFFFFF"/>
            </a:solidFill>
            <a:prstDash val="solid"/>
          </a:ln>
        </p:spPr>
        <p:txBody>
          <a:bodyPr/>
          <a:lstStyle/>
          <a:p>
            <a:endParaRPr lang="en-AU"/>
          </a:p>
        </p:txBody>
      </p:sp>
      <p:sp>
        <p:nvSpPr>
          <p:cNvPr id="8" name="Text 6"/>
          <p:cNvSpPr/>
          <p:nvPr/>
        </p:nvSpPr>
        <p:spPr>
          <a:xfrm>
            <a:off x="521208" y="3310128"/>
            <a:ext cx="2523744" cy="10972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 Impact on individuals, society</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and the environment</a:t>
            </a:r>
            <a:endParaRPr lang="en-US" sz="1100" dirty="0"/>
          </a:p>
        </p:txBody>
      </p:sp>
      <p:sp>
        <p:nvSpPr>
          <p:cNvPr id="9" name="Shape 7"/>
          <p:cNvSpPr/>
          <p:nvPr/>
        </p:nvSpPr>
        <p:spPr>
          <a:xfrm>
            <a:off x="3264408" y="3310128"/>
            <a:ext cx="2743200" cy="1097280"/>
          </a:xfrm>
          <a:prstGeom prst="rect">
            <a:avLst/>
          </a:prstGeom>
          <a:solidFill>
            <a:srgbClr val="0D5C69"/>
          </a:solidFill>
          <a:ln w="6350">
            <a:solidFill>
              <a:srgbClr val="FFFFFF"/>
            </a:solidFill>
            <a:prstDash val="solid"/>
          </a:ln>
        </p:spPr>
        <p:txBody>
          <a:bodyPr/>
          <a:lstStyle/>
          <a:p>
            <a:endParaRPr lang="en-AU"/>
          </a:p>
        </p:txBody>
      </p:sp>
      <p:sp>
        <p:nvSpPr>
          <p:cNvPr id="10" name="Text 8"/>
          <p:cNvSpPr/>
          <p:nvPr/>
        </p:nvSpPr>
        <p:spPr>
          <a:xfrm>
            <a:off x="3374136" y="3310128"/>
            <a:ext cx="2523744" cy="10972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 Human behaviour patterns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influencing ML/AI development</a:t>
            </a:r>
            <a:endParaRPr lang="en-US" sz="1100" dirty="0"/>
          </a:p>
        </p:txBody>
      </p:sp>
      <p:sp>
        <p:nvSpPr>
          <p:cNvPr id="11" name="Shape 9"/>
          <p:cNvSpPr/>
          <p:nvPr/>
        </p:nvSpPr>
        <p:spPr>
          <a:xfrm>
            <a:off x="6117336" y="3310128"/>
            <a:ext cx="2743200" cy="1097280"/>
          </a:xfrm>
          <a:prstGeom prst="rect">
            <a:avLst/>
          </a:prstGeom>
          <a:solidFill>
            <a:srgbClr val="094B56"/>
          </a:solidFill>
          <a:ln w="6350">
            <a:solidFill>
              <a:srgbClr val="FFFFFF"/>
            </a:solidFill>
            <a:prstDash val="solid"/>
          </a:ln>
        </p:spPr>
        <p:txBody>
          <a:bodyPr/>
          <a:lstStyle/>
          <a:p>
            <a:endParaRPr lang="en-AU"/>
          </a:p>
        </p:txBody>
      </p:sp>
      <p:sp>
        <p:nvSpPr>
          <p:cNvPr id="12" name="Text 10"/>
          <p:cNvSpPr/>
          <p:nvPr/>
        </p:nvSpPr>
        <p:spPr>
          <a:xfrm>
            <a:off x="6227064" y="3310128"/>
            <a:ext cx="2523744" cy="10972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 Human and dataset</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source bias</a:t>
            </a:r>
            <a:endParaRPr lang="en-US" sz="1100" dirty="0"/>
          </a:p>
        </p:txBody>
      </p:sp>
      <p:sp>
        <p:nvSpPr>
          <p:cNvPr id="13" name="Text 11"/>
          <p:cNvSpPr/>
          <p:nvPr/>
        </p:nvSpPr>
        <p:spPr>
          <a:xfrm>
            <a:off x="6126480" y="4480560"/>
            <a:ext cx="2834640" cy="274320"/>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Knox Grammar School  |  TAS Faculty</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What You Will Learn in This Topic</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Learning Overview</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Shape 5"/>
          <p:cNvSpPr/>
          <p:nvPr/>
        </p:nvSpPr>
        <p:spPr>
          <a:xfrm>
            <a:off x="274320" y="713232"/>
            <a:ext cx="2834640" cy="4041648"/>
          </a:xfrm>
          <a:prstGeom prst="rect">
            <a:avLst/>
          </a:prstGeom>
          <a:solidFill>
            <a:srgbClr val="FFFFFF"/>
          </a:solidFill>
          <a:ln w="15240">
            <a:solidFill>
              <a:srgbClr val="1B3A6B"/>
            </a:solidFill>
            <a:prstDash val="solid"/>
          </a:ln>
          <a:effectLst>
            <a:outerShdw blurRad="63500" dist="25400" dir="8100000" algn="bl" rotWithShape="0">
              <a:srgbClr val="000000">
                <a:alpha val="12000"/>
              </a:srgbClr>
            </a:outerShdw>
          </a:effectLst>
        </p:spPr>
        <p:txBody>
          <a:bodyPr/>
          <a:lstStyle/>
          <a:p>
            <a:endParaRPr lang="en-AU"/>
          </a:p>
        </p:txBody>
      </p:sp>
      <p:sp>
        <p:nvSpPr>
          <p:cNvPr id="8" name="Shape 6"/>
          <p:cNvSpPr/>
          <p:nvPr/>
        </p:nvSpPr>
        <p:spPr>
          <a:xfrm>
            <a:off x="274320" y="713232"/>
            <a:ext cx="2834640" cy="530352"/>
          </a:xfrm>
          <a:prstGeom prst="rect">
            <a:avLst/>
          </a:prstGeom>
          <a:solidFill>
            <a:srgbClr val="1B3A6B"/>
          </a:solidFill>
          <a:ln w="12700">
            <a:solidFill>
              <a:srgbClr val="1B3A6B"/>
            </a:solidFill>
            <a:prstDash val="solid"/>
          </a:ln>
        </p:spPr>
        <p:txBody>
          <a:bodyPr/>
          <a:lstStyle/>
          <a:p>
            <a:endParaRPr lang="en-AU"/>
          </a:p>
        </p:txBody>
      </p:sp>
      <p:sp>
        <p:nvSpPr>
          <p:cNvPr id="9" name="Text 7"/>
          <p:cNvSpPr/>
          <p:nvPr/>
        </p:nvSpPr>
        <p:spPr>
          <a:xfrm>
            <a:off x="365760" y="713232"/>
            <a:ext cx="347472" cy="530352"/>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0" name="Text 8"/>
          <p:cNvSpPr/>
          <p:nvPr/>
        </p:nvSpPr>
        <p:spPr>
          <a:xfrm>
            <a:off x="713232" y="713232"/>
            <a:ext cx="2331720" cy="53035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Impact of Automation</a:t>
            </a:r>
            <a:endParaRPr lang="en-US" sz="1300" dirty="0"/>
          </a:p>
        </p:txBody>
      </p:sp>
      <p:sp>
        <p:nvSpPr>
          <p:cNvPr id="11" name="Text 9"/>
          <p:cNvSpPr/>
          <p:nvPr/>
        </p:nvSpPr>
        <p:spPr>
          <a:xfrm>
            <a:off x="411480" y="1316736"/>
            <a:ext cx="2560320" cy="566928"/>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Safety of workers — benefits and risks</a:t>
            </a:r>
            <a:endParaRPr lang="en-US" sz="1050" dirty="0"/>
          </a:p>
        </p:txBody>
      </p:sp>
      <p:sp>
        <p:nvSpPr>
          <p:cNvPr id="12" name="Shape 10"/>
          <p:cNvSpPr/>
          <p:nvPr/>
        </p:nvSpPr>
        <p:spPr>
          <a:xfrm>
            <a:off x="384048" y="1929384"/>
            <a:ext cx="2615184" cy="9144"/>
          </a:xfrm>
          <a:prstGeom prst="rect">
            <a:avLst/>
          </a:prstGeom>
          <a:solidFill>
            <a:srgbClr val="ECEFF1"/>
          </a:solidFill>
          <a:ln w="12700">
            <a:solidFill>
              <a:srgbClr val="ECEFF1"/>
            </a:solidFill>
            <a:prstDash val="solid"/>
          </a:ln>
        </p:spPr>
        <p:txBody>
          <a:bodyPr/>
          <a:lstStyle/>
          <a:p>
            <a:endParaRPr lang="en-AU"/>
          </a:p>
        </p:txBody>
      </p:sp>
      <p:sp>
        <p:nvSpPr>
          <p:cNvPr id="13" name="Text 11"/>
          <p:cNvSpPr/>
          <p:nvPr/>
        </p:nvSpPr>
        <p:spPr>
          <a:xfrm>
            <a:off x="411480" y="1965960"/>
            <a:ext cx="2560320" cy="566928"/>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People with disability — access and exclusion</a:t>
            </a:r>
            <a:endParaRPr lang="en-US" sz="1050" dirty="0"/>
          </a:p>
        </p:txBody>
      </p:sp>
      <p:sp>
        <p:nvSpPr>
          <p:cNvPr id="14" name="Shape 12"/>
          <p:cNvSpPr/>
          <p:nvPr/>
        </p:nvSpPr>
        <p:spPr>
          <a:xfrm>
            <a:off x="384048" y="2578608"/>
            <a:ext cx="2615184" cy="9144"/>
          </a:xfrm>
          <a:prstGeom prst="rect">
            <a:avLst/>
          </a:prstGeom>
          <a:solidFill>
            <a:srgbClr val="ECEFF1"/>
          </a:solidFill>
          <a:ln w="12700">
            <a:solidFill>
              <a:srgbClr val="ECEFF1"/>
            </a:solidFill>
            <a:prstDash val="solid"/>
          </a:ln>
        </p:spPr>
        <p:txBody>
          <a:bodyPr/>
          <a:lstStyle/>
          <a:p>
            <a:endParaRPr lang="en-AU"/>
          </a:p>
        </p:txBody>
      </p:sp>
      <p:sp>
        <p:nvSpPr>
          <p:cNvPr id="15" name="Text 13"/>
          <p:cNvSpPr/>
          <p:nvPr/>
        </p:nvSpPr>
        <p:spPr>
          <a:xfrm>
            <a:off x="411480" y="2615184"/>
            <a:ext cx="2560320" cy="566928"/>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Employment — changing nature and skills</a:t>
            </a:r>
            <a:endParaRPr lang="en-US" sz="1050" dirty="0"/>
          </a:p>
        </p:txBody>
      </p:sp>
      <p:sp>
        <p:nvSpPr>
          <p:cNvPr id="16" name="Shape 14"/>
          <p:cNvSpPr/>
          <p:nvPr/>
        </p:nvSpPr>
        <p:spPr>
          <a:xfrm>
            <a:off x="384048" y="3227832"/>
            <a:ext cx="2615184" cy="9144"/>
          </a:xfrm>
          <a:prstGeom prst="rect">
            <a:avLst/>
          </a:prstGeom>
          <a:solidFill>
            <a:srgbClr val="ECEFF1"/>
          </a:solidFill>
          <a:ln w="12700">
            <a:solidFill>
              <a:srgbClr val="ECEFF1"/>
            </a:solidFill>
            <a:prstDash val="solid"/>
          </a:ln>
        </p:spPr>
        <p:txBody>
          <a:bodyPr/>
          <a:lstStyle/>
          <a:p>
            <a:endParaRPr lang="en-AU"/>
          </a:p>
        </p:txBody>
      </p:sp>
      <p:sp>
        <p:nvSpPr>
          <p:cNvPr id="17" name="Text 15"/>
          <p:cNvSpPr/>
          <p:nvPr/>
        </p:nvSpPr>
        <p:spPr>
          <a:xfrm>
            <a:off x="411480" y="3264408"/>
            <a:ext cx="2560320" cy="566928"/>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Production efficiency, waste and environment</a:t>
            </a:r>
            <a:endParaRPr lang="en-US" sz="1050" dirty="0"/>
          </a:p>
        </p:txBody>
      </p:sp>
      <p:sp>
        <p:nvSpPr>
          <p:cNvPr id="18" name="Shape 16"/>
          <p:cNvSpPr/>
          <p:nvPr/>
        </p:nvSpPr>
        <p:spPr>
          <a:xfrm>
            <a:off x="384048" y="3877056"/>
            <a:ext cx="2615184" cy="9144"/>
          </a:xfrm>
          <a:prstGeom prst="rect">
            <a:avLst/>
          </a:prstGeom>
          <a:solidFill>
            <a:srgbClr val="ECEFF1"/>
          </a:solidFill>
          <a:ln w="12700">
            <a:solidFill>
              <a:srgbClr val="ECEFF1"/>
            </a:solidFill>
            <a:prstDash val="solid"/>
          </a:ln>
        </p:spPr>
        <p:txBody>
          <a:bodyPr/>
          <a:lstStyle/>
          <a:p>
            <a:endParaRPr lang="en-AU"/>
          </a:p>
        </p:txBody>
      </p:sp>
      <p:sp>
        <p:nvSpPr>
          <p:cNvPr id="19" name="Text 17"/>
          <p:cNvSpPr/>
          <p:nvPr/>
        </p:nvSpPr>
        <p:spPr>
          <a:xfrm>
            <a:off x="411480" y="3913632"/>
            <a:ext cx="2560320" cy="566928"/>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Economy and distribution of wealth</a:t>
            </a:r>
            <a:endParaRPr lang="en-US" sz="1050" dirty="0"/>
          </a:p>
        </p:txBody>
      </p:sp>
      <p:sp>
        <p:nvSpPr>
          <p:cNvPr id="20" name="Shape 18"/>
          <p:cNvSpPr/>
          <p:nvPr/>
        </p:nvSpPr>
        <p:spPr>
          <a:xfrm>
            <a:off x="3227832" y="713232"/>
            <a:ext cx="2834640" cy="4041648"/>
          </a:xfrm>
          <a:prstGeom prst="rect">
            <a:avLst/>
          </a:prstGeom>
          <a:solidFill>
            <a:srgbClr val="FFFFFF"/>
          </a:solidFill>
          <a:ln w="15240">
            <a:solidFill>
              <a:srgbClr val="028090"/>
            </a:solidFill>
            <a:prstDash val="solid"/>
          </a:ln>
          <a:effectLst>
            <a:outerShdw blurRad="63500" dist="25400" dir="8100000" algn="bl" rotWithShape="0">
              <a:srgbClr val="000000">
                <a:alpha val="12000"/>
              </a:srgbClr>
            </a:outerShdw>
          </a:effectLst>
        </p:spPr>
        <p:txBody>
          <a:bodyPr/>
          <a:lstStyle/>
          <a:p>
            <a:endParaRPr lang="en-AU"/>
          </a:p>
        </p:txBody>
      </p:sp>
      <p:sp>
        <p:nvSpPr>
          <p:cNvPr id="21" name="Shape 19"/>
          <p:cNvSpPr/>
          <p:nvPr/>
        </p:nvSpPr>
        <p:spPr>
          <a:xfrm>
            <a:off x="3227832" y="713232"/>
            <a:ext cx="2834640" cy="530352"/>
          </a:xfrm>
          <a:prstGeom prst="rect">
            <a:avLst/>
          </a:prstGeom>
          <a:solidFill>
            <a:srgbClr val="028090"/>
          </a:solidFill>
          <a:ln w="12700">
            <a:solidFill>
              <a:srgbClr val="028090"/>
            </a:solidFill>
            <a:prstDash val="solid"/>
          </a:ln>
        </p:spPr>
        <p:txBody>
          <a:bodyPr/>
          <a:lstStyle/>
          <a:p>
            <a:endParaRPr lang="en-AU"/>
          </a:p>
        </p:txBody>
      </p:sp>
      <p:sp>
        <p:nvSpPr>
          <p:cNvPr id="22" name="Text 20"/>
          <p:cNvSpPr/>
          <p:nvPr/>
        </p:nvSpPr>
        <p:spPr>
          <a:xfrm>
            <a:off x="3319272" y="713232"/>
            <a:ext cx="347472" cy="530352"/>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23" name="Text 21"/>
          <p:cNvSpPr/>
          <p:nvPr/>
        </p:nvSpPr>
        <p:spPr>
          <a:xfrm>
            <a:off x="3666744" y="713232"/>
            <a:ext cx="2331720" cy="53035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Human Behaviour and ML/AI</a:t>
            </a:r>
            <a:endParaRPr lang="en-US" sz="1300" dirty="0"/>
          </a:p>
        </p:txBody>
      </p:sp>
      <p:sp>
        <p:nvSpPr>
          <p:cNvPr id="24" name="Text 22"/>
          <p:cNvSpPr/>
          <p:nvPr/>
        </p:nvSpPr>
        <p:spPr>
          <a:xfrm>
            <a:off x="3364992" y="1316736"/>
            <a:ext cx="2560320" cy="566928"/>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Psychological responses in AI interfaces</a:t>
            </a:r>
            <a:endParaRPr lang="en-US" sz="1050" dirty="0"/>
          </a:p>
        </p:txBody>
      </p:sp>
      <p:sp>
        <p:nvSpPr>
          <p:cNvPr id="25" name="Shape 23"/>
          <p:cNvSpPr/>
          <p:nvPr/>
        </p:nvSpPr>
        <p:spPr>
          <a:xfrm>
            <a:off x="3337560" y="1929384"/>
            <a:ext cx="2615184" cy="9144"/>
          </a:xfrm>
          <a:prstGeom prst="rect">
            <a:avLst/>
          </a:prstGeom>
          <a:solidFill>
            <a:srgbClr val="ECEFF1"/>
          </a:solidFill>
          <a:ln w="12700">
            <a:solidFill>
              <a:srgbClr val="ECEFF1"/>
            </a:solidFill>
            <a:prstDash val="solid"/>
          </a:ln>
        </p:spPr>
        <p:txBody>
          <a:bodyPr/>
          <a:lstStyle/>
          <a:p>
            <a:endParaRPr lang="en-AU"/>
          </a:p>
        </p:txBody>
      </p:sp>
      <p:sp>
        <p:nvSpPr>
          <p:cNvPr id="26" name="Text 24"/>
          <p:cNvSpPr/>
          <p:nvPr/>
        </p:nvSpPr>
        <p:spPr>
          <a:xfrm>
            <a:off x="3364992" y="1965960"/>
            <a:ext cx="2560320" cy="566928"/>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Acute stress response and HCI design</a:t>
            </a:r>
            <a:endParaRPr lang="en-US" sz="1050" dirty="0"/>
          </a:p>
        </p:txBody>
      </p:sp>
      <p:sp>
        <p:nvSpPr>
          <p:cNvPr id="27" name="Shape 25"/>
          <p:cNvSpPr/>
          <p:nvPr/>
        </p:nvSpPr>
        <p:spPr>
          <a:xfrm>
            <a:off x="3337560" y="2578608"/>
            <a:ext cx="2615184" cy="9144"/>
          </a:xfrm>
          <a:prstGeom prst="rect">
            <a:avLst/>
          </a:prstGeom>
          <a:solidFill>
            <a:srgbClr val="ECEFF1"/>
          </a:solidFill>
          <a:ln w="12700">
            <a:solidFill>
              <a:srgbClr val="ECEFF1"/>
            </a:solidFill>
            <a:prstDash val="solid"/>
          </a:ln>
        </p:spPr>
        <p:txBody>
          <a:bodyPr/>
          <a:lstStyle/>
          <a:p>
            <a:endParaRPr lang="en-AU"/>
          </a:p>
        </p:txBody>
      </p:sp>
      <p:sp>
        <p:nvSpPr>
          <p:cNvPr id="28" name="Text 26"/>
          <p:cNvSpPr/>
          <p:nvPr/>
        </p:nvSpPr>
        <p:spPr>
          <a:xfrm>
            <a:off x="3364992" y="2615184"/>
            <a:ext cx="2560320" cy="566928"/>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Cultural protocols shaping training data</a:t>
            </a:r>
            <a:endParaRPr lang="en-US" sz="1050" dirty="0"/>
          </a:p>
        </p:txBody>
      </p:sp>
      <p:sp>
        <p:nvSpPr>
          <p:cNvPr id="29" name="Shape 27"/>
          <p:cNvSpPr/>
          <p:nvPr/>
        </p:nvSpPr>
        <p:spPr>
          <a:xfrm>
            <a:off x="3337560" y="3227832"/>
            <a:ext cx="2615184" cy="9144"/>
          </a:xfrm>
          <a:prstGeom prst="rect">
            <a:avLst/>
          </a:prstGeom>
          <a:solidFill>
            <a:srgbClr val="ECEFF1"/>
          </a:solidFill>
          <a:ln w="12700">
            <a:solidFill>
              <a:srgbClr val="ECEFF1"/>
            </a:solidFill>
            <a:prstDash val="solid"/>
          </a:ln>
        </p:spPr>
        <p:txBody>
          <a:bodyPr/>
          <a:lstStyle/>
          <a:p>
            <a:endParaRPr lang="en-AU"/>
          </a:p>
        </p:txBody>
      </p:sp>
      <p:sp>
        <p:nvSpPr>
          <p:cNvPr id="30" name="Text 28"/>
          <p:cNvSpPr/>
          <p:nvPr/>
        </p:nvSpPr>
        <p:spPr>
          <a:xfrm>
            <a:off x="3364992" y="3264408"/>
            <a:ext cx="2560320" cy="566928"/>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Belief systems and ethical constraints</a:t>
            </a:r>
            <a:endParaRPr lang="en-US" sz="1050" dirty="0"/>
          </a:p>
        </p:txBody>
      </p:sp>
      <p:sp>
        <p:nvSpPr>
          <p:cNvPr id="31" name="Shape 29"/>
          <p:cNvSpPr/>
          <p:nvPr/>
        </p:nvSpPr>
        <p:spPr>
          <a:xfrm>
            <a:off x="6181344" y="713232"/>
            <a:ext cx="2834640" cy="4041648"/>
          </a:xfrm>
          <a:prstGeom prst="rect">
            <a:avLst/>
          </a:prstGeom>
          <a:solidFill>
            <a:srgbClr val="FFFFFF"/>
          </a:solidFill>
          <a:ln w="15240">
            <a:solidFill>
              <a:srgbClr val="C9A84C"/>
            </a:solidFill>
            <a:prstDash val="solid"/>
          </a:ln>
          <a:effectLst>
            <a:outerShdw blurRad="63500" dist="25400" dir="8100000" algn="bl" rotWithShape="0">
              <a:srgbClr val="000000">
                <a:alpha val="12000"/>
              </a:srgbClr>
            </a:outerShdw>
          </a:effectLst>
        </p:spPr>
        <p:txBody>
          <a:bodyPr/>
          <a:lstStyle/>
          <a:p>
            <a:endParaRPr lang="en-AU"/>
          </a:p>
        </p:txBody>
      </p:sp>
      <p:sp>
        <p:nvSpPr>
          <p:cNvPr id="32" name="Shape 30"/>
          <p:cNvSpPr/>
          <p:nvPr/>
        </p:nvSpPr>
        <p:spPr>
          <a:xfrm>
            <a:off x="6181344" y="713232"/>
            <a:ext cx="2834640" cy="530352"/>
          </a:xfrm>
          <a:prstGeom prst="rect">
            <a:avLst/>
          </a:prstGeom>
          <a:solidFill>
            <a:srgbClr val="C9A84C"/>
          </a:solidFill>
          <a:ln w="12700">
            <a:solidFill>
              <a:srgbClr val="C9A84C"/>
            </a:solidFill>
            <a:prstDash val="solid"/>
          </a:ln>
        </p:spPr>
        <p:txBody>
          <a:bodyPr/>
          <a:lstStyle/>
          <a:p>
            <a:endParaRPr lang="en-AU"/>
          </a:p>
        </p:txBody>
      </p:sp>
      <p:sp>
        <p:nvSpPr>
          <p:cNvPr id="33" name="Text 31"/>
          <p:cNvSpPr/>
          <p:nvPr/>
        </p:nvSpPr>
        <p:spPr>
          <a:xfrm>
            <a:off x="6272784" y="713232"/>
            <a:ext cx="347472" cy="530352"/>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34" name="Text 32"/>
          <p:cNvSpPr/>
          <p:nvPr/>
        </p:nvSpPr>
        <p:spPr>
          <a:xfrm>
            <a:off x="6620256" y="713232"/>
            <a:ext cx="2331720" cy="53035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Bias in ML and AI</a:t>
            </a:r>
            <a:endParaRPr lang="en-US" sz="1300" dirty="0"/>
          </a:p>
        </p:txBody>
      </p:sp>
      <p:sp>
        <p:nvSpPr>
          <p:cNvPr id="35" name="Text 33"/>
          <p:cNvSpPr/>
          <p:nvPr/>
        </p:nvSpPr>
        <p:spPr>
          <a:xfrm>
            <a:off x="6318504" y="1316736"/>
            <a:ext cx="2560320" cy="566928"/>
          </a:xfrm>
          <a:prstGeom prst="rect">
            <a:avLst/>
          </a:prstGeom>
          <a:noFill/>
          <a:ln/>
        </p:spPr>
        <p:txBody>
          <a:bodyPr wrap="square" rtlCol="0" anchor="ctr"/>
          <a:lstStyle/>
          <a:p>
            <a:pPr marL="0" indent="0">
              <a:buNone/>
            </a:pPr>
            <a:r>
              <a:rPr lang="en-US" sz="1050" b="1" dirty="0">
                <a:solidFill>
                  <a:srgbClr val="C9A84C"/>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Human bias in development teams</a:t>
            </a:r>
            <a:endParaRPr lang="en-US" sz="1050" dirty="0"/>
          </a:p>
        </p:txBody>
      </p:sp>
      <p:sp>
        <p:nvSpPr>
          <p:cNvPr id="36" name="Shape 34"/>
          <p:cNvSpPr/>
          <p:nvPr/>
        </p:nvSpPr>
        <p:spPr>
          <a:xfrm>
            <a:off x="6291072" y="1929384"/>
            <a:ext cx="2615184" cy="9144"/>
          </a:xfrm>
          <a:prstGeom prst="rect">
            <a:avLst/>
          </a:prstGeom>
          <a:solidFill>
            <a:srgbClr val="ECEFF1"/>
          </a:solidFill>
          <a:ln w="12700">
            <a:solidFill>
              <a:srgbClr val="ECEFF1"/>
            </a:solidFill>
            <a:prstDash val="solid"/>
          </a:ln>
        </p:spPr>
        <p:txBody>
          <a:bodyPr/>
          <a:lstStyle/>
          <a:p>
            <a:endParaRPr lang="en-AU"/>
          </a:p>
        </p:txBody>
      </p:sp>
      <p:sp>
        <p:nvSpPr>
          <p:cNvPr id="37" name="Text 35"/>
          <p:cNvSpPr/>
          <p:nvPr/>
        </p:nvSpPr>
        <p:spPr>
          <a:xfrm>
            <a:off x="6318504" y="1965960"/>
            <a:ext cx="2560320" cy="566928"/>
          </a:xfrm>
          <a:prstGeom prst="rect">
            <a:avLst/>
          </a:prstGeom>
          <a:noFill/>
          <a:ln/>
        </p:spPr>
        <p:txBody>
          <a:bodyPr wrap="square" rtlCol="0" anchor="ctr"/>
          <a:lstStyle/>
          <a:p>
            <a:pPr marL="0" indent="0">
              <a:buNone/>
            </a:pPr>
            <a:r>
              <a:rPr lang="en-US" sz="1050" b="1" dirty="0">
                <a:solidFill>
                  <a:srgbClr val="C9A84C"/>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Dataset source bias and its origins</a:t>
            </a:r>
            <a:endParaRPr lang="en-US" sz="1050" dirty="0"/>
          </a:p>
        </p:txBody>
      </p:sp>
      <p:sp>
        <p:nvSpPr>
          <p:cNvPr id="38" name="Shape 36"/>
          <p:cNvSpPr/>
          <p:nvPr/>
        </p:nvSpPr>
        <p:spPr>
          <a:xfrm>
            <a:off x="6291072" y="2578608"/>
            <a:ext cx="2615184" cy="9144"/>
          </a:xfrm>
          <a:prstGeom prst="rect">
            <a:avLst/>
          </a:prstGeom>
          <a:solidFill>
            <a:srgbClr val="ECEFF1"/>
          </a:solidFill>
          <a:ln w="12700">
            <a:solidFill>
              <a:srgbClr val="ECEFF1"/>
            </a:solidFill>
            <a:prstDash val="solid"/>
          </a:ln>
        </p:spPr>
        <p:txBody>
          <a:bodyPr/>
          <a:lstStyle/>
          <a:p>
            <a:endParaRPr lang="en-AU"/>
          </a:p>
        </p:txBody>
      </p:sp>
      <p:sp>
        <p:nvSpPr>
          <p:cNvPr id="39" name="Text 37"/>
          <p:cNvSpPr/>
          <p:nvPr/>
        </p:nvSpPr>
        <p:spPr>
          <a:xfrm>
            <a:off x="6318504" y="2615184"/>
            <a:ext cx="2560320" cy="566928"/>
          </a:xfrm>
          <a:prstGeom prst="rect">
            <a:avLst/>
          </a:prstGeom>
          <a:noFill/>
          <a:ln/>
        </p:spPr>
        <p:txBody>
          <a:bodyPr wrap="square" rtlCol="0" anchor="ctr"/>
          <a:lstStyle/>
          <a:p>
            <a:pPr marL="0" indent="0">
              <a:buNone/>
            </a:pPr>
            <a:r>
              <a:rPr lang="en-US" sz="1050" b="1" dirty="0">
                <a:solidFill>
                  <a:srgbClr val="C9A84C"/>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Real-world consequences of biased AI</a:t>
            </a:r>
            <a:endParaRPr lang="en-US" sz="1050" dirty="0"/>
          </a:p>
        </p:txBody>
      </p:sp>
      <p:sp>
        <p:nvSpPr>
          <p:cNvPr id="40" name="Shape 38"/>
          <p:cNvSpPr/>
          <p:nvPr/>
        </p:nvSpPr>
        <p:spPr>
          <a:xfrm>
            <a:off x="6291072" y="3227832"/>
            <a:ext cx="2615184" cy="9144"/>
          </a:xfrm>
          <a:prstGeom prst="rect">
            <a:avLst/>
          </a:prstGeom>
          <a:solidFill>
            <a:srgbClr val="ECEFF1"/>
          </a:solidFill>
          <a:ln w="12700">
            <a:solidFill>
              <a:srgbClr val="ECEFF1"/>
            </a:solidFill>
            <a:prstDash val="solid"/>
          </a:ln>
        </p:spPr>
        <p:txBody>
          <a:bodyPr/>
          <a:lstStyle/>
          <a:p>
            <a:endParaRPr lang="en-AU"/>
          </a:p>
        </p:txBody>
      </p:sp>
      <p:sp>
        <p:nvSpPr>
          <p:cNvPr id="41" name="Text 39"/>
          <p:cNvSpPr/>
          <p:nvPr/>
        </p:nvSpPr>
        <p:spPr>
          <a:xfrm>
            <a:off x="6318504" y="3264408"/>
            <a:ext cx="2560320" cy="566928"/>
          </a:xfrm>
          <a:prstGeom prst="rect">
            <a:avLst/>
          </a:prstGeom>
          <a:noFill/>
          <a:ln/>
        </p:spPr>
        <p:txBody>
          <a:bodyPr wrap="square" rtlCol="0" anchor="ctr"/>
          <a:lstStyle/>
          <a:p>
            <a:pPr marL="0" indent="0">
              <a:buNone/>
            </a:pPr>
            <a:r>
              <a:rPr lang="en-US" sz="1050" b="1" dirty="0">
                <a:solidFill>
                  <a:srgbClr val="C9A84C"/>
                </a:solidFill>
                <a:latin typeface="Calibri" pitchFamily="34" charset="0"/>
                <a:ea typeface="Calibri" pitchFamily="34" charset="-122"/>
                <a:cs typeface="Calibri" pitchFamily="34" charset="-120"/>
              </a:rPr>
              <a:t>●  </a:t>
            </a:r>
            <a:r>
              <a:rPr lang="en-US" sz="1050" dirty="0">
                <a:solidFill>
                  <a:srgbClr val="37474F"/>
                </a:solidFill>
                <a:latin typeface="Calibri" pitchFamily="34" charset="0"/>
                <a:ea typeface="Calibri" pitchFamily="34" charset="-122"/>
                <a:cs typeface="Calibri" pitchFamily="34" charset="-120"/>
              </a:rPr>
              <a:t>Strategies to identify and mitigate bias</a:t>
            </a:r>
            <a:endParaRPr lang="en-US" sz="1050" dirty="0"/>
          </a:p>
        </p:txBody>
      </p:sp>
      <p:sp>
        <p:nvSpPr>
          <p:cNvPr id="42" name="Shape 40"/>
          <p:cNvSpPr/>
          <p:nvPr/>
        </p:nvSpPr>
        <p:spPr>
          <a:xfrm>
            <a:off x="274320" y="4663440"/>
            <a:ext cx="8613648" cy="164592"/>
          </a:xfrm>
          <a:prstGeom prst="rect">
            <a:avLst/>
          </a:prstGeom>
          <a:solidFill>
            <a:srgbClr val="ECEFF1"/>
          </a:solidFill>
          <a:ln w="12700">
            <a:solidFill>
              <a:srgbClr val="ECEFF1"/>
            </a:solidFill>
            <a:prstDash val="solid"/>
          </a:ln>
        </p:spPr>
        <p:txBody>
          <a:bodyPr/>
          <a:lstStyle/>
          <a:p>
            <a:endParaRPr lang="en-AU"/>
          </a:p>
        </p:txBody>
      </p:sp>
      <p:sp>
        <p:nvSpPr>
          <p:cNvPr id="43" name="Text 41"/>
          <p:cNvSpPr/>
          <p:nvPr/>
        </p:nvSpPr>
        <p:spPr>
          <a:xfrm>
            <a:off x="274320" y="4654296"/>
            <a:ext cx="8613648" cy="182880"/>
          </a:xfrm>
          <a:prstGeom prst="rect">
            <a:avLst/>
          </a:prstGeom>
          <a:noFill/>
          <a:ln/>
        </p:spPr>
        <p:txBody>
          <a:bodyPr wrap="square" rtlCol="0" anchor="ctr"/>
          <a:lstStyle/>
          <a:p>
            <a:pPr marL="0" indent="0" algn="ctr">
              <a:buNone/>
            </a:pPr>
            <a:r>
              <a:rPr lang="en-US" sz="850" b="1" dirty="0">
                <a:solidFill>
                  <a:srgbClr val="546E7A"/>
                </a:solidFill>
                <a:latin typeface="Calibri" pitchFamily="34" charset="0"/>
                <a:ea typeface="Calibri" pitchFamily="34" charset="-122"/>
                <a:cs typeface="Calibri" pitchFamily="34" charset="-120"/>
              </a:rPr>
              <a:t>Key command verbs: ASSESS (form a judgement)   |   EXPLORE (investigate with implementation)   |   INVESTIGATE (examine effects)</a:t>
            </a:r>
            <a:endParaRPr lang="en-US" sz="8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4" grpId="0" animBg="1"/>
      <p:bldP spid="26" grpId="0" animBg="1"/>
      <p:bldP spid="28" grpId="0" animBg="1"/>
      <p:bldP spid="30" grpId="0" animBg="1"/>
      <p:bldP spid="35" grpId="0" animBg="1"/>
      <p:bldP spid="37" grpId="0" animBg="1"/>
      <p:bldP spid="39" grpId="0" animBg="1"/>
      <p:bldP spid="4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A84C"/>
          </a:solidFill>
          <a:ln w="12700">
            <a:solidFill>
              <a:srgbClr val="C9A84C"/>
            </a:solidFill>
            <a:prstDash val="solid"/>
          </a:ln>
        </p:spPr>
        <p:txBody>
          <a:bodyPr/>
          <a:lstStyle/>
          <a:p>
            <a:endParaRPr lang="en-AU"/>
          </a:p>
        </p:txBody>
      </p:sp>
      <p:sp>
        <p:nvSpPr>
          <p:cNvPr id="3" name="Shape 1"/>
          <p:cNvSpPr/>
          <p:nvPr/>
        </p:nvSpPr>
        <p:spPr>
          <a:xfrm>
            <a:off x="201168" y="2423160"/>
            <a:ext cx="8942832" cy="841248"/>
          </a:xfrm>
          <a:prstGeom prst="rect">
            <a:avLst/>
          </a:prstGeom>
          <a:solidFill>
            <a:srgbClr val="028090"/>
          </a:solidFill>
          <a:ln w="12700">
            <a:solidFill>
              <a:srgbClr val="028090"/>
            </a:solidFill>
            <a:prstDash val="solid"/>
          </a:ln>
        </p:spPr>
        <p:txBody>
          <a:bodyPr/>
          <a:lstStyle/>
          <a:p>
            <a:endParaRPr lang="en-AU"/>
          </a:p>
        </p:txBody>
      </p:sp>
      <p:sp>
        <p:nvSpPr>
          <p:cNvPr id="4" name="Text 2"/>
          <p:cNvSpPr/>
          <p:nvPr/>
        </p:nvSpPr>
        <p:spPr>
          <a:xfrm>
            <a:off x="411480" y="594360"/>
            <a:ext cx="8229600" cy="329184"/>
          </a:xfrm>
          <a:prstGeom prst="rect">
            <a:avLst/>
          </a:prstGeom>
          <a:noFill/>
          <a:ln/>
        </p:spPr>
        <p:txBody>
          <a:bodyPr wrap="square" rtlCol="0" anchor="ctr"/>
          <a:lstStyle/>
          <a:p>
            <a:pPr marL="0" indent="0">
              <a:buNone/>
            </a:pPr>
            <a:r>
              <a:rPr lang="en-US" sz="1400" b="1" kern="0" spc="300" dirty="0">
                <a:solidFill>
                  <a:srgbClr val="C9A84C"/>
                </a:solidFill>
                <a:latin typeface="Calibri" pitchFamily="34" charset="0"/>
                <a:ea typeface="Calibri" pitchFamily="34" charset="-122"/>
                <a:cs typeface="Calibri" pitchFamily="34" charset="-120"/>
              </a:rPr>
              <a:t>Section 1</a:t>
            </a:r>
            <a:endParaRPr lang="en-US" sz="1400" dirty="0"/>
          </a:p>
        </p:txBody>
      </p:sp>
      <p:sp>
        <p:nvSpPr>
          <p:cNvPr id="5" name="Text 3"/>
          <p:cNvSpPr/>
          <p:nvPr/>
        </p:nvSpPr>
        <p:spPr>
          <a:xfrm>
            <a:off x="411480" y="914400"/>
            <a:ext cx="8229600" cy="1389888"/>
          </a:xfrm>
          <a:prstGeom prst="rect">
            <a:avLst/>
          </a:prstGeom>
          <a:noFill/>
          <a:ln/>
        </p:spPr>
        <p:txBody>
          <a:bodyPr wrap="square"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Assess the Impact of Automation</a:t>
            </a:r>
            <a:endParaRPr lang="en-US" sz="3100" dirty="0"/>
          </a:p>
          <a:p>
            <a:pPr marL="0" indent="0">
              <a:buNone/>
            </a:pPr>
            <a:r>
              <a:rPr lang="en-US" sz="3100" b="1" dirty="0">
                <a:solidFill>
                  <a:srgbClr val="FFFFFF"/>
                </a:solidFill>
                <a:latin typeface="Calibri" pitchFamily="34" charset="0"/>
                <a:ea typeface="Calibri" pitchFamily="34" charset="-122"/>
                <a:cs typeface="Calibri" pitchFamily="34" charset="-120"/>
              </a:rPr>
              <a:t>on the Individual, Society</a:t>
            </a:r>
            <a:endParaRPr lang="en-US" sz="3100" dirty="0"/>
          </a:p>
          <a:p>
            <a:pPr marL="0" indent="0">
              <a:buNone/>
            </a:pPr>
            <a:r>
              <a:rPr lang="en-US" sz="3100" b="1" dirty="0">
                <a:solidFill>
                  <a:srgbClr val="FFFFFF"/>
                </a:solidFill>
                <a:latin typeface="Calibri" pitchFamily="34" charset="0"/>
                <a:ea typeface="Calibri" pitchFamily="34" charset="-122"/>
                <a:cs typeface="Calibri" pitchFamily="34" charset="-120"/>
              </a:rPr>
              <a:t>and the Environment</a:t>
            </a:r>
            <a:endParaRPr lang="en-US" sz="3100" dirty="0"/>
          </a:p>
        </p:txBody>
      </p:sp>
      <p:sp>
        <p:nvSpPr>
          <p:cNvPr id="6" name="Text 4"/>
          <p:cNvSpPr/>
          <p:nvPr/>
        </p:nvSpPr>
        <p:spPr>
          <a:xfrm>
            <a:off x="411480" y="2450592"/>
            <a:ext cx="8229600" cy="7498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Syllabus outcome SE-12-05 — explains the social, ethical and legal implications of software engineering on the individual, society and the environment</a:t>
            </a:r>
            <a:endParaRPr lang="en-US" sz="1100" dirty="0"/>
          </a:p>
        </p:txBody>
      </p:sp>
      <p:sp>
        <p:nvSpPr>
          <p:cNvPr id="7" name="Shape 5"/>
          <p:cNvSpPr/>
          <p:nvPr/>
        </p:nvSpPr>
        <p:spPr>
          <a:xfrm>
            <a:off x="411480" y="3547872"/>
            <a:ext cx="1581912" cy="694944"/>
          </a:xfrm>
          <a:prstGeom prst="rect">
            <a:avLst/>
          </a:prstGeom>
          <a:solidFill>
            <a:srgbClr val="028090"/>
          </a:solidFill>
          <a:ln w="10160">
            <a:solidFill>
              <a:srgbClr val="FFFFFF"/>
            </a:solidFill>
            <a:prstDash val="solid"/>
          </a:ln>
        </p:spPr>
        <p:txBody>
          <a:bodyPr/>
          <a:lstStyle/>
          <a:p>
            <a:endParaRPr lang="en-AU"/>
          </a:p>
        </p:txBody>
      </p:sp>
      <p:sp>
        <p:nvSpPr>
          <p:cNvPr id="8" name="Text 6"/>
          <p:cNvSpPr/>
          <p:nvPr/>
        </p:nvSpPr>
        <p:spPr>
          <a:xfrm>
            <a:off x="411480" y="3547872"/>
            <a:ext cx="1581912" cy="694944"/>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1</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Safety of Workers</a:t>
            </a:r>
            <a:endParaRPr lang="en-US" sz="950" dirty="0"/>
          </a:p>
        </p:txBody>
      </p:sp>
      <p:sp>
        <p:nvSpPr>
          <p:cNvPr id="9" name="Shape 7"/>
          <p:cNvSpPr/>
          <p:nvPr/>
        </p:nvSpPr>
        <p:spPr>
          <a:xfrm>
            <a:off x="2084832" y="3547872"/>
            <a:ext cx="1581912" cy="694944"/>
          </a:xfrm>
          <a:prstGeom prst="rect">
            <a:avLst/>
          </a:prstGeom>
          <a:solidFill>
            <a:srgbClr val="028090"/>
          </a:solidFill>
          <a:ln w="10160">
            <a:solidFill>
              <a:srgbClr val="FFFFFF"/>
            </a:solidFill>
            <a:prstDash val="solid"/>
          </a:ln>
        </p:spPr>
        <p:txBody>
          <a:bodyPr/>
          <a:lstStyle/>
          <a:p>
            <a:endParaRPr lang="en-AU"/>
          </a:p>
        </p:txBody>
      </p:sp>
      <p:sp>
        <p:nvSpPr>
          <p:cNvPr id="10" name="Text 8"/>
          <p:cNvSpPr/>
          <p:nvPr/>
        </p:nvSpPr>
        <p:spPr>
          <a:xfrm>
            <a:off x="2084832" y="3547872"/>
            <a:ext cx="1581912" cy="694944"/>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2</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People with Disability</a:t>
            </a:r>
            <a:endParaRPr lang="en-US" sz="950" dirty="0"/>
          </a:p>
        </p:txBody>
      </p:sp>
      <p:sp>
        <p:nvSpPr>
          <p:cNvPr id="11" name="Shape 9"/>
          <p:cNvSpPr/>
          <p:nvPr/>
        </p:nvSpPr>
        <p:spPr>
          <a:xfrm>
            <a:off x="3758184" y="3547872"/>
            <a:ext cx="1581912" cy="694944"/>
          </a:xfrm>
          <a:prstGeom prst="rect">
            <a:avLst/>
          </a:prstGeom>
          <a:solidFill>
            <a:srgbClr val="027380"/>
          </a:solidFill>
          <a:ln w="10160">
            <a:solidFill>
              <a:srgbClr val="FFFFFF"/>
            </a:solidFill>
            <a:prstDash val="solid"/>
          </a:ln>
        </p:spPr>
        <p:txBody>
          <a:bodyPr/>
          <a:lstStyle/>
          <a:p>
            <a:endParaRPr lang="en-AU"/>
          </a:p>
        </p:txBody>
      </p:sp>
      <p:sp>
        <p:nvSpPr>
          <p:cNvPr id="12" name="Text 10"/>
          <p:cNvSpPr/>
          <p:nvPr/>
        </p:nvSpPr>
        <p:spPr>
          <a:xfrm>
            <a:off x="3758184" y="3547872"/>
            <a:ext cx="1581912" cy="694944"/>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3</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Nature of Employment</a:t>
            </a:r>
            <a:endParaRPr lang="en-US" sz="950" dirty="0"/>
          </a:p>
        </p:txBody>
      </p:sp>
      <p:sp>
        <p:nvSpPr>
          <p:cNvPr id="13" name="Shape 11"/>
          <p:cNvSpPr/>
          <p:nvPr/>
        </p:nvSpPr>
        <p:spPr>
          <a:xfrm>
            <a:off x="5431536" y="3547872"/>
            <a:ext cx="1581912" cy="694944"/>
          </a:xfrm>
          <a:prstGeom prst="rect">
            <a:avLst/>
          </a:prstGeom>
          <a:solidFill>
            <a:srgbClr val="026070"/>
          </a:solidFill>
          <a:ln w="10160">
            <a:solidFill>
              <a:srgbClr val="FFFFFF"/>
            </a:solidFill>
            <a:prstDash val="solid"/>
          </a:ln>
        </p:spPr>
        <p:txBody>
          <a:bodyPr/>
          <a:lstStyle/>
          <a:p>
            <a:endParaRPr lang="en-AU"/>
          </a:p>
        </p:txBody>
      </p:sp>
      <p:sp>
        <p:nvSpPr>
          <p:cNvPr id="14" name="Text 12"/>
          <p:cNvSpPr/>
          <p:nvPr/>
        </p:nvSpPr>
        <p:spPr>
          <a:xfrm>
            <a:off x="5431536" y="3547872"/>
            <a:ext cx="1581912" cy="694944"/>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4</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Production &amp; Environment</a:t>
            </a:r>
            <a:endParaRPr lang="en-US" sz="950" dirty="0"/>
          </a:p>
        </p:txBody>
      </p:sp>
      <p:sp>
        <p:nvSpPr>
          <p:cNvPr id="15" name="Shape 13"/>
          <p:cNvSpPr/>
          <p:nvPr/>
        </p:nvSpPr>
        <p:spPr>
          <a:xfrm>
            <a:off x="7104888" y="3547872"/>
            <a:ext cx="1581912" cy="694944"/>
          </a:xfrm>
          <a:prstGeom prst="rect">
            <a:avLst/>
          </a:prstGeom>
          <a:solidFill>
            <a:srgbClr val="025060"/>
          </a:solidFill>
          <a:ln w="10160">
            <a:solidFill>
              <a:srgbClr val="FFFFFF"/>
            </a:solidFill>
            <a:prstDash val="solid"/>
          </a:ln>
        </p:spPr>
        <p:txBody>
          <a:bodyPr/>
          <a:lstStyle/>
          <a:p>
            <a:endParaRPr lang="en-AU"/>
          </a:p>
        </p:txBody>
      </p:sp>
      <p:sp>
        <p:nvSpPr>
          <p:cNvPr id="16" name="Text 14"/>
          <p:cNvSpPr/>
          <p:nvPr/>
        </p:nvSpPr>
        <p:spPr>
          <a:xfrm>
            <a:off x="7104888" y="3547872"/>
            <a:ext cx="1581912" cy="694944"/>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5</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Economy &amp; Wealth</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3"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Impact 1 &amp; 2 — Safety of Workers and People with Disability</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Impact of Automation — SE-12-05</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Shape 5"/>
          <p:cNvSpPr/>
          <p:nvPr/>
        </p:nvSpPr>
        <p:spPr>
          <a:xfrm>
            <a:off x="201168" y="749808"/>
            <a:ext cx="4206240" cy="3950208"/>
          </a:xfrm>
          <a:prstGeom prst="rect">
            <a:avLst/>
          </a:prstGeom>
          <a:solidFill>
            <a:srgbClr val="FFFFFF"/>
          </a:solidFill>
          <a:ln w="15240">
            <a:solidFill>
              <a:srgbClr val="1B3A6B"/>
            </a:solidFill>
            <a:prstDash val="solid"/>
          </a:ln>
          <a:effectLst>
            <a:outerShdw blurRad="63500" dist="25400" dir="8100000" algn="bl" rotWithShape="0">
              <a:srgbClr val="000000">
                <a:alpha val="12000"/>
              </a:srgbClr>
            </a:outerShdw>
          </a:effectLst>
        </p:spPr>
        <p:txBody>
          <a:bodyPr/>
          <a:lstStyle/>
          <a:p>
            <a:endParaRPr lang="en-AU"/>
          </a:p>
        </p:txBody>
      </p:sp>
      <p:sp>
        <p:nvSpPr>
          <p:cNvPr id="8" name="Shape 6"/>
          <p:cNvSpPr/>
          <p:nvPr/>
        </p:nvSpPr>
        <p:spPr>
          <a:xfrm>
            <a:off x="201168" y="749808"/>
            <a:ext cx="4206240" cy="438912"/>
          </a:xfrm>
          <a:prstGeom prst="rect">
            <a:avLst/>
          </a:prstGeom>
          <a:solidFill>
            <a:srgbClr val="1B3A6B"/>
          </a:solidFill>
          <a:ln w="12700">
            <a:solidFill>
              <a:srgbClr val="1B3A6B"/>
            </a:solidFill>
            <a:prstDash val="solid"/>
          </a:ln>
        </p:spPr>
        <p:txBody>
          <a:bodyPr/>
          <a:lstStyle/>
          <a:p>
            <a:endParaRPr lang="en-AU"/>
          </a:p>
        </p:txBody>
      </p:sp>
      <p:sp>
        <p:nvSpPr>
          <p:cNvPr id="9" name="Text 7"/>
          <p:cNvSpPr/>
          <p:nvPr/>
        </p:nvSpPr>
        <p:spPr>
          <a:xfrm>
            <a:off x="347472" y="749808"/>
            <a:ext cx="3913632" cy="4389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Safety of Workers</a:t>
            </a:r>
            <a:endParaRPr lang="en-US" sz="1400" dirty="0"/>
          </a:p>
        </p:txBody>
      </p:sp>
      <p:sp>
        <p:nvSpPr>
          <p:cNvPr id="10" name="Shape 8"/>
          <p:cNvSpPr/>
          <p:nvPr/>
        </p:nvSpPr>
        <p:spPr>
          <a:xfrm>
            <a:off x="256032" y="1271016"/>
            <a:ext cx="4087368" cy="713232"/>
          </a:xfrm>
          <a:prstGeom prst="rect">
            <a:avLst/>
          </a:prstGeom>
          <a:solidFill>
            <a:srgbClr val="E8F5E9"/>
          </a:solidFill>
          <a:ln w="7620">
            <a:solidFill>
              <a:srgbClr val="1B6B3A"/>
            </a:solidFill>
            <a:prstDash val="solid"/>
          </a:ln>
        </p:spPr>
        <p:txBody>
          <a:bodyPr/>
          <a:lstStyle/>
          <a:p>
            <a:endParaRPr lang="en-AU"/>
          </a:p>
        </p:txBody>
      </p:sp>
      <p:sp>
        <p:nvSpPr>
          <p:cNvPr id="11" name="Shape 9"/>
          <p:cNvSpPr/>
          <p:nvPr/>
        </p:nvSpPr>
        <p:spPr>
          <a:xfrm>
            <a:off x="256032" y="1271016"/>
            <a:ext cx="822960" cy="201168"/>
          </a:xfrm>
          <a:prstGeom prst="rect">
            <a:avLst/>
          </a:prstGeom>
          <a:solidFill>
            <a:srgbClr val="1B6B3A"/>
          </a:solidFill>
          <a:ln w="12700">
            <a:solidFill>
              <a:srgbClr val="1B6B3A"/>
            </a:solidFill>
            <a:prstDash val="solid"/>
          </a:ln>
        </p:spPr>
        <p:txBody>
          <a:bodyPr/>
          <a:lstStyle/>
          <a:p>
            <a:endParaRPr lang="en-AU"/>
          </a:p>
        </p:txBody>
      </p:sp>
      <p:sp>
        <p:nvSpPr>
          <p:cNvPr id="12" name="Text 10"/>
          <p:cNvSpPr/>
          <p:nvPr/>
        </p:nvSpPr>
        <p:spPr>
          <a:xfrm>
            <a:off x="256032" y="1271016"/>
            <a:ext cx="82296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BENEFIT</a:t>
            </a:r>
            <a:endParaRPr lang="en-US" sz="750" dirty="0"/>
          </a:p>
        </p:txBody>
      </p:sp>
      <p:sp>
        <p:nvSpPr>
          <p:cNvPr id="13" name="Text 11"/>
          <p:cNvSpPr/>
          <p:nvPr/>
        </p:nvSpPr>
        <p:spPr>
          <a:xfrm>
            <a:off x="1133856" y="1289304"/>
            <a:ext cx="3108960" cy="694944"/>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ML-guided robots operate in mines, chemical plants and nuclear facilities, removing workers from life-threatening environments entirely.</a:t>
            </a:r>
            <a:endParaRPr lang="en-US" sz="1000" dirty="0"/>
          </a:p>
        </p:txBody>
      </p:sp>
      <p:sp>
        <p:nvSpPr>
          <p:cNvPr id="14" name="Shape 12"/>
          <p:cNvSpPr/>
          <p:nvPr/>
        </p:nvSpPr>
        <p:spPr>
          <a:xfrm>
            <a:off x="256032" y="2075688"/>
            <a:ext cx="4087368" cy="713232"/>
          </a:xfrm>
          <a:prstGeom prst="rect">
            <a:avLst/>
          </a:prstGeom>
          <a:solidFill>
            <a:srgbClr val="E8F5E9"/>
          </a:solidFill>
          <a:ln w="7620">
            <a:solidFill>
              <a:srgbClr val="1B6B3A"/>
            </a:solidFill>
            <a:prstDash val="solid"/>
          </a:ln>
        </p:spPr>
        <p:txBody>
          <a:bodyPr/>
          <a:lstStyle/>
          <a:p>
            <a:endParaRPr lang="en-AU"/>
          </a:p>
        </p:txBody>
      </p:sp>
      <p:sp>
        <p:nvSpPr>
          <p:cNvPr id="15" name="Shape 13"/>
          <p:cNvSpPr/>
          <p:nvPr/>
        </p:nvSpPr>
        <p:spPr>
          <a:xfrm>
            <a:off x="256032" y="2075688"/>
            <a:ext cx="822960" cy="201168"/>
          </a:xfrm>
          <a:prstGeom prst="rect">
            <a:avLst/>
          </a:prstGeom>
          <a:solidFill>
            <a:srgbClr val="1B6B3A"/>
          </a:solidFill>
          <a:ln w="12700">
            <a:solidFill>
              <a:srgbClr val="1B6B3A"/>
            </a:solidFill>
            <a:prstDash val="solid"/>
          </a:ln>
        </p:spPr>
        <p:txBody>
          <a:bodyPr/>
          <a:lstStyle/>
          <a:p>
            <a:endParaRPr lang="en-AU"/>
          </a:p>
        </p:txBody>
      </p:sp>
      <p:sp>
        <p:nvSpPr>
          <p:cNvPr id="16" name="Text 14"/>
          <p:cNvSpPr/>
          <p:nvPr/>
        </p:nvSpPr>
        <p:spPr>
          <a:xfrm>
            <a:off x="256032" y="2075688"/>
            <a:ext cx="82296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BENEFIT</a:t>
            </a:r>
            <a:endParaRPr lang="en-US" sz="750" dirty="0"/>
          </a:p>
        </p:txBody>
      </p:sp>
      <p:sp>
        <p:nvSpPr>
          <p:cNvPr id="17" name="Text 15"/>
          <p:cNvSpPr/>
          <p:nvPr/>
        </p:nvSpPr>
        <p:spPr>
          <a:xfrm>
            <a:off x="1133856" y="2093976"/>
            <a:ext cx="3108960" cy="694944"/>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Predictive maintenance algorithms detect equipment failures before they occur, preventing industrial accidents caused by mechanical fault.</a:t>
            </a:r>
            <a:endParaRPr lang="en-US" sz="1000" dirty="0"/>
          </a:p>
        </p:txBody>
      </p:sp>
      <p:sp>
        <p:nvSpPr>
          <p:cNvPr id="18" name="Shape 16"/>
          <p:cNvSpPr/>
          <p:nvPr/>
        </p:nvSpPr>
        <p:spPr>
          <a:xfrm>
            <a:off x="256032" y="2880360"/>
            <a:ext cx="4087368" cy="713232"/>
          </a:xfrm>
          <a:prstGeom prst="rect">
            <a:avLst/>
          </a:prstGeom>
          <a:solidFill>
            <a:srgbClr val="FFEBEE"/>
          </a:solidFill>
          <a:ln w="7620">
            <a:solidFill>
              <a:srgbClr val="B71C1C"/>
            </a:solidFill>
            <a:prstDash val="solid"/>
          </a:ln>
        </p:spPr>
        <p:txBody>
          <a:bodyPr/>
          <a:lstStyle/>
          <a:p>
            <a:endParaRPr lang="en-AU"/>
          </a:p>
        </p:txBody>
      </p:sp>
      <p:sp>
        <p:nvSpPr>
          <p:cNvPr id="19" name="Shape 17"/>
          <p:cNvSpPr/>
          <p:nvPr/>
        </p:nvSpPr>
        <p:spPr>
          <a:xfrm>
            <a:off x="256032" y="2880360"/>
            <a:ext cx="822960" cy="201168"/>
          </a:xfrm>
          <a:prstGeom prst="rect">
            <a:avLst/>
          </a:prstGeom>
          <a:solidFill>
            <a:srgbClr val="B71C1C"/>
          </a:solidFill>
          <a:ln w="12700">
            <a:solidFill>
              <a:srgbClr val="B71C1C"/>
            </a:solidFill>
            <a:prstDash val="solid"/>
          </a:ln>
        </p:spPr>
        <p:txBody>
          <a:bodyPr/>
          <a:lstStyle/>
          <a:p>
            <a:endParaRPr lang="en-AU"/>
          </a:p>
        </p:txBody>
      </p:sp>
      <p:sp>
        <p:nvSpPr>
          <p:cNvPr id="20" name="Text 18"/>
          <p:cNvSpPr/>
          <p:nvPr/>
        </p:nvSpPr>
        <p:spPr>
          <a:xfrm>
            <a:off x="256032" y="2880360"/>
            <a:ext cx="82296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CONCERN</a:t>
            </a:r>
            <a:endParaRPr lang="en-US" sz="750" dirty="0"/>
          </a:p>
        </p:txBody>
      </p:sp>
      <p:sp>
        <p:nvSpPr>
          <p:cNvPr id="21" name="Text 19"/>
          <p:cNvSpPr/>
          <p:nvPr/>
        </p:nvSpPr>
        <p:spPr>
          <a:xfrm>
            <a:off x="1133856" y="2898648"/>
            <a:ext cx="3108960" cy="694944"/>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Workers displaced from manual roles may lack digital skills needed for new technology-focused positions without targeted retraining.</a:t>
            </a:r>
            <a:endParaRPr lang="en-US" sz="1000" dirty="0"/>
          </a:p>
        </p:txBody>
      </p:sp>
      <p:sp>
        <p:nvSpPr>
          <p:cNvPr id="22" name="Shape 20"/>
          <p:cNvSpPr/>
          <p:nvPr/>
        </p:nvSpPr>
        <p:spPr>
          <a:xfrm>
            <a:off x="256032" y="3685032"/>
            <a:ext cx="4087368" cy="713232"/>
          </a:xfrm>
          <a:prstGeom prst="rect">
            <a:avLst/>
          </a:prstGeom>
          <a:solidFill>
            <a:srgbClr val="FFEBEE"/>
          </a:solidFill>
          <a:ln w="7620">
            <a:solidFill>
              <a:srgbClr val="B71C1C"/>
            </a:solidFill>
            <a:prstDash val="solid"/>
          </a:ln>
        </p:spPr>
        <p:txBody>
          <a:bodyPr/>
          <a:lstStyle/>
          <a:p>
            <a:endParaRPr lang="en-AU"/>
          </a:p>
        </p:txBody>
      </p:sp>
      <p:sp>
        <p:nvSpPr>
          <p:cNvPr id="23" name="Shape 21"/>
          <p:cNvSpPr/>
          <p:nvPr/>
        </p:nvSpPr>
        <p:spPr>
          <a:xfrm>
            <a:off x="256032" y="3685032"/>
            <a:ext cx="822960" cy="201168"/>
          </a:xfrm>
          <a:prstGeom prst="rect">
            <a:avLst/>
          </a:prstGeom>
          <a:solidFill>
            <a:srgbClr val="B71C1C"/>
          </a:solidFill>
          <a:ln w="12700">
            <a:solidFill>
              <a:srgbClr val="B71C1C"/>
            </a:solidFill>
            <a:prstDash val="solid"/>
          </a:ln>
        </p:spPr>
        <p:txBody>
          <a:bodyPr/>
          <a:lstStyle/>
          <a:p>
            <a:endParaRPr lang="en-AU"/>
          </a:p>
        </p:txBody>
      </p:sp>
      <p:sp>
        <p:nvSpPr>
          <p:cNvPr id="24" name="Text 22"/>
          <p:cNvSpPr/>
          <p:nvPr/>
        </p:nvSpPr>
        <p:spPr>
          <a:xfrm>
            <a:off x="256032" y="3685032"/>
            <a:ext cx="82296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CONCERN</a:t>
            </a:r>
            <a:endParaRPr lang="en-US" sz="750" dirty="0"/>
          </a:p>
        </p:txBody>
      </p:sp>
      <p:sp>
        <p:nvSpPr>
          <p:cNvPr id="25" name="Text 23"/>
          <p:cNvSpPr/>
          <p:nvPr/>
        </p:nvSpPr>
        <p:spPr>
          <a:xfrm>
            <a:off x="1133856" y="3703320"/>
            <a:ext cx="3108960" cy="694944"/>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Over-reliance on automated safety systems can reduce human vigilance; if ML models misclassify sensor data, incidents may result.</a:t>
            </a:r>
            <a:endParaRPr lang="en-US" sz="1000" dirty="0"/>
          </a:p>
        </p:txBody>
      </p:sp>
      <p:sp>
        <p:nvSpPr>
          <p:cNvPr id="26" name="Shape 24"/>
          <p:cNvSpPr/>
          <p:nvPr/>
        </p:nvSpPr>
        <p:spPr>
          <a:xfrm>
            <a:off x="4736592" y="749808"/>
            <a:ext cx="4206240" cy="3950208"/>
          </a:xfrm>
          <a:prstGeom prst="rect">
            <a:avLst/>
          </a:prstGeom>
          <a:solidFill>
            <a:srgbClr val="FFFFFF"/>
          </a:solidFill>
          <a:ln w="15240">
            <a:solidFill>
              <a:srgbClr val="028090"/>
            </a:solidFill>
            <a:prstDash val="solid"/>
          </a:ln>
          <a:effectLst>
            <a:outerShdw blurRad="63500" dist="25400" dir="8100000" algn="bl" rotWithShape="0">
              <a:srgbClr val="000000">
                <a:alpha val="12000"/>
              </a:srgbClr>
            </a:outerShdw>
          </a:effectLst>
        </p:spPr>
        <p:txBody>
          <a:bodyPr/>
          <a:lstStyle/>
          <a:p>
            <a:endParaRPr lang="en-AU"/>
          </a:p>
        </p:txBody>
      </p:sp>
      <p:sp>
        <p:nvSpPr>
          <p:cNvPr id="27" name="Shape 25"/>
          <p:cNvSpPr/>
          <p:nvPr/>
        </p:nvSpPr>
        <p:spPr>
          <a:xfrm>
            <a:off x="4736592" y="749808"/>
            <a:ext cx="4206240" cy="438912"/>
          </a:xfrm>
          <a:prstGeom prst="rect">
            <a:avLst/>
          </a:prstGeom>
          <a:solidFill>
            <a:srgbClr val="028090"/>
          </a:solidFill>
          <a:ln w="12700">
            <a:solidFill>
              <a:srgbClr val="028090"/>
            </a:solidFill>
            <a:prstDash val="solid"/>
          </a:ln>
        </p:spPr>
        <p:txBody>
          <a:bodyPr/>
          <a:lstStyle/>
          <a:p>
            <a:endParaRPr lang="en-AU"/>
          </a:p>
        </p:txBody>
      </p:sp>
      <p:sp>
        <p:nvSpPr>
          <p:cNvPr id="28" name="Text 26"/>
          <p:cNvSpPr/>
          <p:nvPr/>
        </p:nvSpPr>
        <p:spPr>
          <a:xfrm>
            <a:off x="4882896" y="749808"/>
            <a:ext cx="3913632" cy="4389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People with Disability</a:t>
            </a:r>
            <a:endParaRPr lang="en-US" sz="1400" dirty="0"/>
          </a:p>
        </p:txBody>
      </p:sp>
      <p:sp>
        <p:nvSpPr>
          <p:cNvPr id="29" name="Shape 27"/>
          <p:cNvSpPr/>
          <p:nvPr/>
        </p:nvSpPr>
        <p:spPr>
          <a:xfrm>
            <a:off x="4791456" y="1271016"/>
            <a:ext cx="4087368" cy="713232"/>
          </a:xfrm>
          <a:prstGeom prst="rect">
            <a:avLst/>
          </a:prstGeom>
          <a:solidFill>
            <a:srgbClr val="E8F5E9"/>
          </a:solidFill>
          <a:ln w="7620">
            <a:solidFill>
              <a:srgbClr val="1B6B3A"/>
            </a:solidFill>
            <a:prstDash val="solid"/>
          </a:ln>
        </p:spPr>
        <p:txBody>
          <a:bodyPr/>
          <a:lstStyle/>
          <a:p>
            <a:endParaRPr lang="en-AU"/>
          </a:p>
        </p:txBody>
      </p:sp>
      <p:sp>
        <p:nvSpPr>
          <p:cNvPr id="30" name="Shape 28"/>
          <p:cNvSpPr/>
          <p:nvPr/>
        </p:nvSpPr>
        <p:spPr>
          <a:xfrm>
            <a:off x="4791456" y="1271016"/>
            <a:ext cx="822960" cy="201168"/>
          </a:xfrm>
          <a:prstGeom prst="rect">
            <a:avLst/>
          </a:prstGeom>
          <a:solidFill>
            <a:srgbClr val="1B6B3A"/>
          </a:solidFill>
          <a:ln w="12700">
            <a:solidFill>
              <a:srgbClr val="1B6B3A"/>
            </a:solidFill>
            <a:prstDash val="solid"/>
          </a:ln>
        </p:spPr>
        <p:txBody>
          <a:bodyPr/>
          <a:lstStyle/>
          <a:p>
            <a:endParaRPr lang="en-AU"/>
          </a:p>
        </p:txBody>
      </p:sp>
      <p:sp>
        <p:nvSpPr>
          <p:cNvPr id="31" name="Text 29"/>
          <p:cNvSpPr/>
          <p:nvPr/>
        </p:nvSpPr>
        <p:spPr>
          <a:xfrm>
            <a:off x="4791456" y="1271016"/>
            <a:ext cx="82296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BENEFIT</a:t>
            </a:r>
            <a:endParaRPr lang="en-US" sz="750" dirty="0"/>
          </a:p>
        </p:txBody>
      </p:sp>
      <p:sp>
        <p:nvSpPr>
          <p:cNvPr id="32" name="Text 30"/>
          <p:cNvSpPr/>
          <p:nvPr/>
        </p:nvSpPr>
        <p:spPr>
          <a:xfrm>
            <a:off x="5669280" y="1289304"/>
            <a:ext cx="3108960" cy="694944"/>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Real-time AI captioning and speech-to-text expand participation for users with hearing or communication impairments in employment and education.</a:t>
            </a:r>
            <a:endParaRPr lang="en-US" sz="1000" dirty="0"/>
          </a:p>
        </p:txBody>
      </p:sp>
      <p:sp>
        <p:nvSpPr>
          <p:cNvPr id="33" name="Shape 31"/>
          <p:cNvSpPr/>
          <p:nvPr/>
        </p:nvSpPr>
        <p:spPr>
          <a:xfrm>
            <a:off x="4791456" y="2075688"/>
            <a:ext cx="4087368" cy="713232"/>
          </a:xfrm>
          <a:prstGeom prst="rect">
            <a:avLst/>
          </a:prstGeom>
          <a:solidFill>
            <a:srgbClr val="E8F5E9"/>
          </a:solidFill>
          <a:ln w="7620">
            <a:solidFill>
              <a:srgbClr val="1B6B3A"/>
            </a:solidFill>
            <a:prstDash val="solid"/>
          </a:ln>
        </p:spPr>
        <p:txBody>
          <a:bodyPr/>
          <a:lstStyle/>
          <a:p>
            <a:endParaRPr lang="en-AU"/>
          </a:p>
        </p:txBody>
      </p:sp>
      <p:sp>
        <p:nvSpPr>
          <p:cNvPr id="34" name="Shape 32"/>
          <p:cNvSpPr/>
          <p:nvPr/>
        </p:nvSpPr>
        <p:spPr>
          <a:xfrm>
            <a:off x="4791456" y="2075688"/>
            <a:ext cx="822960" cy="201168"/>
          </a:xfrm>
          <a:prstGeom prst="rect">
            <a:avLst/>
          </a:prstGeom>
          <a:solidFill>
            <a:srgbClr val="1B6B3A"/>
          </a:solidFill>
          <a:ln w="12700">
            <a:solidFill>
              <a:srgbClr val="1B6B3A"/>
            </a:solidFill>
            <a:prstDash val="solid"/>
          </a:ln>
        </p:spPr>
        <p:txBody>
          <a:bodyPr/>
          <a:lstStyle/>
          <a:p>
            <a:endParaRPr lang="en-AU"/>
          </a:p>
        </p:txBody>
      </p:sp>
      <p:sp>
        <p:nvSpPr>
          <p:cNvPr id="35" name="Text 33"/>
          <p:cNvSpPr/>
          <p:nvPr/>
        </p:nvSpPr>
        <p:spPr>
          <a:xfrm>
            <a:off x="4791456" y="2075688"/>
            <a:ext cx="82296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BENEFIT</a:t>
            </a:r>
            <a:endParaRPr lang="en-US" sz="750" dirty="0"/>
          </a:p>
        </p:txBody>
      </p:sp>
      <p:sp>
        <p:nvSpPr>
          <p:cNvPr id="36" name="Text 34"/>
          <p:cNvSpPr/>
          <p:nvPr/>
        </p:nvSpPr>
        <p:spPr>
          <a:xfrm>
            <a:off x="5669280" y="2093976"/>
            <a:ext cx="3108960" cy="694944"/>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Voice-controlled smart home systems, predictive text and screen readers enable greater independence, mobility and quality of life.</a:t>
            </a:r>
            <a:endParaRPr lang="en-US" sz="1000" dirty="0"/>
          </a:p>
        </p:txBody>
      </p:sp>
      <p:sp>
        <p:nvSpPr>
          <p:cNvPr id="37" name="Shape 35"/>
          <p:cNvSpPr/>
          <p:nvPr/>
        </p:nvSpPr>
        <p:spPr>
          <a:xfrm>
            <a:off x="4791456" y="2880360"/>
            <a:ext cx="4087368" cy="713232"/>
          </a:xfrm>
          <a:prstGeom prst="rect">
            <a:avLst/>
          </a:prstGeom>
          <a:solidFill>
            <a:srgbClr val="FFEBEE"/>
          </a:solidFill>
          <a:ln w="7620">
            <a:solidFill>
              <a:srgbClr val="B71C1C"/>
            </a:solidFill>
            <a:prstDash val="solid"/>
          </a:ln>
        </p:spPr>
        <p:txBody>
          <a:bodyPr/>
          <a:lstStyle/>
          <a:p>
            <a:endParaRPr lang="en-AU"/>
          </a:p>
        </p:txBody>
      </p:sp>
      <p:sp>
        <p:nvSpPr>
          <p:cNvPr id="38" name="Shape 36"/>
          <p:cNvSpPr/>
          <p:nvPr/>
        </p:nvSpPr>
        <p:spPr>
          <a:xfrm>
            <a:off x="4791456" y="2880360"/>
            <a:ext cx="822960" cy="201168"/>
          </a:xfrm>
          <a:prstGeom prst="rect">
            <a:avLst/>
          </a:prstGeom>
          <a:solidFill>
            <a:srgbClr val="B71C1C"/>
          </a:solidFill>
          <a:ln w="12700">
            <a:solidFill>
              <a:srgbClr val="B71C1C"/>
            </a:solidFill>
            <a:prstDash val="solid"/>
          </a:ln>
        </p:spPr>
        <p:txBody>
          <a:bodyPr/>
          <a:lstStyle/>
          <a:p>
            <a:endParaRPr lang="en-AU"/>
          </a:p>
        </p:txBody>
      </p:sp>
      <p:sp>
        <p:nvSpPr>
          <p:cNvPr id="39" name="Text 37"/>
          <p:cNvSpPr/>
          <p:nvPr/>
        </p:nvSpPr>
        <p:spPr>
          <a:xfrm>
            <a:off x="4791456" y="2880360"/>
            <a:ext cx="82296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CONCERN</a:t>
            </a:r>
            <a:endParaRPr lang="en-US" sz="750" dirty="0"/>
          </a:p>
        </p:txBody>
      </p:sp>
      <p:sp>
        <p:nvSpPr>
          <p:cNvPr id="40" name="Text 38"/>
          <p:cNvSpPr/>
          <p:nvPr/>
        </p:nvSpPr>
        <p:spPr>
          <a:xfrm>
            <a:off x="5669280" y="2898648"/>
            <a:ext cx="3108960" cy="694944"/>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If training data underrepresents people with disability, AI performs poorly for those users — e.g., voice recognition trained on unimpaired speech.</a:t>
            </a:r>
            <a:endParaRPr lang="en-US" sz="1000" dirty="0"/>
          </a:p>
        </p:txBody>
      </p:sp>
      <p:sp>
        <p:nvSpPr>
          <p:cNvPr id="41" name="Shape 39"/>
          <p:cNvSpPr/>
          <p:nvPr/>
        </p:nvSpPr>
        <p:spPr>
          <a:xfrm>
            <a:off x="4791456" y="3685032"/>
            <a:ext cx="4087368" cy="713232"/>
          </a:xfrm>
          <a:prstGeom prst="rect">
            <a:avLst/>
          </a:prstGeom>
          <a:solidFill>
            <a:srgbClr val="FFEBEE"/>
          </a:solidFill>
          <a:ln w="7620">
            <a:solidFill>
              <a:srgbClr val="B71C1C"/>
            </a:solidFill>
            <a:prstDash val="solid"/>
          </a:ln>
        </p:spPr>
        <p:txBody>
          <a:bodyPr/>
          <a:lstStyle/>
          <a:p>
            <a:endParaRPr lang="en-AU"/>
          </a:p>
        </p:txBody>
      </p:sp>
      <p:sp>
        <p:nvSpPr>
          <p:cNvPr id="42" name="Shape 40"/>
          <p:cNvSpPr/>
          <p:nvPr/>
        </p:nvSpPr>
        <p:spPr>
          <a:xfrm>
            <a:off x="4791456" y="3685032"/>
            <a:ext cx="822960" cy="201168"/>
          </a:xfrm>
          <a:prstGeom prst="rect">
            <a:avLst/>
          </a:prstGeom>
          <a:solidFill>
            <a:srgbClr val="B71C1C"/>
          </a:solidFill>
          <a:ln w="12700">
            <a:solidFill>
              <a:srgbClr val="B71C1C"/>
            </a:solidFill>
            <a:prstDash val="solid"/>
          </a:ln>
        </p:spPr>
        <p:txBody>
          <a:bodyPr/>
          <a:lstStyle/>
          <a:p>
            <a:endParaRPr lang="en-AU"/>
          </a:p>
        </p:txBody>
      </p:sp>
      <p:sp>
        <p:nvSpPr>
          <p:cNvPr id="43" name="Text 41"/>
          <p:cNvSpPr/>
          <p:nvPr/>
        </p:nvSpPr>
        <p:spPr>
          <a:xfrm>
            <a:off x="4791456" y="3685032"/>
            <a:ext cx="82296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CONCERN</a:t>
            </a:r>
            <a:endParaRPr lang="en-US" sz="750" dirty="0"/>
          </a:p>
        </p:txBody>
      </p:sp>
      <p:sp>
        <p:nvSpPr>
          <p:cNvPr id="44" name="Text 42"/>
          <p:cNvSpPr/>
          <p:nvPr/>
        </p:nvSpPr>
        <p:spPr>
          <a:xfrm>
            <a:off x="5669280" y="3703320"/>
            <a:ext cx="3108960" cy="694944"/>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Automated hiring systems may screen out candidates using assistive technology if accessibility was not embedded into software design.</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Impact 3 — The Nature and Skills Required for Employment</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Impact of Automation — SE-12-05</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Text 5"/>
          <p:cNvSpPr/>
          <p:nvPr/>
        </p:nvSpPr>
        <p:spPr>
          <a:xfrm>
            <a:off x="201168" y="685800"/>
            <a:ext cx="8741664" cy="45720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Automation fundamentally transforms what work looks like: roles involving repetitive, rule-based tasks are displaced while demand grows for workers who can design, train, audit and maintain AI systems.</a:t>
            </a:r>
            <a:endParaRPr lang="en-US" sz="1100" dirty="0"/>
          </a:p>
        </p:txBody>
      </p:sp>
      <p:sp>
        <p:nvSpPr>
          <p:cNvPr id="8" name="Shape 6"/>
          <p:cNvSpPr/>
          <p:nvPr/>
        </p:nvSpPr>
        <p:spPr>
          <a:xfrm>
            <a:off x="201168" y="1261872"/>
            <a:ext cx="4206240" cy="3438144"/>
          </a:xfrm>
          <a:prstGeom prst="rect">
            <a:avLst/>
          </a:prstGeom>
          <a:solidFill>
            <a:srgbClr val="FFFFFF"/>
          </a:solidFill>
          <a:ln w="15240">
            <a:solidFill>
              <a:srgbClr val="B71C1C"/>
            </a:solidFill>
            <a:prstDash val="solid"/>
          </a:ln>
          <a:effectLst>
            <a:outerShdw blurRad="63500" dist="25400" dir="8100000" algn="bl" rotWithShape="0">
              <a:srgbClr val="000000">
                <a:alpha val="12000"/>
              </a:srgbClr>
            </a:outerShdw>
          </a:effectLst>
        </p:spPr>
        <p:txBody>
          <a:bodyPr/>
          <a:lstStyle/>
          <a:p>
            <a:endParaRPr lang="en-AU"/>
          </a:p>
        </p:txBody>
      </p:sp>
      <p:sp>
        <p:nvSpPr>
          <p:cNvPr id="9" name="Shape 7"/>
          <p:cNvSpPr/>
          <p:nvPr/>
        </p:nvSpPr>
        <p:spPr>
          <a:xfrm>
            <a:off x="201168" y="1261872"/>
            <a:ext cx="4206240" cy="384048"/>
          </a:xfrm>
          <a:prstGeom prst="rect">
            <a:avLst/>
          </a:prstGeom>
          <a:solidFill>
            <a:srgbClr val="B71C1C"/>
          </a:solidFill>
          <a:ln w="12700">
            <a:solidFill>
              <a:srgbClr val="B71C1C"/>
            </a:solidFill>
            <a:prstDash val="solid"/>
          </a:ln>
        </p:spPr>
        <p:txBody>
          <a:bodyPr/>
          <a:lstStyle/>
          <a:p>
            <a:endParaRPr lang="en-AU"/>
          </a:p>
        </p:txBody>
      </p:sp>
      <p:sp>
        <p:nvSpPr>
          <p:cNvPr id="10" name="Text 8"/>
          <p:cNvSpPr/>
          <p:nvPr/>
        </p:nvSpPr>
        <p:spPr>
          <a:xfrm>
            <a:off x="329184" y="1261872"/>
            <a:ext cx="3950208"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Roles at Risk of Displacement</a:t>
            </a:r>
            <a:endParaRPr lang="en-US" sz="1300" dirty="0"/>
          </a:p>
        </p:txBody>
      </p:sp>
      <p:sp>
        <p:nvSpPr>
          <p:cNvPr id="11" name="Shape 9"/>
          <p:cNvSpPr/>
          <p:nvPr/>
        </p:nvSpPr>
        <p:spPr>
          <a:xfrm>
            <a:off x="274320" y="1737360"/>
            <a:ext cx="50292" cy="621792"/>
          </a:xfrm>
          <a:prstGeom prst="rect">
            <a:avLst/>
          </a:prstGeom>
          <a:solidFill>
            <a:srgbClr val="B71C1C"/>
          </a:solidFill>
          <a:ln w="12700">
            <a:solidFill>
              <a:srgbClr val="B71C1C"/>
            </a:solidFill>
            <a:prstDash val="solid"/>
          </a:ln>
        </p:spPr>
        <p:txBody>
          <a:bodyPr/>
          <a:lstStyle/>
          <a:p>
            <a:endParaRPr lang="en-AU"/>
          </a:p>
        </p:txBody>
      </p:sp>
      <p:sp>
        <p:nvSpPr>
          <p:cNvPr id="12" name="Shape 10"/>
          <p:cNvSpPr/>
          <p:nvPr/>
        </p:nvSpPr>
        <p:spPr>
          <a:xfrm>
            <a:off x="324612" y="1737360"/>
            <a:ext cx="3991356" cy="621792"/>
          </a:xfrm>
          <a:prstGeom prst="rect">
            <a:avLst/>
          </a:prstGeom>
          <a:solidFill>
            <a:srgbClr val="FFEBEE"/>
          </a:solidFill>
          <a:ln w="12700">
            <a:solidFill>
              <a:srgbClr val="FFEBEE"/>
            </a:solidFill>
            <a:prstDash val="solid"/>
          </a:ln>
        </p:spPr>
        <p:txBody>
          <a:bodyPr/>
          <a:lstStyle/>
          <a:p>
            <a:endParaRPr lang="en-AU"/>
          </a:p>
        </p:txBody>
      </p:sp>
      <p:sp>
        <p:nvSpPr>
          <p:cNvPr id="13" name="Text 11"/>
          <p:cNvSpPr/>
          <p:nvPr/>
        </p:nvSpPr>
        <p:spPr>
          <a:xfrm>
            <a:off x="429768" y="1737360"/>
            <a:ext cx="3840480" cy="621792"/>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Data entry and document processing replaced by RPA (Robotic Process Automation)</a:t>
            </a:r>
            <a:endParaRPr lang="en-US" sz="1050" dirty="0"/>
          </a:p>
        </p:txBody>
      </p:sp>
      <p:sp>
        <p:nvSpPr>
          <p:cNvPr id="14" name="Shape 12"/>
          <p:cNvSpPr/>
          <p:nvPr/>
        </p:nvSpPr>
        <p:spPr>
          <a:xfrm>
            <a:off x="274320" y="2450592"/>
            <a:ext cx="50292" cy="621792"/>
          </a:xfrm>
          <a:prstGeom prst="rect">
            <a:avLst/>
          </a:prstGeom>
          <a:solidFill>
            <a:srgbClr val="B71C1C"/>
          </a:solidFill>
          <a:ln w="12700">
            <a:solidFill>
              <a:srgbClr val="B71C1C"/>
            </a:solidFill>
            <a:prstDash val="solid"/>
          </a:ln>
        </p:spPr>
        <p:txBody>
          <a:bodyPr/>
          <a:lstStyle/>
          <a:p>
            <a:endParaRPr lang="en-AU"/>
          </a:p>
        </p:txBody>
      </p:sp>
      <p:sp>
        <p:nvSpPr>
          <p:cNvPr id="15" name="Shape 13"/>
          <p:cNvSpPr/>
          <p:nvPr/>
        </p:nvSpPr>
        <p:spPr>
          <a:xfrm>
            <a:off x="324612" y="2450592"/>
            <a:ext cx="3991356" cy="621792"/>
          </a:xfrm>
          <a:prstGeom prst="rect">
            <a:avLst/>
          </a:prstGeom>
          <a:solidFill>
            <a:srgbClr val="FFEBEE"/>
          </a:solidFill>
          <a:ln w="12700">
            <a:solidFill>
              <a:srgbClr val="FFEBEE"/>
            </a:solidFill>
            <a:prstDash val="solid"/>
          </a:ln>
        </p:spPr>
        <p:txBody>
          <a:bodyPr/>
          <a:lstStyle/>
          <a:p>
            <a:endParaRPr lang="en-AU"/>
          </a:p>
        </p:txBody>
      </p:sp>
      <p:sp>
        <p:nvSpPr>
          <p:cNvPr id="16" name="Text 14"/>
          <p:cNvSpPr/>
          <p:nvPr/>
        </p:nvSpPr>
        <p:spPr>
          <a:xfrm>
            <a:off x="429768" y="2450592"/>
            <a:ext cx="3840480" cy="621792"/>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Assembly line and warehouse logistics replaced by industrial robots and ML vision systems</a:t>
            </a:r>
            <a:endParaRPr lang="en-US" sz="1050" dirty="0"/>
          </a:p>
        </p:txBody>
      </p:sp>
      <p:sp>
        <p:nvSpPr>
          <p:cNvPr id="17" name="Shape 15"/>
          <p:cNvSpPr/>
          <p:nvPr/>
        </p:nvSpPr>
        <p:spPr>
          <a:xfrm>
            <a:off x="274320" y="3163824"/>
            <a:ext cx="50292" cy="621792"/>
          </a:xfrm>
          <a:prstGeom prst="rect">
            <a:avLst/>
          </a:prstGeom>
          <a:solidFill>
            <a:srgbClr val="B71C1C"/>
          </a:solidFill>
          <a:ln w="12700">
            <a:solidFill>
              <a:srgbClr val="B71C1C"/>
            </a:solidFill>
            <a:prstDash val="solid"/>
          </a:ln>
        </p:spPr>
        <p:txBody>
          <a:bodyPr/>
          <a:lstStyle/>
          <a:p>
            <a:endParaRPr lang="en-AU"/>
          </a:p>
        </p:txBody>
      </p:sp>
      <p:sp>
        <p:nvSpPr>
          <p:cNvPr id="18" name="Shape 16"/>
          <p:cNvSpPr/>
          <p:nvPr/>
        </p:nvSpPr>
        <p:spPr>
          <a:xfrm>
            <a:off x="324612" y="3163824"/>
            <a:ext cx="3991356" cy="621792"/>
          </a:xfrm>
          <a:prstGeom prst="rect">
            <a:avLst/>
          </a:prstGeom>
          <a:solidFill>
            <a:srgbClr val="FFEBEE"/>
          </a:solidFill>
          <a:ln w="12700">
            <a:solidFill>
              <a:srgbClr val="FFEBEE"/>
            </a:solidFill>
            <a:prstDash val="solid"/>
          </a:ln>
        </p:spPr>
        <p:txBody>
          <a:bodyPr/>
          <a:lstStyle/>
          <a:p>
            <a:endParaRPr lang="en-AU"/>
          </a:p>
        </p:txBody>
      </p:sp>
      <p:sp>
        <p:nvSpPr>
          <p:cNvPr id="19" name="Text 17"/>
          <p:cNvSpPr/>
          <p:nvPr/>
        </p:nvSpPr>
        <p:spPr>
          <a:xfrm>
            <a:off x="429768" y="3163824"/>
            <a:ext cx="3840480" cy="621792"/>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Basic customer service replaced by AI chatbots using NLP (Natural Language Processing)</a:t>
            </a:r>
            <a:endParaRPr lang="en-US" sz="1050" dirty="0"/>
          </a:p>
        </p:txBody>
      </p:sp>
      <p:sp>
        <p:nvSpPr>
          <p:cNvPr id="20" name="Shape 18"/>
          <p:cNvSpPr/>
          <p:nvPr/>
        </p:nvSpPr>
        <p:spPr>
          <a:xfrm>
            <a:off x="274320" y="3877056"/>
            <a:ext cx="50292" cy="621792"/>
          </a:xfrm>
          <a:prstGeom prst="rect">
            <a:avLst/>
          </a:prstGeom>
          <a:solidFill>
            <a:srgbClr val="B71C1C"/>
          </a:solidFill>
          <a:ln w="12700">
            <a:solidFill>
              <a:srgbClr val="B71C1C"/>
            </a:solidFill>
            <a:prstDash val="solid"/>
          </a:ln>
        </p:spPr>
        <p:txBody>
          <a:bodyPr/>
          <a:lstStyle/>
          <a:p>
            <a:endParaRPr lang="en-AU"/>
          </a:p>
        </p:txBody>
      </p:sp>
      <p:sp>
        <p:nvSpPr>
          <p:cNvPr id="21" name="Shape 19"/>
          <p:cNvSpPr/>
          <p:nvPr/>
        </p:nvSpPr>
        <p:spPr>
          <a:xfrm>
            <a:off x="324612" y="3877056"/>
            <a:ext cx="3991356" cy="621792"/>
          </a:xfrm>
          <a:prstGeom prst="rect">
            <a:avLst/>
          </a:prstGeom>
          <a:solidFill>
            <a:srgbClr val="FFEBEE"/>
          </a:solidFill>
          <a:ln w="12700">
            <a:solidFill>
              <a:srgbClr val="FFEBEE"/>
            </a:solidFill>
            <a:prstDash val="solid"/>
          </a:ln>
        </p:spPr>
        <p:txBody>
          <a:bodyPr/>
          <a:lstStyle/>
          <a:p>
            <a:endParaRPr lang="en-AU"/>
          </a:p>
        </p:txBody>
      </p:sp>
      <p:sp>
        <p:nvSpPr>
          <p:cNvPr id="22" name="Text 20"/>
          <p:cNvSpPr/>
          <p:nvPr/>
        </p:nvSpPr>
        <p:spPr>
          <a:xfrm>
            <a:off x="429768" y="3877056"/>
            <a:ext cx="3840480" cy="621792"/>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Routine financial analysis replaced by ML forecasting models</a:t>
            </a:r>
            <a:endParaRPr lang="en-US" sz="1050" dirty="0"/>
          </a:p>
        </p:txBody>
      </p:sp>
      <p:sp>
        <p:nvSpPr>
          <p:cNvPr id="23" name="Shape 21"/>
          <p:cNvSpPr/>
          <p:nvPr/>
        </p:nvSpPr>
        <p:spPr>
          <a:xfrm>
            <a:off x="4736592" y="1261872"/>
            <a:ext cx="4206240" cy="3438144"/>
          </a:xfrm>
          <a:prstGeom prst="rect">
            <a:avLst/>
          </a:prstGeom>
          <a:solidFill>
            <a:srgbClr val="FFFFFF"/>
          </a:solidFill>
          <a:ln w="15240">
            <a:solidFill>
              <a:srgbClr val="1B6B3A"/>
            </a:solidFill>
            <a:prstDash val="solid"/>
          </a:ln>
          <a:effectLst>
            <a:outerShdw blurRad="63500" dist="25400" dir="8100000" algn="bl" rotWithShape="0">
              <a:srgbClr val="000000">
                <a:alpha val="12000"/>
              </a:srgbClr>
            </a:outerShdw>
          </a:effectLst>
        </p:spPr>
        <p:txBody>
          <a:bodyPr/>
          <a:lstStyle/>
          <a:p>
            <a:endParaRPr lang="en-AU"/>
          </a:p>
        </p:txBody>
      </p:sp>
      <p:sp>
        <p:nvSpPr>
          <p:cNvPr id="24" name="Shape 22"/>
          <p:cNvSpPr/>
          <p:nvPr/>
        </p:nvSpPr>
        <p:spPr>
          <a:xfrm>
            <a:off x="4736592" y="1261872"/>
            <a:ext cx="4206240" cy="384048"/>
          </a:xfrm>
          <a:prstGeom prst="rect">
            <a:avLst/>
          </a:prstGeom>
          <a:solidFill>
            <a:srgbClr val="1B6B3A"/>
          </a:solidFill>
          <a:ln w="12700">
            <a:solidFill>
              <a:srgbClr val="1B6B3A"/>
            </a:solidFill>
            <a:prstDash val="solid"/>
          </a:ln>
        </p:spPr>
        <p:txBody>
          <a:bodyPr/>
          <a:lstStyle/>
          <a:p>
            <a:endParaRPr lang="en-AU"/>
          </a:p>
        </p:txBody>
      </p:sp>
      <p:sp>
        <p:nvSpPr>
          <p:cNvPr id="25" name="Text 23"/>
          <p:cNvSpPr/>
          <p:nvPr/>
        </p:nvSpPr>
        <p:spPr>
          <a:xfrm>
            <a:off x="4864608" y="1261872"/>
            <a:ext cx="3950208"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Emerging Skills and Roles</a:t>
            </a:r>
            <a:endParaRPr lang="en-US" sz="1300" dirty="0"/>
          </a:p>
        </p:txBody>
      </p:sp>
      <p:sp>
        <p:nvSpPr>
          <p:cNvPr id="26" name="Shape 24"/>
          <p:cNvSpPr/>
          <p:nvPr/>
        </p:nvSpPr>
        <p:spPr>
          <a:xfrm>
            <a:off x="4809744" y="1737360"/>
            <a:ext cx="50292" cy="621792"/>
          </a:xfrm>
          <a:prstGeom prst="rect">
            <a:avLst/>
          </a:prstGeom>
          <a:solidFill>
            <a:srgbClr val="1B6B3A"/>
          </a:solidFill>
          <a:ln w="12700">
            <a:solidFill>
              <a:srgbClr val="1B6B3A"/>
            </a:solidFill>
            <a:prstDash val="solid"/>
          </a:ln>
        </p:spPr>
        <p:txBody>
          <a:bodyPr/>
          <a:lstStyle/>
          <a:p>
            <a:endParaRPr lang="en-AU"/>
          </a:p>
        </p:txBody>
      </p:sp>
      <p:sp>
        <p:nvSpPr>
          <p:cNvPr id="27" name="Shape 25"/>
          <p:cNvSpPr/>
          <p:nvPr/>
        </p:nvSpPr>
        <p:spPr>
          <a:xfrm>
            <a:off x="4860036" y="1737360"/>
            <a:ext cx="3991356" cy="621792"/>
          </a:xfrm>
          <a:prstGeom prst="rect">
            <a:avLst/>
          </a:prstGeom>
          <a:solidFill>
            <a:srgbClr val="E8F5E9"/>
          </a:solidFill>
          <a:ln w="12700">
            <a:solidFill>
              <a:srgbClr val="E8F5E9"/>
            </a:solidFill>
            <a:prstDash val="solid"/>
          </a:ln>
        </p:spPr>
        <p:txBody>
          <a:bodyPr/>
          <a:lstStyle/>
          <a:p>
            <a:endParaRPr lang="en-AU"/>
          </a:p>
        </p:txBody>
      </p:sp>
      <p:sp>
        <p:nvSpPr>
          <p:cNvPr id="28" name="Text 26"/>
          <p:cNvSpPr/>
          <p:nvPr/>
        </p:nvSpPr>
        <p:spPr>
          <a:xfrm>
            <a:off x="4965192" y="1737360"/>
            <a:ext cx="3840480" cy="621792"/>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ML engineers and data scientists — designing, training and validating models</a:t>
            </a:r>
            <a:endParaRPr lang="en-US" sz="1050" dirty="0"/>
          </a:p>
        </p:txBody>
      </p:sp>
      <p:sp>
        <p:nvSpPr>
          <p:cNvPr id="29" name="Shape 27"/>
          <p:cNvSpPr/>
          <p:nvPr/>
        </p:nvSpPr>
        <p:spPr>
          <a:xfrm>
            <a:off x="4809744" y="2450592"/>
            <a:ext cx="50292" cy="621792"/>
          </a:xfrm>
          <a:prstGeom prst="rect">
            <a:avLst/>
          </a:prstGeom>
          <a:solidFill>
            <a:srgbClr val="1B6B3A"/>
          </a:solidFill>
          <a:ln w="12700">
            <a:solidFill>
              <a:srgbClr val="1B6B3A"/>
            </a:solidFill>
            <a:prstDash val="solid"/>
          </a:ln>
        </p:spPr>
        <p:txBody>
          <a:bodyPr/>
          <a:lstStyle/>
          <a:p>
            <a:endParaRPr lang="en-AU"/>
          </a:p>
        </p:txBody>
      </p:sp>
      <p:sp>
        <p:nvSpPr>
          <p:cNvPr id="30" name="Shape 28"/>
          <p:cNvSpPr/>
          <p:nvPr/>
        </p:nvSpPr>
        <p:spPr>
          <a:xfrm>
            <a:off x="4860036" y="2450592"/>
            <a:ext cx="3991356" cy="621792"/>
          </a:xfrm>
          <a:prstGeom prst="rect">
            <a:avLst/>
          </a:prstGeom>
          <a:solidFill>
            <a:srgbClr val="E8F5E9"/>
          </a:solidFill>
          <a:ln w="12700">
            <a:solidFill>
              <a:srgbClr val="E8F5E9"/>
            </a:solidFill>
            <a:prstDash val="solid"/>
          </a:ln>
        </p:spPr>
        <p:txBody>
          <a:bodyPr/>
          <a:lstStyle/>
          <a:p>
            <a:endParaRPr lang="en-AU"/>
          </a:p>
        </p:txBody>
      </p:sp>
      <p:sp>
        <p:nvSpPr>
          <p:cNvPr id="31" name="Text 29"/>
          <p:cNvSpPr/>
          <p:nvPr/>
        </p:nvSpPr>
        <p:spPr>
          <a:xfrm>
            <a:off x="4965192" y="2450592"/>
            <a:ext cx="3840480" cy="621792"/>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AI ethics officers — auditing models for bias, fairness and regulatory compliance</a:t>
            </a:r>
            <a:endParaRPr lang="en-US" sz="1050" dirty="0"/>
          </a:p>
        </p:txBody>
      </p:sp>
      <p:sp>
        <p:nvSpPr>
          <p:cNvPr id="32" name="Shape 30"/>
          <p:cNvSpPr/>
          <p:nvPr/>
        </p:nvSpPr>
        <p:spPr>
          <a:xfrm>
            <a:off x="4809744" y="3163824"/>
            <a:ext cx="50292" cy="621792"/>
          </a:xfrm>
          <a:prstGeom prst="rect">
            <a:avLst/>
          </a:prstGeom>
          <a:solidFill>
            <a:srgbClr val="1B6B3A"/>
          </a:solidFill>
          <a:ln w="12700">
            <a:solidFill>
              <a:srgbClr val="1B6B3A"/>
            </a:solidFill>
            <a:prstDash val="solid"/>
          </a:ln>
        </p:spPr>
        <p:txBody>
          <a:bodyPr/>
          <a:lstStyle/>
          <a:p>
            <a:endParaRPr lang="en-AU"/>
          </a:p>
        </p:txBody>
      </p:sp>
      <p:sp>
        <p:nvSpPr>
          <p:cNvPr id="33" name="Shape 31"/>
          <p:cNvSpPr/>
          <p:nvPr/>
        </p:nvSpPr>
        <p:spPr>
          <a:xfrm>
            <a:off x="4860036" y="3163824"/>
            <a:ext cx="3991356" cy="621792"/>
          </a:xfrm>
          <a:prstGeom prst="rect">
            <a:avLst/>
          </a:prstGeom>
          <a:solidFill>
            <a:srgbClr val="E8F5E9"/>
          </a:solidFill>
          <a:ln w="12700">
            <a:solidFill>
              <a:srgbClr val="E8F5E9"/>
            </a:solidFill>
            <a:prstDash val="solid"/>
          </a:ln>
        </p:spPr>
        <p:txBody>
          <a:bodyPr/>
          <a:lstStyle/>
          <a:p>
            <a:endParaRPr lang="en-AU"/>
          </a:p>
        </p:txBody>
      </p:sp>
      <p:sp>
        <p:nvSpPr>
          <p:cNvPr id="34" name="Text 32"/>
          <p:cNvSpPr/>
          <p:nvPr/>
        </p:nvSpPr>
        <p:spPr>
          <a:xfrm>
            <a:off x="4965192" y="3163824"/>
            <a:ext cx="3840480" cy="621792"/>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Automation integration specialists — connecting AI systems to existing workflows</a:t>
            </a:r>
            <a:endParaRPr lang="en-US" sz="1050" dirty="0"/>
          </a:p>
        </p:txBody>
      </p:sp>
      <p:sp>
        <p:nvSpPr>
          <p:cNvPr id="35" name="Shape 33"/>
          <p:cNvSpPr/>
          <p:nvPr/>
        </p:nvSpPr>
        <p:spPr>
          <a:xfrm>
            <a:off x="4809744" y="3877056"/>
            <a:ext cx="50292" cy="621792"/>
          </a:xfrm>
          <a:prstGeom prst="rect">
            <a:avLst/>
          </a:prstGeom>
          <a:solidFill>
            <a:srgbClr val="1B6B3A"/>
          </a:solidFill>
          <a:ln w="12700">
            <a:solidFill>
              <a:srgbClr val="1B6B3A"/>
            </a:solidFill>
            <a:prstDash val="solid"/>
          </a:ln>
        </p:spPr>
        <p:txBody>
          <a:bodyPr/>
          <a:lstStyle/>
          <a:p>
            <a:endParaRPr lang="en-AU"/>
          </a:p>
        </p:txBody>
      </p:sp>
      <p:sp>
        <p:nvSpPr>
          <p:cNvPr id="36" name="Shape 34"/>
          <p:cNvSpPr/>
          <p:nvPr/>
        </p:nvSpPr>
        <p:spPr>
          <a:xfrm>
            <a:off x="4860036" y="3877056"/>
            <a:ext cx="3991356" cy="621792"/>
          </a:xfrm>
          <a:prstGeom prst="rect">
            <a:avLst/>
          </a:prstGeom>
          <a:solidFill>
            <a:srgbClr val="E8F5E9"/>
          </a:solidFill>
          <a:ln w="12700">
            <a:solidFill>
              <a:srgbClr val="E8F5E9"/>
            </a:solidFill>
            <a:prstDash val="solid"/>
          </a:ln>
        </p:spPr>
        <p:txBody>
          <a:bodyPr/>
          <a:lstStyle/>
          <a:p>
            <a:endParaRPr lang="en-AU"/>
          </a:p>
        </p:txBody>
      </p:sp>
      <p:sp>
        <p:nvSpPr>
          <p:cNvPr id="37" name="Text 35"/>
          <p:cNvSpPr/>
          <p:nvPr/>
        </p:nvSpPr>
        <p:spPr>
          <a:xfrm>
            <a:off x="4965192" y="3877056"/>
            <a:ext cx="3840480" cy="621792"/>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Human-in-the-loop supervisors — overseeing automated decision-making in critical systems</a:t>
            </a:r>
            <a:endParaRPr lang="en-US" sz="1050" dirty="0"/>
          </a:p>
        </p:txBody>
      </p:sp>
      <p:sp>
        <p:nvSpPr>
          <p:cNvPr id="38" name="Shape 36"/>
          <p:cNvSpPr/>
          <p:nvPr/>
        </p:nvSpPr>
        <p:spPr>
          <a:xfrm>
            <a:off x="201168" y="4617720"/>
            <a:ext cx="8741664" cy="219456"/>
          </a:xfrm>
          <a:prstGeom prst="rect">
            <a:avLst/>
          </a:prstGeom>
          <a:solidFill>
            <a:srgbClr val="C9A84C"/>
          </a:solidFill>
          <a:ln w="12700">
            <a:solidFill>
              <a:srgbClr val="C9A84C"/>
            </a:solidFill>
            <a:prstDash val="solid"/>
          </a:ln>
        </p:spPr>
        <p:txBody>
          <a:bodyPr/>
          <a:lstStyle/>
          <a:p>
            <a:endParaRPr lang="en-AU"/>
          </a:p>
        </p:txBody>
      </p:sp>
      <p:sp>
        <p:nvSpPr>
          <p:cNvPr id="39" name="Text 37"/>
          <p:cNvSpPr/>
          <p:nvPr/>
        </p:nvSpPr>
        <p:spPr>
          <a:xfrm>
            <a:off x="256032" y="4626864"/>
            <a:ext cx="8631936" cy="201168"/>
          </a:xfrm>
          <a:prstGeom prst="rect">
            <a:avLst/>
          </a:prstGeom>
          <a:noFill/>
          <a:ln/>
        </p:spPr>
        <p:txBody>
          <a:bodyPr wrap="square" rtlCol="0" anchor="ctr"/>
          <a:lstStyle/>
          <a:p>
            <a:pPr marL="0" indent="0">
              <a:buNone/>
            </a:pPr>
            <a:r>
              <a:rPr lang="en-US" sz="850" b="1" dirty="0">
                <a:solidFill>
                  <a:srgbClr val="1B3A6B"/>
                </a:solidFill>
                <a:latin typeface="Calibri" pitchFamily="34" charset="0"/>
                <a:ea typeface="Calibri" pitchFamily="34" charset="-122"/>
                <a:cs typeface="Calibri" pitchFamily="34" charset="-120"/>
              </a:rPr>
              <a:t>Exam Tip: 'Assess' requires evaluation — identify both displacement AND the creation of new roles, then form a judgement about net impact.</a:t>
            </a:r>
            <a:endParaRPr lang="en-US" sz="8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1" grpId="0" animBg="1"/>
      <p:bldP spid="28" grpId="0" animBg="1"/>
      <p:bldP spid="31" grpId="0" animBg="1"/>
      <p:bldP spid="34" grpId="0" animBg="1"/>
      <p:bldP spid="3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Impact 4 — Production Efficiency, Waste and the Environment</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Impact of Automation — SE-12-05</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Text 5"/>
          <p:cNvSpPr/>
          <p:nvPr/>
        </p:nvSpPr>
        <p:spPr>
          <a:xfrm>
            <a:off x="201168" y="685800"/>
            <a:ext cx="8741664" cy="45720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ML-driven automation creates a fundamental tension: it can dramatically reduce industrial waste and energy use, yet the computational infrastructure required to train AI models generates significant environmental cost.</a:t>
            </a:r>
            <a:endParaRPr lang="en-US" sz="1100" dirty="0"/>
          </a:p>
        </p:txBody>
      </p:sp>
      <p:sp>
        <p:nvSpPr>
          <p:cNvPr id="8" name="Shape 6"/>
          <p:cNvSpPr/>
          <p:nvPr/>
        </p:nvSpPr>
        <p:spPr>
          <a:xfrm>
            <a:off x="201168" y="1243584"/>
            <a:ext cx="4206240" cy="3474720"/>
          </a:xfrm>
          <a:prstGeom prst="rect">
            <a:avLst/>
          </a:prstGeom>
          <a:solidFill>
            <a:srgbClr val="FFFFFF"/>
          </a:solidFill>
          <a:ln w="15240">
            <a:solidFill>
              <a:srgbClr val="1B6B3A"/>
            </a:solidFill>
            <a:prstDash val="solid"/>
          </a:ln>
          <a:effectLst>
            <a:outerShdw blurRad="63500" dist="25400" dir="8100000" algn="bl" rotWithShape="0">
              <a:srgbClr val="000000">
                <a:alpha val="12000"/>
              </a:srgbClr>
            </a:outerShdw>
          </a:effectLst>
        </p:spPr>
        <p:txBody>
          <a:bodyPr/>
          <a:lstStyle/>
          <a:p>
            <a:endParaRPr lang="en-AU"/>
          </a:p>
        </p:txBody>
      </p:sp>
      <p:sp>
        <p:nvSpPr>
          <p:cNvPr id="9" name="Shape 7"/>
          <p:cNvSpPr/>
          <p:nvPr/>
        </p:nvSpPr>
        <p:spPr>
          <a:xfrm>
            <a:off x="201168" y="1243584"/>
            <a:ext cx="4206240" cy="384048"/>
          </a:xfrm>
          <a:prstGeom prst="rect">
            <a:avLst/>
          </a:prstGeom>
          <a:solidFill>
            <a:srgbClr val="1B6B3A"/>
          </a:solidFill>
          <a:ln w="12700">
            <a:solidFill>
              <a:srgbClr val="1B6B3A"/>
            </a:solidFill>
            <a:prstDash val="solid"/>
          </a:ln>
        </p:spPr>
        <p:txBody>
          <a:bodyPr/>
          <a:lstStyle/>
          <a:p>
            <a:endParaRPr lang="en-AU"/>
          </a:p>
        </p:txBody>
      </p:sp>
      <p:sp>
        <p:nvSpPr>
          <p:cNvPr id="10" name="Text 8"/>
          <p:cNvSpPr/>
          <p:nvPr/>
        </p:nvSpPr>
        <p:spPr>
          <a:xfrm>
            <a:off x="329184" y="1243584"/>
            <a:ext cx="3950208"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Environmental Benefits</a:t>
            </a:r>
            <a:endParaRPr lang="en-US" sz="1300" dirty="0"/>
          </a:p>
        </p:txBody>
      </p:sp>
      <p:sp>
        <p:nvSpPr>
          <p:cNvPr id="11" name="Shape 9"/>
          <p:cNvSpPr/>
          <p:nvPr/>
        </p:nvSpPr>
        <p:spPr>
          <a:xfrm>
            <a:off x="274320" y="1709928"/>
            <a:ext cx="4059936" cy="749808"/>
          </a:xfrm>
          <a:prstGeom prst="rect">
            <a:avLst/>
          </a:prstGeom>
          <a:solidFill>
            <a:srgbClr val="E8F5E9"/>
          </a:solidFill>
          <a:ln w="7620">
            <a:solidFill>
              <a:srgbClr val="1B6B3A"/>
            </a:solidFill>
            <a:prstDash val="solid"/>
          </a:ln>
        </p:spPr>
        <p:txBody>
          <a:bodyPr/>
          <a:lstStyle/>
          <a:p>
            <a:endParaRPr lang="en-AU"/>
          </a:p>
        </p:txBody>
      </p:sp>
      <p:sp>
        <p:nvSpPr>
          <p:cNvPr id="12" name="Text 10"/>
          <p:cNvSpPr/>
          <p:nvPr/>
        </p:nvSpPr>
        <p:spPr>
          <a:xfrm>
            <a:off x="384048" y="1746504"/>
            <a:ext cx="3840480" cy="219456"/>
          </a:xfrm>
          <a:prstGeom prst="rect">
            <a:avLst/>
          </a:prstGeom>
          <a:noFill/>
          <a:ln/>
        </p:spPr>
        <p:txBody>
          <a:bodyPr wrap="square" rtlCol="0" anchor="ctr"/>
          <a:lstStyle/>
          <a:p>
            <a:pPr marL="0" indent="0">
              <a:buNone/>
            </a:pPr>
            <a:r>
              <a:rPr lang="en-US" sz="1050" b="1" dirty="0">
                <a:solidFill>
                  <a:srgbClr val="1B6B3A"/>
                </a:solidFill>
                <a:latin typeface="Calibri" pitchFamily="34" charset="0"/>
                <a:ea typeface="Calibri" pitchFamily="34" charset="-122"/>
                <a:cs typeface="Calibri" pitchFamily="34" charset="-120"/>
              </a:rPr>
              <a:t>Supply Chain Optimisation</a:t>
            </a:r>
            <a:endParaRPr lang="en-US" sz="1050" dirty="0"/>
          </a:p>
        </p:txBody>
      </p:sp>
      <p:sp>
        <p:nvSpPr>
          <p:cNvPr id="13" name="Text 11"/>
          <p:cNvSpPr/>
          <p:nvPr/>
        </p:nvSpPr>
        <p:spPr>
          <a:xfrm>
            <a:off x="384048" y="1965960"/>
            <a:ext cx="3840480" cy="45720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ML models predict demand with high accuracy, reducing overproduction and inventory waste. Supermarket chains use ML to cut food spoilage by up to 30%.</a:t>
            </a:r>
            <a:endParaRPr lang="en-US" sz="950" dirty="0"/>
          </a:p>
        </p:txBody>
      </p:sp>
      <p:sp>
        <p:nvSpPr>
          <p:cNvPr id="14" name="Shape 12"/>
          <p:cNvSpPr/>
          <p:nvPr/>
        </p:nvSpPr>
        <p:spPr>
          <a:xfrm>
            <a:off x="274320" y="2560320"/>
            <a:ext cx="4059936" cy="749808"/>
          </a:xfrm>
          <a:prstGeom prst="rect">
            <a:avLst/>
          </a:prstGeom>
          <a:solidFill>
            <a:srgbClr val="E8F5E9"/>
          </a:solidFill>
          <a:ln w="7620">
            <a:solidFill>
              <a:srgbClr val="1B6B3A"/>
            </a:solidFill>
            <a:prstDash val="solid"/>
          </a:ln>
        </p:spPr>
        <p:txBody>
          <a:bodyPr/>
          <a:lstStyle/>
          <a:p>
            <a:endParaRPr lang="en-AU"/>
          </a:p>
        </p:txBody>
      </p:sp>
      <p:sp>
        <p:nvSpPr>
          <p:cNvPr id="15" name="Text 13"/>
          <p:cNvSpPr/>
          <p:nvPr/>
        </p:nvSpPr>
        <p:spPr>
          <a:xfrm>
            <a:off x="384048" y="2596896"/>
            <a:ext cx="3840480" cy="219456"/>
          </a:xfrm>
          <a:prstGeom prst="rect">
            <a:avLst/>
          </a:prstGeom>
          <a:noFill/>
          <a:ln/>
        </p:spPr>
        <p:txBody>
          <a:bodyPr wrap="square" rtlCol="0" anchor="ctr"/>
          <a:lstStyle/>
          <a:p>
            <a:pPr marL="0" indent="0">
              <a:buNone/>
            </a:pPr>
            <a:r>
              <a:rPr lang="en-US" sz="1050" b="1" dirty="0">
                <a:solidFill>
                  <a:srgbClr val="1B6B3A"/>
                </a:solidFill>
                <a:latin typeface="Calibri" pitchFamily="34" charset="0"/>
                <a:ea typeface="Calibri" pitchFamily="34" charset="-122"/>
                <a:cs typeface="Calibri" pitchFamily="34" charset="-120"/>
              </a:rPr>
              <a:t>Smart Energy Grids</a:t>
            </a:r>
            <a:endParaRPr lang="en-US" sz="1050" dirty="0"/>
          </a:p>
        </p:txBody>
      </p:sp>
      <p:sp>
        <p:nvSpPr>
          <p:cNvPr id="16" name="Text 14"/>
          <p:cNvSpPr/>
          <p:nvPr/>
        </p:nvSpPr>
        <p:spPr>
          <a:xfrm>
            <a:off x="384048" y="2816352"/>
            <a:ext cx="3840480" cy="45720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AI manages electricity distribution in real time, routing power where needed and reducing grid losses. Google's DeepMind reduced data centre cooling energy use by 40%.</a:t>
            </a:r>
            <a:endParaRPr lang="en-US" sz="950" dirty="0"/>
          </a:p>
        </p:txBody>
      </p:sp>
      <p:sp>
        <p:nvSpPr>
          <p:cNvPr id="17" name="Shape 15"/>
          <p:cNvSpPr/>
          <p:nvPr/>
        </p:nvSpPr>
        <p:spPr>
          <a:xfrm>
            <a:off x="274320" y="3410712"/>
            <a:ext cx="4059936" cy="749808"/>
          </a:xfrm>
          <a:prstGeom prst="rect">
            <a:avLst/>
          </a:prstGeom>
          <a:solidFill>
            <a:srgbClr val="E8F5E9"/>
          </a:solidFill>
          <a:ln w="7620">
            <a:solidFill>
              <a:srgbClr val="1B6B3A"/>
            </a:solidFill>
            <a:prstDash val="solid"/>
          </a:ln>
        </p:spPr>
        <p:txBody>
          <a:bodyPr/>
          <a:lstStyle/>
          <a:p>
            <a:endParaRPr lang="en-AU"/>
          </a:p>
        </p:txBody>
      </p:sp>
      <p:sp>
        <p:nvSpPr>
          <p:cNvPr id="18" name="Text 16"/>
          <p:cNvSpPr/>
          <p:nvPr/>
        </p:nvSpPr>
        <p:spPr>
          <a:xfrm>
            <a:off x="384048" y="3447288"/>
            <a:ext cx="3840480" cy="219456"/>
          </a:xfrm>
          <a:prstGeom prst="rect">
            <a:avLst/>
          </a:prstGeom>
          <a:noFill/>
          <a:ln/>
        </p:spPr>
        <p:txBody>
          <a:bodyPr wrap="square" rtlCol="0" anchor="ctr"/>
          <a:lstStyle/>
          <a:p>
            <a:pPr marL="0" indent="0">
              <a:buNone/>
            </a:pPr>
            <a:r>
              <a:rPr lang="en-US" sz="1050" b="1" dirty="0">
                <a:solidFill>
                  <a:srgbClr val="1B6B3A"/>
                </a:solidFill>
                <a:latin typeface="Calibri" pitchFamily="34" charset="0"/>
                <a:ea typeface="Calibri" pitchFamily="34" charset="-122"/>
                <a:cs typeface="Calibri" pitchFamily="34" charset="-120"/>
              </a:rPr>
              <a:t>Predictive Maintenance</a:t>
            </a:r>
            <a:endParaRPr lang="en-US" sz="1050" dirty="0"/>
          </a:p>
        </p:txBody>
      </p:sp>
      <p:sp>
        <p:nvSpPr>
          <p:cNvPr id="19" name="Text 17"/>
          <p:cNvSpPr/>
          <p:nvPr/>
        </p:nvSpPr>
        <p:spPr>
          <a:xfrm>
            <a:off x="384048" y="3666744"/>
            <a:ext cx="3840480" cy="45720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Manufacturing robots use ML anomaly detection to flag component wear before failure, preventing waste from defective production runs and unplanned downtime.</a:t>
            </a:r>
            <a:endParaRPr lang="en-US" sz="950" dirty="0"/>
          </a:p>
        </p:txBody>
      </p:sp>
      <p:sp>
        <p:nvSpPr>
          <p:cNvPr id="20" name="Shape 18"/>
          <p:cNvSpPr/>
          <p:nvPr/>
        </p:nvSpPr>
        <p:spPr>
          <a:xfrm>
            <a:off x="4736592" y="1243584"/>
            <a:ext cx="4206240" cy="3474720"/>
          </a:xfrm>
          <a:prstGeom prst="rect">
            <a:avLst/>
          </a:prstGeom>
          <a:solidFill>
            <a:srgbClr val="FFFFFF"/>
          </a:solidFill>
          <a:ln w="15240">
            <a:solidFill>
              <a:srgbClr val="B71C1C"/>
            </a:solidFill>
            <a:prstDash val="solid"/>
          </a:ln>
          <a:effectLst>
            <a:outerShdw blurRad="63500" dist="25400" dir="8100000" algn="bl" rotWithShape="0">
              <a:srgbClr val="000000">
                <a:alpha val="12000"/>
              </a:srgbClr>
            </a:outerShdw>
          </a:effectLst>
        </p:spPr>
        <p:txBody>
          <a:bodyPr/>
          <a:lstStyle/>
          <a:p>
            <a:endParaRPr lang="en-AU"/>
          </a:p>
        </p:txBody>
      </p:sp>
      <p:sp>
        <p:nvSpPr>
          <p:cNvPr id="21" name="Shape 19"/>
          <p:cNvSpPr/>
          <p:nvPr/>
        </p:nvSpPr>
        <p:spPr>
          <a:xfrm>
            <a:off x="4736592" y="1243584"/>
            <a:ext cx="4206240" cy="384048"/>
          </a:xfrm>
          <a:prstGeom prst="rect">
            <a:avLst/>
          </a:prstGeom>
          <a:solidFill>
            <a:srgbClr val="B71C1C"/>
          </a:solidFill>
          <a:ln w="12700">
            <a:solidFill>
              <a:srgbClr val="B71C1C"/>
            </a:solidFill>
            <a:prstDash val="solid"/>
          </a:ln>
        </p:spPr>
        <p:txBody>
          <a:bodyPr/>
          <a:lstStyle/>
          <a:p>
            <a:endParaRPr lang="en-AU"/>
          </a:p>
        </p:txBody>
      </p:sp>
      <p:sp>
        <p:nvSpPr>
          <p:cNvPr id="22" name="Text 20"/>
          <p:cNvSpPr/>
          <p:nvPr/>
        </p:nvSpPr>
        <p:spPr>
          <a:xfrm>
            <a:off x="4864608" y="1243584"/>
            <a:ext cx="3950208"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Environmental Costs</a:t>
            </a:r>
            <a:endParaRPr lang="en-US" sz="1300" dirty="0"/>
          </a:p>
        </p:txBody>
      </p:sp>
      <p:sp>
        <p:nvSpPr>
          <p:cNvPr id="23" name="Shape 21"/>
          <p:cNvSpPr/>
          <p:nvPr/>
        </p:nvSpPr>
        <p:spPr>
          <a:xfrm>
            <a:off x="4809744" y="1709928"/>
            <a:ext cx="4059936" cy="749808"/>
          </a:xfrm>
          <a:prstGeom prst="rect">
            <a:avLst/>
          </a:prstGeom>
          <a:solidFill>
            <a:srgbClr val="FFEBEE"/>
          </a:solidFill>
          <a:ln w="7620">
            <a:solidFill>
              <a:srgbClr val="B71C1C"/>
            </a:solidFill>
            <a:prstDash val="solid"/>
          </a:ln>
        </p:spPr>
        <p:txBody>
          <a:bodyPr/>
          <a:lstStyle/>
          <a:p>
            <a:endParaRPr lang="en-AU"/>
          </a:p>
        </p:txBody>
      </p:sp>
      <p:sp>
        <p:nvSpPr>
          <p:cNvPr id="24" name="Text 22"/>
          <p:cNvSpPr/>
          <p:nvPr/>
        </p:nvSpPr>
        <p:spPr>
          <a:xfrm>
            <a:off x="4919472" y="1746504"/>
            <a:ext cx="3840480" cy="219456"/>
          </a:xfrm>
          <a:prstGeom prst="rect">
            <a:avLst/>
          </a:prstGeom>
          <a:noFill/>
          <a:ln/>
        </p:spPr>
        <p:txBody>
          <a:bodyPr wrap="square" rtlCol="0" anchor="ctr"/>
          <a:lstStyle/>
          <a:p>
            <a:pPr marL="0" indent="0">
              <a:buNone/>
            </a:pPr>
            <a:r>
              <a:rPr lang="en-US" sz="1050" b="1" dirty="0">
                <a:solidFill>
                  <a:srgbClr val="B71C1C"/>
                </a:solidFill>
                <a:latin typeface="Calibri" pitchFamily="34" charset="0"/>
                <a:ea typeface="Calibri" pitchFamily="34" charset="-122"/>
                <a:cs typeface="Calibri" pitchFamily="34" charset="-120"/>
              </a:rPr>
              <a:t>Training Cost — Carbon Footprint</a:t>
            </a:r>
            <a:endParaRPr lang="en-US" sz="1050" dirty="0"/>
          </a:p>
        </p:txBody>
      </p:sp>
      <p:sp>
        <p:nvSpPr>
          <p:cNvPr id="25" name="Text 23"/>
          <p:cNvSpPr/>
          <p:nvPr/>
        </p:nvSpPr>
        <p:spPr>
          <a:xfrm>
            <a:off x="4919472" y="1965960"/>
            <a:ext cx="3840480" cy="45720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Training a large language model (LLM) can emit more CO₂ than five petrol cars over their full lifetimes. This cost is largely invisible to end users.</a:t>
            </a:r>
            <a:endParaRPr lang="en-US" sz="950" dirty="0"/>
          </a:p>
        </p:txBody>
      </p:sp>
      <p:sp>
        <p:nvSpPr>
          <p:cNvPr id="26" name="Shape 24"/>
          <p:cNvSpPr/>
          <p:nvPr/>
        </p:nvSpPr>
        <p:spPr>
          <a:xfrm>
            <a:off x="4809744" y="2560320"/>
            <a:ext cx="4059936" cy="749808"/>
          </a:xfrm>
          <a:prstGeom prst="rect">
            <a:avLst/>
          </a:prstGeom>
          <a:solidFill>
            <a:srgbClr val="FFEBEE"/>
          </a:solidFill>
          <a:ln w="7620">
            <a:solidFill>
              <a:srgbClr val="B71C1C"/>
            </a:solidFill>
            <a:prstDash val="solid"/>
          </a:ln>
        </p:spPr>
        <p:txBody>
          <a:bodyPr/>
          <a:lstStyle/>
          <a:p>
            <a:endParaRPr lang="en-AU"/>
          </a:p>
        </p:txBody>
      </p:sp>
      <p:sp>
        <p:nvSpPr>
          <p:cNvPr id="27" name="Text 25"/>
          <p:cNvSpPr/>
          <p:nvPr/>
        </p:nvSpPr>
        <p:spPr>
          <a:xfrm>
            <a:off x="4919472" y="2596896"/>
            <a:ext cx="3840480" cy="219456"/>
          </a:xfrm>
          <a:prstGeom prst="rect">
            <a:avLst/>
          </a:prstGeom>
          <a:noFill/>
          <a:ln/>
        </p:spPr>
        <p:txBody>
          <a:bodyPr wrap="square" rtlCol="0" anchor="ctr"/>
          <a:lstStyle/>
          <a:p>
            <a:pPr marL="0" indent="0">
              <a:buNone/>
            </a:pPr>
            <a:r>
              <a:rPr lang="en-US" sz="1050" b="1" dirty="0">
                <a:solidFill>
                  <a:srgbClr val="B71C1C"/>
                </a:solidFill>
                <a:latin typeface="Calibri" pitchFamily="34" charset="0"/>
                <a:ea typeface="Calibri" pitchFamily="34" charset="-122"/>
                <a:cs typeface="Calibri" pitchFamily="34" charset="-120"/>
              </a:rPr>
              <a:t>Data Centre Power Consumption</a:t>
            </a:r>
            <a:endParaRPr lang="en-US" sz="1050" dirty="0"/>
          </a:p>
        </p:txBody>
      </p:sp>
      <p:sp>
        <p:nvSpPr>
          <p:cNvPr id="28" name="Text 26"/>
          <p:cNvSpPr/>
          <p:nvPr/>
        </p:nvSpPr>
        <p:spPr>
          <a:xfrm>
            <a:off x="4919472" y="2816352"/>
            <a:ext cx="3840480" cy="45720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The global data centre industry consumes approximately 200 terawatt-hours of electricity annually — comparable to some entire countries. Much of this powers AI inference.</a:t>
            </a:r>
            <a:endParaRPr lang="en-US" sz="950" dirty="0"/>
          </a:p>
        </p:txBody>
      </p:sp>
      <p:sp>
        <p:nvSpPr>
          <p:cNvPr id="29" name="Shape 27"/>
          <p:cNvSpPr/>
          <p:nvPr/>
        </p:nvSpPr>
        <p:spPr>
          <a:xfrm>
            <a:off x="4809744" y="3410712"/>
            <a:ext cx="4059936" cy="749808"/>
          </a:xfrm>
          <a:prstGeom prst="rect">
            <a:avLst/>
          </a:prstGeom>
          <a:solidFill>
            <a:srgbClr val="FFEBEE"/>
          </a:solidFill>
          <a:ln w="7620">
            <a:solidFill>
              <a:srgbClr val="B71C1C"/>
            </a:solidFill>
            <a:prstDash val="solid"/>
          </a:ln>
        </p:spPr>
        <p:txBody>
          <a:bodyPr/>
          <a:lstStyle/>
          <a:p>
            <a:endParaRPr lang="en-AU"/>
          </a:p>
        </p:txBody>
      </p:sp>
      <p:sp>
        <p:nvSpPr>
          <p:cNvPr id="30" name="Text 28"/>
          <p:cNvSpPr/>
          <p:nvPr/>
        </p:nvSpPr>
        <p:spPr>
          <a:xfrm>
            <a:off x="4919472" y="3447288"/>
            <a:ext cx="3840480" cy="219456"/>
          </a:xfrm>
          <a:prstGeom prst="rect">
            <a:avLst/>
          </a:prstGeom>
          <a:noFill/>
          <a:ln/>
        </p:spPr>
        <p:txBody>
          <a:bodyPr wrap="square" rtlCol="0" anchor="ctr"/>
          <a:lstStyle/>
          <a:p>
            <a:pPr marL="0" indent="0">
              <a:buNone/>
            </a:pPr>
            <a:r>
              <a:rPr lang="en-US" sz="1050" b="1" dirty="0">
                <a:solidFill>
                  <a:srgbClr val="B71C1C"/>
                </a:solidFill>
                <a:latin typeface="Calibri" pitchFamily="34" charset="0"/>
                <a:ea typeface="Calibri" pitchFamily="34" charset="-122"/>
                <a:cs typeface="Calibri" pitchFamily="34" charset="-120"/>
              </a:rPr>
              <a:t>Electronic Waste (E-Waste)</a:t>
            </a:r>
            <a:endParaRPr lang="en-US" sz="1050" dirty="0"/>
          </a:p>
        </p:txBody>
      </p:sp>
      <p:sp>
        <p:nvSpPr>
          <p:cNvPr id="31" name="Text 29"/>
          <p:cNvSpPr/>
          <p:nvPr/>
        </p:nvSpPr>
        <p:spPr>
          <a:xfrm>
            <a:off x="4919472" y="3666744"/>
            <a:ext cx="3840480" cy="45720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Rapid hardware cycles driven by AI acceleration contribute to growing volumes of e-waste. GPU hardware becomes obsolete quickly as model complexity increases.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5" grpId="0" animBg="1"/>
      <p:bldP spid="28"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Impact 5 — The Economy and Distribution of Wealth</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Impact of Automation — SE-12-05</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Text 5"/>
          <p:cNvSpPr/>
          <p:nvPr/>
        </p:nvSpPr>
        <p:spPr>
          <a:xfrm>
            <a:off x="201168" y="685800"/>
            <a:ext cx="8741664" cy="41148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Automation increases economic productivity but does not distribute its gains evenly. The central tension is between aggregate growth and structural inequality.</a:t>
            </a:r>
            <a:endParaRPr lang="en-US" sz="1100" dirty="0"/>
          </a:p>
        </p:txBody>
      </p:sp>
      <p:sp>
        <p:nvSpPr>
          <p:cNvPr id="8" name="Shape 6"/>
          <p:cNvSpPr/>
          <p:nvPr/>
        </p:nvSpPr>
        <p:spPr>
          <a:xfrm>
            <a:off x="201168" y="1207008"/>
            <a:ext cx="4206240" cy="1572768"/>
          </a:xfrm>
          <a:prstGeom prst="rect">
            <a:avLst/>
          </a:prstGeom>
          <a:solidFill>
            <a:srgbClr val="FFFFFF"/>
          </a:solidFill>
          <a:ln w="15240">
            <a:solidFill>
              <a:srgbClr val="028090"/>
            </a:solidFill>
            <a:prstDash val="solid"/>
          </a:ln>
          <a:effectLst>
            <a:outerShdw blurRad="63500" dist="25400" dir="8100000" algn="bl" rotWithShape="0">
              <a:srgbClr val="000000">
                <a:alpha val="12000"/>
              </a:srgbClr>
            </a:outerShdw>
          </a:effectLst>
        </p:spPr>
        <p:txBody>
          <a:bodyPr/>
          <a:lstStyle/>
          <a:p>
            <a:endParaRPr lang="en-AU"/>
          </a:p>
        </p:txBody>
      </p:sp>
      <p:sp>
        <p:nvSpPr>
          <p:cNvPr id="9" name="Shape 7"/>
          <p:cNvSpPr/>
          <p:nvPr/>
        </p:nvSpPr>
        <p:spPr>
          <a:xfrm>
            <a:off x="201168" y="1207008"/>
            <a:ext cx="4206240" cy="347472"/>
          </a:xfrm>
          <a:prstGeom prst="rect">
            <a:avLst/>
          </a:prstGeom>
          <a:solidFill>
            <a:srgbClr val="028090"/>
          </a:solidFill>
          <a:ln w="12700">
            <a:solidFill>
              <a:srgbClr val="028090"/>
            </a:solidFill>
            <a:prstDash val="solid"/>
          </a:ln>
        </p:spPr>
        <p:txBody>
          <a:bodyPr/>
          <a:lstStyle/>
          <a:p>
            <a:endParaRPr lang="en-AU"/>
          </a:p>
        </p:txBody>
      </p:sp>
      <p:sp>
        <p:nvSpPr>
          <p:cNvPr id="10" name="Text 8"/>
          <p:cNvSpPr/>
          <p:nvPr/>
        </p:nvSpPr>
        <p:spPr>
          <a:xfrm>
            <a:off x="329184" y="1207008"/>
            <a:ext cx="395020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Productivity Gains</a:t>
            </a:r>
            <a:endParaRPr lang="en-US" sz="1300" dirty="0"/>
          </a:p>
        </p:txBody>
      </p:sp>
      <p:sp>
        <p:nvSpPr>
          <p:cNvPr id="11" name="Text 9"/>
          <p:cNvSpPr/>
          <p:nvPr/>
        </p:nvSpPr>
        <p:spPr>
          <a:xfrm>
            <a:off x="329184" y="1591056"/>
            <a:ext cx="3931920" cy="1115568"/>
          </a:xfrm>
          <a:prstGeom prst="rect">
            <a:avLst/>
          </a:prstGeom>
          <a:noFill/>
          <a:ln/>
        </p:spPr>
        <p:txBody>
          <a:bodyPr wrap="square" rtlCol="0" anchor="t"/>
          <a:lstStyle/>
          <a:p>
            <a:pPr marL="0" indent="0">
              <a:buNone/>
            </a:pPr>
            <a:r>
              <a:rPr lang="en-US" sz="1000" dirty="0">
                <a:solidFill>
                  <a:srgbClr val="37474F"/>
                </a:solidFill>
                <a:latin typeface="Calibri" pitchFamily="34" charset="0"/>
                <a:ea typeface="Calibri" pitchFamily="34" charset="-122"/>
                <a:cs typeface="Calibri" pitchFamily="34" charset="-120"/>
              </a:rPr>
              <a:t>AI-driven automation increases output per worker, reduces unit costs and allows businesses to scale without proportional increases in headcount. Nations that adopt AI early gain significant competitive advantages in global markets.</a:t>
            </a:r>
            <a:endParaRPr lang="en-US" sz="1000" dirty="0"/>
          </a:p>
        </p:txBody>
      </p:sp>
      <p:sp>
        <p:nvSpPr>
          <p:cNvPr id="12" name="Shape 10"/>
          <p:cNvSpPr/>
          <p:nvPr/>
        </p:nvSpPr>
        <p:spPr>
          <a:xfrm>
            <a:off x="4736592" y="1207008"/>
            <a:ext cx="4206240" cy="1572768"/>
          </a:xfrm>
          <a:prstGeom prst="rect">
            <a:avLst/>
          </a:prstGeom>
          <a:solidFill>
            <a:srgbClr val="FFFFFF"/>
          </a:solidFill>
          <a:ln w="15240">
            <a:solidFill>
              <a:srgbClr val="B71C1C"/>
            </a:solidFill>
            <a:prstDash val="solid"/>
          </a:ln>
          <a:effectLst>
            <a:outerShdw blurRad="63500" dist="25400" dir="8100000" algn="bl" rotWithShape="0">
              <a:srgbClr val="000000">
                <a:alpha val="12000"/>
              </a:srgbClr>
            </a:outerShdw>
          </a:effectLst>
        </p:spPr>
        <p:txBody>
          <a:bodyPr/>
          <a:lstStyle/>
          <a:p>
            <a:endParaRPr lang="en-AU"/>
          </a:p>
        </p:txBody>
      </p:sp>
      <p:sp>
        <p:nvSpPr>
          <p:cNvPr id="13" name="Shape 11"/>
          <p:cNvSpPr/>
          <p:nvPr/>
        </p:nvSpPr>
        <p:spPr>
          <a:xfrm>
            <a:off x="4736592" y="1207008"/>
            <a:ext cx="4206240" cy="347472"/>
          </a:xfrm>
          <a:prstGeom prst="rect">
            <a:avLst/>
          </a:prstGeom>
          <a:solidFill>
            <a:srgbClr val="B71C1C"/>
          </a:solidFill>
          <a:ln w="12700">
            <a:solidFill>
              <a:srgbClr val="B71C1C"/>
            </a:solidFill>
            <a:prstDash val="solid"/>
          </a:ln>
        </p:spPr>
        <p:txBody>
          <a:bodyPr/>
          <a:lstStyle/>
          <a:p>
            <a:endParaRPr lang="en-AU"/>
          </a:p>
        </p:txBody>
      </p:sp>
      <p:sp>
        <p:nvSpPr>
          <p:cNvPr id="14" name="Text 12"/>
          <p:cNvSpPr/>
          <p:nvPr/>
        </p:nvSpPr>
        <p:spPr>
          <a:xfrm>
            <a:off x="4864608" y="1207008"/>
            <a:ext cx="395020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Wealth Concentration</a:t>
            </a:r>
            <a:endParaRPr lang="en-US" sz="1300" dirty="0"/>
          </a:p>
        </p:txBody>
      </p:sp>
      <p:sp>
        <p:nvSpPr>
          <p:cNvPr id="15" name="Text 13"/>
          <p:cNvSpPr/>
          <p:nvPr/>
        </p:nvSpPr>
        <p:spPr>
          <a:xfrm>
            <a:off x="4864608" y="1591056"/>
            <a:ext cx="3931920" cy="1115568"/>
          </a:xfrm>
          <a:prstGeom prst="rect">
            <a:avLst/>
          </a:prstGeom>
          <a:noFill/>
          <a:ln/>
        </p:spPr>
        <p:txBody>
          <a:bodyPr wrap="square" rtlCol="0" anchor="t"/>
          <a:lstStyle/>
          <a:p>
            <a:pPr marL="0" indent="0">
              <a:buNone/>
            </a:pPr>
            <a:r>
              <a:rPr lang="en-US" sz="1000" dirty="0">
                <a:solidFill>
                  <a:srgbClr val="37474F"/>
                </a:solidFill>
                <a:latin typeface="Calibri" pitchFamily="34" charset="0"/>
                <a:ea typeface="Calibri" pitchFamily="34" charset="-122"/>
                <a:cs typeface="Calibri" pitchFamily="34" charset="-120"/>
              </a:rPr>
              <a:t>Economic gains from automation primarily benefit capital owners (shareholders and technology firms) rather than displaced workers. This accelerates wealth inequality: the top 1% of earners capture a disproportionate share of productivity gains.</a:t>
            </a:r>
            <a:endParaRPr lang="en-US" sz="1000" dirty="0"/>
          </a:p>
        </p:txBody>
      </p:sp>
      <p:sp>
        <p:nvSpPr>
          <p:cNvPr id="16" name="Shape 14"/>
          <p:cNvSpPr/>
          <p:nvPr/>
        </p:nvSpPr>
        <p:spPr>
          <a:xfrm>
            <a:off x="201168" y="2852928"/>
            <a:ext cx="4206240" cy="1572768"/>
          </a:xfrm>
          <a:prstGeom prst="rect">
            <a:avLst/>
          </a:prstGeom>
          <a:solidFill>
            <a:srgbClr val="FFFFFF"/>
          </a:solidFill>
          <a:ln w="15240">
            <a:solidFill>
              <a:srgbClr val="1B6B3A"/>
            </a:solidFill>
            <a:prstDash val="solid"/>
          </a:ln>
          <a:effectLst>
            <a:outerShdw blurRad="63500" dist="25400" dir="8100000" algn="bl" rotWithShape="0">
              <a:srgbClr val="000000">
                <a:alpha val="12000"/>
              </a:srgbClr>
            </a:outerShdw>
          </a:effectLst>
        </p:spPr>
        <p:txBody>
          <a:bodyPr/>
          <a:lstStyle/>
          <a:p>
            <a:endParaRPr lang="en-AU"/>
          </a:p>
        </p:txBody>
      </p:sp>
      <p:sp>
        <p:nvSpPr>
          <p:cNvPr id="17" name="Shape 15"/>
          <p:cNvSpPr/>
          <p:nvPr/>
        </p:nvSpPr>
        <p:spPr>
          <a:xfrm>
            <a:off x="201168" y="2852928"/>
            <a:ext cx="4206240" cy="347472"/>
          </a:xfrm>
          <a:prstGeom prst="rect">
            <a:avLst/>
          </a:prstGeom>
          <a:solidFill>
            <a:srgbClr val="1B6B3A"/>
          </a:solidFill>
          <a:ln w="12700">
            <a:solidFill>
              <a:srgbClr val="1B6B3A"/>
            </a:solidFill>
            <a:prstDash val="solid"/>
          </a:ln>
        </p:spPr>
        <p:txBody>
          <a:bodyPr/>
          <a:lstStyle/>
          <a:p>
            <a:endParaRPr lang="en-AU"/>
          </a:p>
        </p:txBody>
      </p:sp>
      <p:sp>
        <p:nvSpPr>
          <p:cNvPr id="18" name="Text 16"/>
          <p:cNvSpPr/>
          <p:nvPr/>
        </p:nvSpPr>
        <p:spPr>
          <a:xfrm>
            <a:off x="329184" y="2852928"/>
            <a:ext cx="395020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 Economic Sectors</a:t>
            </a:r>
            <a:endParaRPr lang="en-US" sz="1300" dirty="0"/>
          </a:p>
        </p:txBody>
      </p:sp>
      <p:sp>
        <p:nvSpPr>
          <p:cNvPr id="19" name="Text 17"/>
          <p:cNvSpPr/>
          <p:nvPr/>
        </p:nvSpPr>
        <p:spPr>
          <a:xfrm>
            <a:off x="329184" y="3236976"/>
            <a:ext cx="3931920" cy="1115568"/>
          </a:xfrm>
          <a:prstGeom prst="rect">
            <a:avLst/>
          </a:prstGeom>
          <a:noFill/>
          <a:ln/>
        </p:spPr>
        <p:txBody>
          <a:bodyPr wrap="square" rtlCol="0" anchor="t"/>
          <a:lstStyle/>
          <a:p>
            <a:pPr marL="0" indent="0">
              <a:buNone/>
            </a:pPr>
            <a:r>
              <a:rPr lang="en-US" sz="1000" dirty="0">
                <a:solidFill>
                  <a:srgbClr val="37474F"/>
                </a:solidFill>
                <a:latin typeface="Calibri" pitchFamily="34" charset="0"/>
                <a:ea typeface="Calibri" pitchFamily="34" charset="-122"/>
                <a:cs typeface="Calibri" pitchFamily="34" charset="-120"/>
              </a:rPr>
              <a:t>AI creates entirely new industries: cloud platforms, AI consulting, data labelling services and autonomous vehicle infrastructure. These generate tax revenue and high-value employment — but typically require post-secondary technical education to access.</a:t>
            </a:r>
            <a:endParaRPr lang="en-US" sz="1000" dirty="0"/>
          </a:p>
        </p:txBody>
      </p:sp>
      <p:sp>
        <p:nvSpPr>
          <p:cNvPr id="20" name="Shape 18"/>
          <p:cNvSpPr/>
          <p:nvPr/>
        </p:nvSpPr>
        <p:spPr>
          <a:xfrm>
            <a:off x="4736592" y="2852928"/>
            <a:ext cx="4206240" cy="1572768"/>
          </a:xfrm>
          <a:prstGeom prst="rect">
            <a:avLst/>
          </a:prstGeom>
          <a:solidFill>
            <a:srgbClr val="FFFFFF"/>
          </a:solidFill>
          <a:ln w="15240">
            <a:solidFill>
              <a:srgbClr val="E65100"/>
            </a:solidFill>
            <a:prstDash val="solid"/>
          </a:ln>
          <a:effectLst>
            <a:outerShdw blurRad="63500" dist="25400" dir="8100000" algn="bl" rotWithShape="0">
              <a:srgbClr val="000000">
                <a:alpha val="12000"/>
              </a:srgbClr>
            </a:outerShdw>
          </a:effectLst>
        </p:spPr>
        <p:txBody>
          <a:bodyPr/>
          <a:lstStyle/>
          <a:p>
            <a:endParaRPr lang="en-AU"/>
          </a:p>
        </p:txBody>
      </p:sp>
      <p:sp>
        <p:nvSpPr>
          <p:cNvPr id="21" name="Shape 19"/>
          <p:cNvSpPr/>
          <p:nvPr/>
        </p:nvSpPr>
        <p:spPr>
          <a:xfrm>
            <a:off x="4736592" y="2852928"/>
            <a:ext cx="4206240" cy="347472"/>
          </a:xfrm>
          <a:prstGeom prst="rect">
            <a:avLst/>
          </a:prstGeom>
          <a:solidFill>
            <a:srgbClr val="E65100"/>
          </a:solidFill>
          <a:ln w="12700">
            <a:solidFill>
              <a:srgbClr val="E65100"/>
            </a:solidFill>
            <a:prstDash val="solid"/>
          </a:ln>
        </p:spPr>
        <p:txBody>
          <a:bodyPr/>
          <a:lstStyle/>
          <a:p>
            <a:endParaRPr lang="en-AU"/>
          </a:p>
        </p:txBody>
      </p:sp>
      <p:sp>
        <p:nvSpPr>
          <p:cNvPr id="22" name="Text 20"/>
          <p:cNvSpPr/>
          <p:nvPr/>
        </p:nvSpPr>
        <p:spPr>
          <a:xfrm>
            <a:off x="4864608" y="2852928"/>
            <a:ext cx="3950208"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Structural Unemployment</a:t>
            </a:r>
            <a:endParaRPr lang="en-US" sz="1300" dirty="0"/>
          </a:p>
        </p:txBody>
      </p:sp>
      <p:sp>
        <p:nvSpPr>
          <p:cNvPr id="23" name="Text 21"/>
          <p:cNvSpPr/>
          <p:nvPr/>
        </p:nvSpPr>
        <p:spPr>
          <a:xfrm>
            <a:off x="4864608" y="3236976"/>
            <a:ext cx="3931920" cy="1115568"/>
          </a:xfrm>
          <a:prstGeom prst="rect">
            <a:avLst/>
          </a:prstGeom>
          <a:noFill/>
          <a:ln/>
        </p:spPr>
        <p:txBody>
          <a:bodyPr wrap="square" rtlCol="0" anchor="t"/>
          <a:lstStyle/>
          <a:p>
            <a:pPr marL="0" indent="0">
              <a:buNone/>
            </a:pPr>
            <a:r>
              <a:rPr lang="en-US" sz="1000" dirty="0">
                <a:solidFill>
                  <a:srgbClr val="37474F"/>
                </a:solidFill>
                <a:latin typeface="Calibri" pitchFamily="34" charset="0"/>
                <a:ea typeface="Calibri" pitchFamily="34" charset="-122"/>
                <a:cs typeface="Calibri" pitchFamily="34" charset="-120"/>
              </a:rPr>
              <a:t>Workers in displaced industries (manufacturing, transport, routine clerical work) face structural unemployment — their skills no longer match available roles. Without government intervention in retraining and social support, regional poverty can increase.</a:t>
            </a:r>
            <a:endParaRPr lang="en-US" sz="1000" dirty="0"/>
          </a:p>
        </p:txBody>
      </p:sp>
      <p:sp>
        <p:nvSpPr>
          <p:cNvPr id="24" name="Text 22"/>
          <p:cNvSpPr/>
          <p:nvPr/>
        </p:nvSpPr>
        <p:spPr>
          <a:xfrm>
            <a:off x="201168" y="4517136"/>
            <a:ext cx="8741664" cy="201168"/>
          </a:xfrm>
          <a:prstGeom prst="rect">
            <a:avLst/>
          </a:prstGeom>
          <a:noFill/>
          <a:ln/>
        </p:spPr>
        <p:txBody>
          <a:bodyPr wrap="square"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KEY POLICY QUESTION: How do governments redistribute AI productivity gains to support displaced workers?</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9"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A84C"/>
          </a:solidFill>
          <a:ln w="12700">
            <a:solidFill>
              <a:srgbClr val="C9A84C"/>
            </a:solidFill>
            <a:prstDash val="solid"/>
          </a:ln>
        </p:spPr>
        <p:txBody>
          <a:bodyPr/>
          <a:lstStyle/>
          <a:p>
            <a:endParaRPr lang="en-AU"/>
          </a:p>
        </p:txBody>
      </p:sp>
      <p:sp>
        <p:nvSpPr>
          <p:cNvPr id="3" name="Shape 1"/>
          <p:cNvSpPr/>
          <p:nvPr/>
        </p:nvSpPr>
        <p:spPr>
          <a:xfrm>
            <a:off x="201168" y="2148840"/>
            <a:ext cx="8942832" cy="1005840"/>
          </a:xfrm>
          <a:prstGeom prst="rect">
            <a:avLst/>
          </a:prstGeom>
          <a:solidFill>
            <a:srgbClr val="1B3A6B"/>
          </a:solidFill>
          <a:ln w="12700">
            <a:solidFill>
              <a:srgbClr val="1B3A6B"/>
            </a:solidFill>
            <a:prstDash val="solid"/>
          </a:ln>
        </p:spPr>
        <p:txBody>
          <a:bodyPr/>
          <a:lstStyle/>
          <a:p>
            <a:endParaRPr lang="en-AU"/>
          </a:p>
        </p:txBody>
      </p:sp>
      <p:sp>
        <p:nvSpPr>
          <p:cNvPr id="4" name="Text 2"/>
          <p:cNvSpPr/>
          <p:nvPr/>
        </p:nvSpPr>
        <p:spPr>
          <a:xfrm>
            <a:off x="411480" y="160020"/>
            <a:ext cx="8229600" cy="365760"/>
          </a:xfrm>
          <a:prstGeom prst="rect">
            <a:avLst/>
          </a:prstGeom>
          <a:noFill/>
          <a:ln/>
        </p:spPr>
        <p:txBody>
          <a:bodyPr wrap="square" rtlCol="0" anchor="ctr"/>
          <a:lstStyle/>
          <a:p>
            <a:pPr marL="0" indent="0">
              <a:buNone/>
            </a:pPr>
            <a:r>
              <a:rPr lang="en-US" sz="1400" b="1" kern="0" spc="300" dirty="0">
                <a:solidFill>
                  <a:srgbClr val="C9A84C"/>
                </a:solidFill>
                <a:latin typeface="Calibri" pitchFamily="34" charset="0"/>
                <a:ea typeface="Calibri" pitchFamily="34" charset="-122"/>
                <a:cs typeface="Calibri" pitchFamily="34" charset="-120"/>
              </a:rPr>
              <a:t>Section 2</a:t>
            </a:r>
            <a:endParaRPr lang="en-US" sz="1400" dirty="0"/>
          </a:p>
        </p:txBody>
      </p:sp>
      <p:sp>
        <p:nvSpPr>
          <p:cNvPr id="5" name="Text 3"/>
          <p:cNvSpPr/>
          <p:nvPr/>
        </p:nvSpPr>
        <p:spPr>
          <a:xfrm>
            <a:off x="411480" y="525780"/>
            <a:ext cx="8229600" cy="14630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Explore by Implementation How Patterns</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in Human Behaviour Influence</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ML and AI Software Development</a:t>
            </a:r>
            <a:endParaRPr lang="en-US" sz="3000" dirty="0"/>
          </a:p>
        </p:txBody>
      </p:sp>
      <p:sp>
        <p:nvSpPr>
          <p:cNvPr id="6" name="Text 4"/>
          <p:cNvSpPr/>
          <p:nvPr/>
        </p:nvSpPr>
        <p:spPr>
          <a:xfrm>
            <a:off x="411480" y="2221992"/>
            <a:ext cx="8229600" cy="67665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Syllabus outcome SE-12-03 — analyses how current hardware, software and emerging technologies influence the development of software engineering solutions</a:t>
            </a:r>
            <a:endParaRPr lang="en-US" sz="1100" dirty="0"/>
          </a:p>
        </p:txBody>
      </p:sp>
      <p:sp>
        <p:nvSpPr>
          <p:cNvPr id="7" name="Shape 5"/>
          <p:cNvSpPr/>
          <p:nvPr/>
        </p:nvSpPr>
        <p:spPr>
          <a:xfrm>
            <a:off x="411480" y="3474720"/>
            <a:ext cx="1984248" cy="685800"/>
          </a:xfrm>
          <a:prstGeom prst="rect">
            <a:avLst/>
          </a:prstGeom>
          <a:solidFill>
            <a:srgbClr val="1B3A6B"/>
          </a:solidFill>
          <a:ln w="10160">
            <a:solidFill>
              <a:srgbClr val="FFFFFF"/>
            </a:solidFill>
            <a:prstDash val="solid"/>
          </a:ln>
        </p:spPr>
        <p:txBody>
          <a:bodyPr/>
          <a:lstStyle/>
          <a:p>
            <a:endParaRPr lang="en-AU"/>
          </a:p>
        </p:txBody>
      </p:sp>
      <p:sp>
        <p:nvSpPr>
          <p:cNvPr id="8" name="Text 6"/>
          <p:cNvSpPr/>
          <p:nvPr/>
        </p:nvSpPr>
        <p:spPr>
          <a:xfrm>
            <a:off x="411480" y="3474720"/>
            <a:ext cx="1984248" cy="6858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 Psychological Responses</a:t>
            </a:r>
            <a:endParaRPr lang="en-US" sz="1000" dirty="0"/>
          </a:p>
        </p:txBody>
      </p:sp>
      <p:sp>
        <p:nvSpPr>
          <p:cNvPr id="9" name="Shape 7"/>
          <p:cNvSpPr/>
          <p:nvPr/>
        </p:nvSpPr>
        <p:spPr>
          <a:xfrm>
            <a:off x="2487168" y="3474720"/>
            <a:ext cx="1984248" cy="685800"/>
          </a:xfrm>
          <a:prstGeom prst="rect">
            <a:avLst/>
          </a:prstGeom>
          <a:solidFill>
            <a:srgbClr val="1A3A8B"/>
          </a:solidFill>
          <a:ln w="10160">
            <a:solidFill>
              <a:srgbClr val="FFFFFF"/>
            </a:solidFill>
            <a:prstDash val="solid"/>
          </a:ln>
        </p:spPr>
        <p:txBody>
          <a:bodyPr/>
          <a:lstStyle/>
          <a:p>
            <a:endParaRPr lang="en-AU"/>
          </a:p>
        </p:txBody>
      </p:sp>
      <p:sp>
        <p:nvSpPr>
          <p:cNvPr id="10" name="Text 8"/>
          <p:cNvSpPr/>
          <p:nvPr/>
        </p:nvSpPr>
        <p:spPr>
          <a:xfrm>
            <a:off x="2487168" y="3474720"/>
            <a:ext cx="1984248" cy="6858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2. Acute Stress Response</a:t>
            </a:r>
            <a:endParaRPr lang="en-US" sz="1000" dirty="0"/>
          </a:p>
        </p:txBody>
      </p:sp>
      <p:sp>
        <p:nvSpPr>
          <p:cNvPr id="11" name="Shape 9"/>
          <p:cNvSpPr/>
          <p:nvPr/>
        </p:nvSpPr>
        <p:spPr>
          <a:xfrm>
            <a:off x="4562856" y="3474720"/>
            <a:ext cx="1984248" cy="685800"/>
          </a:xfrm>
          <a:prstGeom prst="rect">
            <a:avLst/>
          </a:prstGeom>
          <a:solidFill>
            <a:srgbClr val="143070"/>
          </a:solidFill>
          <a:ln w="10160">
            <a:solidFill>
              <a:srgbClr val="FFFFFF"/>
            </a:solidFill>
            <a:prstDash val="solid"/>
          </a:ln>
        </p:spPr>
        <p:txBody>
          <a:bodyPr/>
          <a:lstStyle/>
          <a:p>
            <a:endParaRPr lang="en-AU"/>
          </a:p>
        </p:txBody>
      </p:sp>
      <p:sp>
        <p:nvSpPr>
          <p:cNvPr id="12" name="Text 10"/>
          <p:cNvSpPr/>
          <p:nvPr/>
        </p:nvSpPr>
        <p:spPr>
          <a:xfrm>
            <a:off x="4562856" y="3474720"/>
            <a:ext cx="1984248" cy="6858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3. Cultural Protocols</a:t>
            </a:r>
            <a:endParaRPr lang="en-US" sz="1000" dirty="0"/>
          </a:p>
        </p:txBody>
      </p:sp>
      <p:sp>
        <p:nvSpPr>
          <p:cNvPr id="13" name="Shape 11"/>
          <p:cNvSpPr/>
          <p:nvPr/>
        </p:nvSpPr>
        <p:spPr>
          <a:xfrm>
            <a:off x="6638544" y="3474720"/>
            <a:ext cx="1984248" cy="685800"/>
          </a:xfrm>
          <a:prstGeom prst="rect">
            <a:avLst/>
          </a:prstGeom>
          <a:solidFill>
            <a:srgbClr val="0F2560"/>
          </a:solidFill>
          <a:ln w="10160">
            <a:solidFill>
              <a:srgbClr val="FFFFFF"/>
            </a:solidFill>
            <a:prstDash val="solid"/>
          </a:ln>
        </p:spPr>
        <p:txBody>
          <a:bodyPr/>
          <a:lstStyle/>
          <a:p>
            <a:endParaRPr lang="en-AU"/>
          </a:p>
        </p:txBody>
      </p:sp>
      <p:sp>
        <p:nvSpPr>
          <p:cNvPr id="14" name="Text 12"/>
          <p:cNvSpPr/>
          <p:nvPr/>
        </p:nvSpPr>
        <p:spPr>
          <a:xfrm>
            <a:off x="6638544" y="3474720"/>
            <a:ext cx="1984248" cy="68580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 Belief Systems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Human Behaviour 1 &amp; 2 — Psychological Responses and Acute Stress Response</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Human Behaviour Patterns — SE-12-03</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Shape 5"/>
          <p:cNvSpPr/>
          <p:nvPr/>
        </p:nvSpPr>
        <p:spPr>
          <a:xfrm>
            <a:off x="201168" y="749808"/>
            <a:ext cx="4206240" cy="3950208"/>
          </a:xfrm>
          <a:prstGeom prst="rect">
            <a:avLst/>
          </a:prstGeom>
          <a:solidFill>
            <a:srgbClr val="FFFFFF"/>
          </a:solidFill>
          <a:ln w="15240">
            <a:solidFill>
              <a:srgbClr val="028090"/>
            </a:solidFill>
            <a:prstDash val="solid"/>
          </a:ln>
          <a:effectLst>
            <a:outerShdw blurRad="63500" dist="25400" dir="8100000" algn="bl" rotWithShape="0">
              <a:srgbClr val="000000">
                <a:alpha val="12000"/>
              </a:srgbClr>
            </a:outerShdw>
          </a:effectLst>
        </p:spPr>
        <p:txBody>
          <a:bodyPr/>
          <a:lstStyle/>
          <a:p>
            <a:endParaRPr lang="en-AU"/>
          </a:p>
        </p:txBody>
      </p:sp>
      <p:sp>
        <p:nvSpPr>
          <p:cNvPr id="8" name="Shape 6"/>
          <p:cNvSpPr/>
          <p:nvPr/>
        </p:nvSpPr>
        <p:spPr>
          <a:xfrm>
            <a:off x="201168" y="749808"/>
            <a:ext cx="4206240" cy="438912"/>
          </a:xfrm>
          <a:prstGeom prst="rect">
            <a:avLst/>
          </a:prstGeom>
          <a:solidFill>
            <a:srgbClr val="028090"/>
          </a:solidFill>
          <a:ln w="12700">
            <a:solidFill>
              <a:srgbClr val="028090"/>
            </a:solidFill>
            <a:prstDash val="solid"/>
          </a:ln>
        </p:spPr>
        <p:txBody>
          <a:bodyPr/>
          <a:lstStyle/>
          <a:p>
            <a:endParaRPr lang="en-AU"/>
          </a:p>
        </p:txBody>
      </p:sp>
      <p:sp>
        <p:nvSpPr>
          <p:cNvPr id="9" name="Text 7"/>
          <p:cNvSpPr/>
          <p:nvPr/>
        </p:nvSpPr>
        <p:spPr>
          <a:xfrm>
            <a:off x="347472" y="749808"/>
            <a:ext cx="3913632" cy="4389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Psychological Responses</a:t>
            </a:r>
            <a:endParaRPr lang="en-US" sz="1400" dirty="0"/>
          </a:p>
        </p:txBody>
      </p:sp>
      <p:sp>
        <p:nvSpPr>
          <p:cNvPr id="10" name="Shape 8"/>
          <p:cNvSpPr/>
          <p:nvPr/>
        </p:nvSpPr>
        <p:spPr>
          <a:xfrm>
            <a:off x="274320" y="1271016"/>
            <a:ext cx="4059936" cy="704088"/>
          </a:xfrm>
          <a:prstGeom prst="rect">
            <a:avLst/>
          </a:prstGeom>
          <a:solidFill>
            <a:srgbClr val="E0F4F6"/>
          </a:solidFill>
          <a:ln w="6350">
            <a:solidFill>
              <a:srgbClr val="028090"/>
            </a:solidFill>
            <a:prstDash val="solid"/>
          </a:ln>
        </p:spPr>
        <p:txBody>
          <a:bodyPr/>
          <a:lstStyle/>
          <a:p>
            <a:endParaRPr lang="en-AU"/>
          </a:p>
        </p:txBody>
      </p:sp>
      <p:sp>
        <p:nvSpPr>
          <p:cNvPr id="11" name="Text 9"/>
          <p:cNvSpPr/>
          <p:nvPr/>
        </p:nvSpPr>
        <p:spPr>
          <a:xfrm>
            <a:off x="384048" y="1307592"/>
            <a:ext cx="3840480" cy="201168"/>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Trust Calibration</a:t>
            </a:r>
            <a:endParaRPr lang="en-US" sz="1050" dirty="0"/>
          </a:p>
        </p:txBody>
      </p:sp>
      <p:sp>
        <p:nvSpPr>
          <p:cNvPr id="12" name="Text 10"/>
          <p:cNvSpPr/>
          <p:nvPr/>
        </p:nvSpPr>
        <p:spPr>
          <a:xfrm>
            <a:off x="384048" y="1481328"/>
            <a:ext cx="3840480" cy="420624"/>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Users tend to over-trust authoritative-sounding AI outputs. ML systems must be trained on data that reflects this bias — preventing blind acceptance of incorrect predictions.</a:t>
            </a:r>
            <a:endParaRPr lang="en-US" sz="950" dirty="0"/>
          </a:p>
        </p:txBody>
      </p:sp>
      <p:sp>
        <p:nvSpPr>
          <p:cNvPr id="13" name="Shape 11"/>
          <p:cNvSpPr/>
          <p:nvPr/>
        </p:nvSpPr>
        <p:spPr>
          <a:xfrm>
            <a:off x="274320" y="2066544"/>
            <a:ext cx="4059936" cy="704088"/>
          </a:xfrm>
          <a:prstGeom prst="rect">
            <a:avLst/>
          </a:prstGeom>
          <a:solidFill>
            <a:srgbClr val="E0F4F6"/>
          </a:solidFill>
          <a:ln w="6350">
            <a:solidFill>
              <a:srgbClr val="028090"/>
            </a:solidFill>
            <a:prstDash val="solid"/>
          </a:ln>
        </p:spPr>
        <p:txBody>
          <a:bodyPr/>
          <a:lstStyle/>
          <a:p>
            <a:endParaRPr lang="en-AU"/>
          </a:p>
        </p:txBody>
      </p:sp>
      <p:sp>
        <p:nvSpPr>
          <p:cNvPr id="14" name="Text 12"/>
          <p:cNvSpPr/>
          <p:nvPr/>
        </p:nvSpPr>
        <p:spPr>
          <a:xfrm>
            <a:off x="384048" y="2103120"/>
            <a:ext cx="3840480" cy="201168"/>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Automation Bias</a:t>
            </a:r>
            <a:endParaRPr lang="en-US" sz="1050" dirty="0"/>
          </a:p>
        </p:txBody>
      </p:sp>
      <p:sp>
        <p:nvSpPr>
          <p:cNvPr id="15" name="Text 13"/>
          <p:cNvSpPr/>
          <p:nvPr/>
        </p:nvSpPr>
        <p:spPr>
          <a:xfrm>
            <a:off x="384048" y="2249424"/>
            <a:ext cx="3840480" cy="420624"/>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People give undue weight to automated decisions and discount contradictory human judgement. Designers must build in verification steps, especially for high-stakes domains.</a:t>
            </a:r>
            <a:endParaRPr lang="en-US" sz="950" dirty="0"/>
          </a:p>
        </p:txBody>
      </p:sp>
      <p:sp>
        <p:nvSpPr>
          <p:cNvPr id="16" name="Shape 14"/>
          <p:cNvSpPr/>
          <p:nvPr/>
        </p:nvSpPr>
        <p:spPr>
          <a:xfrm>
            <a:off x="274320" y="2862072"/>
            <a:ext cx="4059936" cy="704088"/>
          </a:xfrm>
          <a:prstGeom prst="rect">
            <a:avLst/>
          </a:prstGeom>
          <a:solidFill>
            <a:srgbClr val="E0F4F6"/>
          </a:solidFill>
          <a:ln w="6350">
            <a:solidFill>
              <a:srgbClr val="028090"/>
            </a:solidFill>
            <a:prstDash val="solid"/>
          </a:ln>
        </p:spPr>
        <p:txBody>
          <a:bodyPr/>
          <a:lstStyle/>
          <a:p>
            <a:endParaRPr lang="en-AU"/>
          </a:p>
        </p:txBody>
      </p:sp>
      <p:sp>
        <p:nvSpPr>
          <p:cNvPr id="17" name="Text 15"/>
          <p:cNvSpPr/>
          <p:nvPr/>
        </p:nvSpPr>
        <p:spPr>
          <a:xfrm>
            <a:off x="384048" y="2898648"/>
            <a:ext cx="3840480" cy="201168"/>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Emotional Responses</a:t>
            </a:r>
            <a:endParaRPr lang="en-US" sz="1050" dirty="0"/>
          </a:p>
        </p:txBody>
      </p:sp>
      <p:sp>
        <p:nvSpPr>
          <p:cNvPr id="18" name="Text 16"/>
          <p:cNvSpPr/>
          <p:nvPr/>
        </p:nvSpPr>
        <p:spPr>
          <a:xfrm>
            <a:off x="384048" y="3017520"/>
            <a:ext cx="3840480" cy="420624"/>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Users develop emotional responses (frustration, rapport) toward conversational AI. NLP training data must reflect nuanced human emotional language to respond appropriately.</a:t>
            </a:r>
            <a:endParaRPr lang="en-US" sz="950" dirty="0"/>
          </a:p>
        </p:txBody>
      </p:sp>
      <p:sp>
        <p:nvSpPr>
          <p:cNvPr id="19" name="Shape 17"/>
          <p:cNvSpPr/>
          <p:nvPr/>
        </p:nvSpPr>
        <p:spPr>
          <a:xfrm>
            <a:off x="274320" y="3657600"/>
            <a:ext cx="4059936" cy="704088"/>
          </a:xfrm>
          <a:prstGeom prst="rect">
            <a:avLst/>
          </a:prstGeom>
          <a:solidFill>
            <a:srgbClr val="E0F4F6"/>
          </a:solidFill>
          <a:ln w="6350">
            <a:solidFill>
              <a:srgbClr val="028090"/>
            </a:solidFill>
            <a:prstDash val="solid"/>
          </a:ln>
        </p:spPr>
        <p:txBody>
          <a:bodyPr/>
          <a:lstStyle/>
          <a:p>
            <a:endParaRPr lang="en-AU"/>
          </a:p>
        </p:txBody>
      </p:sp>
      <p:sp>
        <p:nvSpPr>
          <p:cNvPr id="20" name="Text 18"/>
          <p:cNvSpPr/>
          <p:nvPr/>
        </p:nvSpPr>
        <p:spPr>
          <a:xfrm>
            <a:off x="384048" y="3694176"/>
            <a:ext cx="3840480" cy="201168"/>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Anchoring Effect</a:t>
            </a:r>
            <a:endParaRPr lang="en-US" sz="1050" dirty="0"/>
          </a:p>
        </p:txBody>
      </p:sp>
      <p:sp>
        <p:nvSpPr>
          <p:cNvPr id="21" name="Text 19"/>
          <p:cNvSpPr/>
          <p:nvPr/>
        </p:nvSpPr>
        <p:spPr>
          <a:xfrm>
            <a:off x="384048" y="3848028"/>
            <a:ext cx="3840480" cy="420624"/>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AI chatbots can exploit anchoring — once a user accepts an initial AI suggestion, subsequent influence is amplified. Training data and reward signals must account for this susceptibility.</a:t>
            </a:r>
            <a:endParaRPr lang="en-US" sz="950" dirty="0"/>
          </a:p>
        </p:txBody>
      </p:sp>
      <p:sp>
        <p:nvSpPr>
          <p:cNvPr id="22" name="Shape 20"/>
          <p:cNvSpPr/>
          <p:nvPr/>
        </p:nvSpPr>
        <p:spPr>
          <a:xfrm>
            <a:off x="4736592" y="749808"/>
            <a:ext cx="4206240" cy="3950208"/>
          </a:xfrm>
          <a:prstGeom prst="rect">
            <a:avLst/>
          </a:prstGeom>
          <a:solidFill>
            <a:srgbClr val="FFFFFF"/>
          </a:solidFill>
          <a:ln w="15240">
            <a:solidFill>
              <a:srgbClr val="E65100"/>
            </a:solidFill>
            <a:prstDash val="solid"/>
          </a:ln>
          <a:effectLst>
            <a:outerShdw blurRad="63500" dist="25400" dir="8100000" algn="bl" rotWithShape="0">
              <a:srgbClr val="000000">
                <a:alpha val="12000"/>
              </a:srgbClr>
            </a:outerShdw>
          </a:effectLst>
        </p:spPr>
        <p:txBody>
          <a:bodyPr/>
          <a:lstStyle/>
          <a:p>
            <a:endParaRPr lang="en-AU"/>
          </a:p>
        </p:txBody>
      </p:sp>
      <p:sp>
        <p:nvSpPr>
          <p:cNvPr id="23" name="Shape 21"/>
          <p:cNvSpPr/>
          <p:nvPr/>
        </p:nvSpPr>
        <p:spPr>
          <a:xfrm>
            <a:off x="4736592" y="749808"/>
            <a:ext cx="4206240" cy="438912"/>
          </a:xfrm>
          <a:prstGeom prst="rect">
            <a:avLst/>
          </a:prstGeom>
          <a:solidFill>
            <a:srgbClr val="E65100"/>
          </a:solidFill>
          <a:ln w="12700">
            <a:solidFill>
              <a:srgbClr val="E65100"/>
            </a:solidFill>
            <a:prstDash val="solid"/>
          </a:ln>
        </p:spPr>
        <p:txBody>
          <a:bodyPr/>
          <a:lstStyle/>
          <a:p>
            <a:endParaRPr lang="en-AU"/>
          </a:p>
        </p:txBody>
      </p:sp>
      <p:sp>
        <p:nvSpPr>
          <p:cNvPr id="24" name="Text 22"/>
          <p:cNvSpPr/>
          <p:nvPr/>
        </p:nvSpPr>
        <p:spPr>
          <a:xfrm>
            <a:off x="4882896" y="749808"/>
            <a:ext cx="3913632"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Acute Stress Response (Fight-or-Flight)</a:t>
            </a:r>
            <a:endParaRPr lang="en-US" sz="1300" dirty="0"/>
          </a:p>
        </p:txBody>
      </p:sp>
      <p:sp>
        <p:nvSpPr>
          <p:cNvPr id="25" name="Text 23"/>
          <p:cNvSpPr/>
          <p:nvPr/>
        </p:nvSpPr>
        <p:spPr>
          <a:xfrm>
            <a:off x="4846320" y="1252728"/>
            <a:ext cx="4005072" cy="493776"/>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When a user experiences acute stress, cognitive patterns change fundamentally — affecting how they interact with software. ML systems must be designed to account for stress-state behaviour.</a:t>
            </a:r>
            <a:endParaRPr lang="en-US" sz="950" dirty="0"/>
          </a:p>
        </p:txBody>
      </p:sp>
      <p:sp>
        <p:nvSpPr>
          <p:cNvPr id="26" name="Shape 24"/>
          <p:cNvSpPr/>
          <p:nvPr/>
        </p:nvSpPr>
        <p:spPr>
          <a:xfrm>
            <a:off x="4809744" y="1801368"/>
            <a:ext cx="4059936" cy="621792"/>
          </a:xfrm>
          <a:prstGeom prst="rect">
            <a:avLst/>
          </a:prstGeom>
          <a:solidFill>
            <a:srgbClr val="FFF3E0"/>
          </a:solidFill>
          <a:ln w="6350">
            <a:solidFill>
              <a:srgbClr val="E65100"/>
            </a:solidFill>
            <a:prstDash val="solid"/>
          </a:ln>
        </p:spPr>
        <p:txBody>
          <a:bodyPr/>
          <a:lstStyle/>
          <a:p>
            <a:endParaRPr lang="en-AU"/>
          </a:p>
        </p:txBody>
      </p:sp>
      <p:sp>
        <p:nvSpPr>
          <p:cNvPr id="27" name="Text 25"/>
          <p:cNvSpPr/>
          <p:nvPr/>
        </p:nvSpPr>
        <p:spPr>
          <a:xfrm>
            <a:off x="4919472" y="1828800"/>
            <a:ext cx="3840480" cy="201168"/>
          </a:xfrm>
          <a:prstGeom prst="rect">
            <a:avLst/>
          </a:prstGeom>
          <a:noFill/>
          <a:ln/>
        </p:spPr>
        <p:txBody>
          <a:bodyPr wrap="square" rtlCol="0" anchor="ctr"/>
          <a:lstStyle/>
          <a:p>
            <a:pPr marL="0" indent="0">
              <a:buNone/>
            </a:pPr>
            <a:r>
              <a:rPr lang="en-US" sz="1050" b="1" dirty="0">
                <a:solidFill>
                  <a:srgbClr val="E65100"/>
                </a:solidFill>
                <a:latin typeface="Calibri" pitchFamily="34" charset="0"/>
                <a:ea typeface="Calibri" pitchFamily="34" charset="-122"/>
                <a:cs typeface="Calibri" pitchFamily="34" charset="-120"/>
              </a:rPr>
              <a:t>Narrow Attention</a:t>
            </a:r>
            <a:endParaRPr lang="en-US" sz="1050" dirty="0"/>
          </a:p>
        </p:txBody>
      </p:sp>
      <p:sp>
        <p:nvSpPr>
          <p:cNvPr id="28" name="Text 26"/>
          <p:cNvSpPr/>
          <p:nvPr/>
        </p:nvSpPr>
        <p:spPr>
          <a:xfrm>
            <a:off x="4919472" y="1996737"/>
            <a:ext cx="3840480" cy="347472"/>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Under stress, users focus on a small number of stimuli. UI elements must be simplified; AI-generated alerts must be unambiguous and minimal.</a:t>
            </a:r>
            <a:endParaRPr lang="en-US" sz="950" dirty="0"/>
          </a:p>
        </p:txBody>
      </p:sp>
      <p:sp>
        <p:nvSpPr>
          <p:cNvPr id="29" name="Shape 27"/>
          <p:cNvSpPr/>
          <p:nvPr/>
        </p:nvSpPr>
        <p:spPr>
          <a:xfrm>
            <a:off x="4809744" y="2514600"/>
            <a:ext cx="4059936" cy="621792"/>
          </a:xfrm>
          <a:prstGeom prst="rect">
            <a:avLst/>
          </a:prstGeom>
          <a:solidFill>
            <a:srgbClr val="FFF3E0"/>
          </a:solidFill>
          <a:ln w="6350">
            <a:solidFill>
              <a:srgbClr val="E65100"/>
            </a:solidFill>
            <a:prstDash val="solid"/>
          </a:ln>
        </p:spPr>
        <p:txBody>
          <a:bodyPr/>
          <a:lstStyle/>
          <a:p>
            <a:endParaRPr lang="en-AU"/>
          </a:p>
        </p:txBody>
      </p:sp>
      <p:sp>
        <p:nvSpPr>
          <p:cNvPr id="30" name="Text 28"/>
          <p:cNvSpPr/>
          <p:nvPr/>
        </p:nvSpPr>
        <p:spPr>
          <a:xfrm>
            <a:off x="4919472" y="2542032"/>
            <a:ext cx="3840480" cy="201168"/>
          </a:xfrm>
          <a:prstGeom prst="rect">
            <a:avLst/>
          </a:prstGeom>
          <a:noFill/>
          <a:ln/>
        </p:spPr>
        <p:txBody>
          <a:bodyPr wrap="square" rtlCol="0" anchor="ctr"/>
          <a:lstStyle/>
          <a:p>
            <a:pPr marL="0" indent="0">
              <a:buNone/>
            </a:pPr>
            <a:r>
              <a:rPr lang="en-US" sz="1050" b="1" dirty="0">
                <a:solidFill>
                  <a:srgbClr val="E65100"/>
                </a:solidFill>
                <a:latin typeface="Calibri" pitchFamily="34" charset="0"/>
                <a:ea typeface="Calibri" pitchFamily="34" charset="-122"/>
                <a:cs typeface="Calibri" pitchFamily="34" charset="-120"/>
              </a:rPr>
              <a:t>Impaired Decision-Making</a:t>
            </a:r>
            <a:endParaRPr lang="en-US" sz="1050" dirty="0"/>
          </a:p>
        </p:txBody>
      </p:sp>
      <p:sp>
        <p:nvSpPr>
          <p:cNvPr id="31" name="Text 29"/>
          <p:cNvSpPr/>
          <p:nvPr/>
        </p:nvSpPr>
        <p:spPr>
          <a:xfrm>
            <a:off x="4919472" y="2752344"/>
            <a:ext cx="3840480" cy="347472"/>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Complex multi-step AI workflows fail under stress. Emergency ML systems (e.g., medical triage AI) are designed with single-action confirmations.</a:t>
            </a:r>
            <a:endParaRPr lang="en-US" sz="950" dirty="0"/>
          </a:p>
        </p:txBody>
      </p:sp>
      <p:sp>
        <p:nvSpPr>
          <p:cNvPr id="32" name="Shape 30"/>
          <p:cNvSpPr/>
          <p:nvPr/>
        </p:nvSpPr>
        <p:spPr>
          <a:xfrm>
            <a:off x="4809744" y="3227832"/>
            <a:ext cx="4059936" cy="621792"/>
          </a:xfrm>
          <a:prstGeom prst="rect">
            <a:avLst/>
          </a:prstGeom>
          <a:solidFill>
            <a:srgbClr val="FFF3E0"/>
          </a:solidFill>
          <a:ln w="6350">
            <a:solidFill>
              <a:srgbClr val="E65100"/>
            </a:solidFill>
            <a:prstDash val="solid"/>
          </a:ln>
        </p:spPr>
        <p:txBody>
          <a:bodyPr/>
          <a:lstStyle/>
          <a:p>
            <a:endParaRPr lang="en-AU"/>
          </a:p>
        </p:txBody>
      </p:sp>
      <p:sp>
        <p:nvSpPr>
          <p:cNvPr id="33" name="Text 31"/>
          <p:cNvSpPr/>
          <p:nvPr/>
        </p:nvSpPr>
        <p:spPr>
          <a:xfrm>
            <a:off x="4919472" y="3255264"/>
            <a:ext cx="3840480" cy="201168"/>
          </a:xfrm>
          <a:prstGeom prst="rect">
            <a:avLst/>
          </a:prstGeom>
          <a:noFill/>
          <a:ln/>
        </p:spPr>
        <p:txBody>
          <a:bodyPr wrap="square" rtlCol="0" anchor="ctr"/>
          <a:lstStyle/>
          <a:p>
            <a:pPr marL="0" indent="0">
              <a:buNone/>
            </a:pPr>
            <a:r>
              <a:rPr lang="en-US" sz="1050" b="1" dirty="0">
                <a:solidFill>
                  <a:srgbClr val="E65100"/>
                </a:solidFill>
                <a:latin typeface="Calibri" pitchFamily="34" charset="0"/>
                <a:ea typeface="Calibri" pitchFamily="34" charset="-122"/>
                <a:cs typeface="Calibri" pitchFamily="34" charset="-120"/>
              </a:rPr>
              <a:t>Training Data for Stress States</a:t>
            </a:r>
            <a:endParaRPr lang="en-US" sz="1050" dirty="0"/>
          </a:p>
        </p:txBody>
      </p:sp>
      <p:sp>
        <p:nvSpPr>
          <p:cNvPr id="34" name="Text 32"/>
          <p:cNvSpPr/>
          <p:nvPr/>
        </p:nvSpPr>
        <p:spPr>
          <a:xfrm>
            <a:off x="4919472" y="3364992"/>
            <a:ext cx="3840480" cy="347472"/>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VPA and safety systems use datasets that include stress-speech patterns (elevated pitch, faster rate, shorter phrases) to maintain recognition accuracy in crisis conditions.</a:t>
            </a:r>
            <a:endParaRPr lang="en-US" sz="950" dirty="0"/>
          </a:p>
        </p:txBody>
      </p:sp>
      <p:sp>
        <p:nvSpPr>
          <p:cNvPr id="35" name="Shape 33"/>
          <p:cNvSpPr/>
          <p:nvPr/>
        </p:nvSpPr>
        <p:spPr>
          <a:xfrm>
            <a:off x="4809744" y="3941064"/>
            <a:ext cx="4059936" cy="621792"/>
          </a:xfrm>
          <a:prstGeom prst="rect">
            <a:avLst/>
          </a:prstGeom>
          <a:solidFill>
            <a:srgbClr val="FFF3E0"/>
          </a:solidFill>
          <a:ln w="6350">
            <a:solidFill>
              <a:srgbClr val="E65100"/>
            </a:solidFill>
            <a:prstDash val="solid"/>
          </a:ln>
        </p:spPr>
        <p:txBody>
          <a:bodyPr/>
          <a:lstStyle/>
          <a:p>
            <a:endParaRPr lang="en-AU"/>
          </a:p>
        </p:txBody>
      </p:sp>
      <p:sp>
        <p:nvSpPr>
          <p:cNvPr id="36" name="Text 34"/>
          <p:cNvSpPr/>
          <p:nvPr/>
        </p:nvSpPr>
        <p:spPr>
          <a:xfrm>
            <a:off x="4919472" y="3968496"/>
            <a:ext cx="3840480" cy="201168"/>
          </a:xfrm>
          <a:prstGeom prst="rect">
            <a:avLst/>
          </a:prstGeom>
          <a:noFill/>
          <a:ln/>
        </p:spPr>
        <p:txBody>
          <a:bodyPr wrap="square" rtlCol="0" anchor="ctr"/>
          <a:lstStyle/>
          <a:p>
            <a:pPr marL="0" indent="0">
              <a:buNone/>
            </a:pPr>
            <a:r>
              <a:rPr lang="en-US" sz="1050" b="1" dirty="0">
                <a:solidFill>
                  <a:srgbClr val="E65100"/>
                </a:solidFill>
                <a:latin typeface="Calibri" pitchFamily="34" charset="0"/>
                <a:ea typeface="Calibri" pitchFamily="34" charset="-122"/>
                <a:cs typeface="Calibri" pitchFamily="34" charset="-120"/>
              </a:rPr>
              <a:t>Real-World Example</a:t>
            </a:r>
            <a:endParaRPr lang="en-US" sz="1050" dirty="0"/>
          </a:p>
        </p:txBody>
      </p:sp>
      <p:sp>
        <p:nvSpPr>
          <p:cNvPr id="37" name="Text 35"/>
          <p:cNvSpPr/>
          <p:nvPr/>
        </p:nvSpPr>
        <p:spPr>
          <a:xfrm>
            <a:off x="4919472" y="4076230"/>
            <a:ext cx="3840480" cy="347472"/>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Emergency services AI dispatching systems train on stressed caller audio specifically to improve speech-to-text accuracy when users are frightened or panicked.</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Human Behaviour 3 &amp; 4 — Cultural Protocols and Belief Systems</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Human Behaviour Patterns — SE-12-03</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Shape 5"/>
          <p:cNvSpPr/>
          <p:nvPr/>
        </p:nvSpPr>
        <p:spPr>
          <a:xfrm>
            <a:off x="201168" y="749808"/>
            <a:ext cx="4206240" cy="3950208"/>
          </a:xfrm>
          <a:prstGeom prst="rect">
            <a:avLst/>
          </a:prstGeom>
          <a:solidFill>
            <a:srgbClr val="FFFFFF"/>
          </a:solidFill>
          <a:ln w="15240">
            <a:solidFill>
              <a:srgbClr val="1B3A6B"/>
            </a:solidFill>
            <a:prstDash val="solid"/>
          </a:ln>
          <a:effectLst>
            <a:outerShdw blurRad="63500" dist="25400" dir="8100000" algn="bl" rotWithShape="0">
              <a:srgbClr val="000000">
                <a:alpha val="12000"/>
              </a:srgbClr>
            </a:outerShdw>
          </a:effectLst>
        </p:spPr>
        <p:txBody>
          <a:bodyPr/>
          <a:lstStyle/>
          <a:p>
            <a:endParaRPr lang="en-AU"/>
          </a:p>
        </p:txBody>
      </p:sp>
      <p:sp>
        <p:nvSpPr>
          <p:cNvPr id="8" name="Shape 6"/>
          <p:cNvSpPr/>
          <p:nvPr/>
        </p:nvSpPr>
        <p:spPr>
          <a:xfrm>
            <a:off x="201168" y="749808"/>
            <a:ext cx="4206240" cy="438912"/>
          </a:xfrm>
          <a:prstGeom prst="rect">
            <a:avLst/>
          </a:prstGeom>
          <a:solidFill>
            <a:srgbClr val="1B3A6B"/>
          </a:solidFill>
          <a:ln w="12700">
            <a:solidFill>
              <a:srgbClr val="1B3A6B"/>
            </a:solidFill>
            <a:prstDash val="solid"/>
          </a:ln>
        </p:spPr>
        <p:txBody>
          <a:bodyPr/>
          <a:lstStyle/>
          <a:p>
            <a:endParaRPr lang="en-AU"/>
          </a:p>
        </p:txBody>
      </p:sp>
      <p:sp>
        <p:nvSpPr>
          <p:cNvPr id="9" name="Text 7"/>
          <p:cNvSpPr/>
          <p:nvPr/>
        </p:nvSpPr>
        <p:spPr>
          <a:xfrm>
            <a:off x="347472" y="749808"/>
            <a:ext cx="3913632" cy="4389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Cultural Protocols</a:t>
            </a:r>
            <a:endParaRPr lang="en-US" sz="1400" dirty="0"/>
          </a:p>
        </p:txBody>
      </p:sp>
      <p:sp>
        <p:nvSpPr>
          <p:cNvPr id="10" name="Text 8"/>
          <p:cNvSpPr/>
          <p:nvPr/>
        </p:nvSpPr>
        <p:spPr>
          <a:xfrm>
            <a:off x="274320" y="1243584"/>
            <a:ext cx="4078224" cy="566928"/>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Culture shapes how people communicate, structure information and what they consider appropriate interaction. Training data that reflects only dominant cultural patterns will produce AI that fails or offends other cultural groups.</a:t>
            </a:r>
            <a:endParaRPr lang="en-US" sz="950" dirty="0"/>
          </a:p>
        </p:txBody>
      </p:sp>
      <p:sp>
        <p:nvSpPr>
          <p:cNvPr id="11" name="Shape 9"/>
          <p:cNvSpPr/>
          <p:nvPr/>
        </p:nvSpPr>
        <p:spPr>
          <a:xfrm>
            <a:off x="274320" y="1883664"/>
            <a:ext cx="4059936" cy="804672"/>
          </a:xfrm>
          <a:prstGeom prst="rect">
            <a:avLst/>
          </a:prstGeom>
          <a:solidFill>
            <a:srgbClr val="ECEFF1"/>
          </a:solidFill>
          <a:ln w="6350">
            <a:solidFill>
              <a:srgbClr val="1B3A6B"/>
            </a:solidFill>
            <a:prstDash val="solid"/>
          </a:ln>
        </p:spPr>
        <p:txBody>
          <a:bodyPr/>
          <a:lstStyle/>
          <a:p>
            <a:endParaRPr lang="en-AU"/>
          </a:p>
        </p:txBody>
      </p:sp>
      <p:sp>
        <p:nvSpPr>
          <p:cNvPr id="12" name="Text 10"/>
          <p:cNvSpPr/>
          <p:nvPr/>
        </p:nvSpPr>
        <p:spPr>
          <a:xfrm>
            <a:off x="384048" y="1920240"/>
            <a:ext cx="3840480" cy="219456"/>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Communication Styles</a:t>
            </a:r>
            <a:endParaRPr lang="en-US" sz="1050" dirty="0"/>
          </a:p>
        </p:txBody>
      </p:sp>
      <p:sp>
        <p:nvSpPr>
          <p:cNvPr id="13" name="Text 11"/>
          <p:cNvSpPr/>
          <p:nvPr/>
        </p:nvSpPr>
        <p:spPr>
          <a:xfrm>
            <a:off x="384048" y="2157984"/>
            <a:ext cx="3840480" cy="493776"/>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High-context cultures (Japan, many Indigenous communities) rely heavily on implication and non-verbal cues. NLP models trained on English low-context data perform poorly for these users.</a:t>
            </a:r>
            <a:endParaRPr lang="en-US" sz="950" dirty="0"/>
          </a:p>
        </p:txBody>
      </p:sp>
      <p:sp>
        <p:nvSpPr>
          <p:cNvPr id="14" name="Shape 12"/>
          <p:cNvSpPr/>
          <p:nvPr/>
        </p:nvSpPr>
        <p:spPr>
          <a:xfrm>
            <a:off x="274320" y="2779776"/>
            <a:ext cx="4059936" cy="804672"/>
          </a:xfrm>
          <a:prstGeom prst="rect">
            <a:avLst/>
          </a:prstGeom>
          <a:solidFill>
            <a:srgbClr val="ECEFF1"/>
          </a:solidFill>
          <a:ln w="6350">
            <a:solidFill>
              <a:srgbClr val="1B3A6B"/>
            </a:solidFill>
            <a:prstDash val="solid"/>
          </a:ln>
        </p:spPr>
        <p:txBody>
          <a:bodyPr/>
          <a:lstStyle/>
          <a:p>
            <a:endParaRPr lang="en-AU"/>
          </a:p>
        </p:txBody>
      </p:sp>
      <p:sp>
        <p:nvSpPr>
          <p:cNvPr id="15" name="Text 13"/>
          <p:cNvSpPr/>
          <p:nvPr/>
        </p:nvSpPr>
        <p:spPr>
          <a:xfrm>
            <a:off x="384048" y="2816352"/>
            <a:ext cx="3840480" cy="219456"/>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Gendered Language</a:t>
            </a:r>
            <a:endParaRPr lang="en-US" sz="1050" dirty="0"/>
          </a:p>
        </p:txBody>
      </p:sp>
      <p:sp>
        <p:nvSpPr>
          <p:cNvPr id="16" name="Text 14"/>
          <p:cNvSpPr/>
          <p:nvPr/>
        </p:nvSpPr>
        <p:spPr>
          <a:xfrm>
            <a:off x="384048" y="2990088"/>
            <a:ext cx="3840480" cy="493776"/>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Languages with grammatical gender (Spanish, French, German) require ML translation models that account for cultural gender norms, or risk producing offensive outputs.</a:t>
            </a:r>
            <a:endParaRPr lang="en-US" sz="950" dirty="0"/>
          </a:p>
        </p:txBody>
      </p:sp>
      <p:sp>
        <p:nvSpPr>
          <p:cNvPr id="17" name="Shape 15"/>
          <p:cNvSpPr/>
          <p:nvPr/>
        </p:nvSpPr>
        <p:spPr>
          <a:xfrm>
            <a:off x="274320" y="3675888"/>
            <a:ext cx="4059936" cy="804672"/>
          </a:xfrm>
          <a:prstGeom prst="rect">
            <a:avLst/>
          </a:prstGeom>
          <a:solidFill>
            <a:srgbClr val="ECEFF1"/>
          </a:solidFill>
          <a:ln w="6350">
            <a:solidFill>
              <a:srgbClr val="1B3A6B"/>
            </a:solidFill>
            <a:prstDash val="solid"/>
          </a:ln>
        </p:spPr>
        <p:txBody>
          <a:bodyPr/>
          <a:lstStyle/>
          <a:p>
            <a:endParaRPr lang="en-AU"/>
          </a:p>
        </p:txBody>
      </p:sp>
      <p:sp>
        <p:nvSpPr>
          <p:cNvPr id="18" name="Text 16"/>
          <p:cNvSpPr/>
          <p:nvPr/>
        </p:nvSpPr>
        <p:spPr>
          <a:xfrm>
            <a:off x="384048" y="3661183"/>
            <a:ext cx="3840480" cy="219456"/>
          </a:xfrm>
          <a:prstGeom prst="rect">
            <a:avLst/>
          </a:prstGeom>
          <a:noFill/>
          <a:ln/>
        </p:spPr>
        <p:txBody>
          <a:bodyPr wrap="square" rtlCol="0" anchor="ctr"/>
          <a:lstStyle/>
          <a:p>
            <a:pPr marL="0" indent="0">
              <a:buNone/>
            </a:pPr>
            <a:r>
              <a:rPr lang="en-US" sz="1050" b="1" dirty="0">
                <a:solidFill>
                  <a:srgbClr val="1B3A6B"/>
                </a:solidFill>
                <a:latin typeface="Calibri" pitchFamily="34" charset="0"/>
                <a:ea typeface="Calibri" pitchFamily="34" charset="-122"/>
                <a:cs typeface="Calibri" pitchFamily="34" charset="-120"/>
              </a:rPr>
              <a:t>Indigenous Cultural Data</a:t>
            </a:r>
            <a:endParaRPr lang="en-US" sz="1050" dirty="0"/>
          </a:p>
        </p:txBody>
      </p:sp>
      <p:sp>
        <p:nvSpPr>
          <p:cNvPr id="19" name="Text 17"/>
          <p:cNvSpPr/>
          <p:nvPr/>
        </p:nvSpPr>
        <p:spPr>
          <a:xfrm>
            <a:off x="384048" y="3825775"/>
            <a:ext cx="3840480" cy="493776"/>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In Australia, some Indigenous communities restrict sharing of sacred knowledge — including in digital form. ML systems must be designed with cultural permission protocols and data sovereignty frameworks (e.g., CARE principles).</a:t>
            </a:r>
            <a:endParaRPr lang="en-US" sz="950" dirty="0"/>
          </a:p>
        </p:txBody>
      </p:sp>
      <p:sp>
        <p:nvSpPr>
          <p:cNvPr id="20" name="Shape 18"/>
          <p:cNvSpPr/>
          <p:nvPr/>
        </p:nvSpPr>
        <p:spPr>
          <a:xfrm>
            <a:off x="4736592" y="749808"/>
            <a:ext cx="4206240" cy="3950208"/>
          </a:xfrm>
          <a:prstGeom prst="rect">
            <a:avLst/>
          </a:prstGeom>
          <a:solidFill>
            <a:srgbClr val="FFFFFF"/>
          </a:solidFill>
          <a:ln w="15240">
            <a:solidFill>
              <a:srgbClr val="C9A84C"/>
            </a:solidFill>
            <a:prstDash val="solid"/>
          </a:ln>
          <a:effectLst>
            <a:outerShdw blurRad="63500" dist="25400" dir="8100000" algn="bl" rotWithShape="0">
              <a:srgbClr val="000000">
                <a:alpha val="12000"/>
              </a:srgbClr>
            </a:outerShdw>
          </a:effectLst>
        </p:spPr>
        <p:txBody>
          <a:bodyPr/>
          <a:lstStyle/>
          <a:p>
            <a:endParaRPr lang="en-AU"/>
          </a:p>
        </p:txBody>
      </p:sp>
      <p:sp>
        <p:nvSpPr>
          <p:cNvPr id="21" name="Shape 19"/>
          <p:cNvSpPr/>
          <p:nvPr/>
        </p:nvSpPr>
        <p:spPr>
          <a:xfrm>
            <a:off x="4736592" y="749808"/>
            <a:ext cx="4206240" cy="438912"/>
          </a:xfrm>
          <a:prstGeom prst="rect">
            <a:avLst/>
          </a:prstGeom>
          <a:solidFill>
            <a:srgbClr val="C9A84C"/>
          </a:solidFill>
          <a:ln w="12700">
            <a:solidFill>
              <a:srgbClr val="C9A84C"/>
            </a:solidFill>
            <a:prstDash val="solid"/>
          </a:ln>
        </p:spPr>
        <p:txBody>
          <a:bodyPr/>
          <a:lstStyle/>
          <a:p>
            <a:endParaRPr lang="en-AU"/>
          </a:p>
        </p:txBody>
      </p:sp>
      <p:sp>
        <p:nvSpPr>
          <p:cNvPr id="22" name="Text 20"/>
          <p:cNvSpPr/>
          <p:nvPr/>
        </p:nvSpPr>
        <p:spPr>
          <a:xfrm>
            <a:off x="4882896" y="749808"/>
            <a:ext cx="3913632" cy="43891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Belief Systems</a:t>
            </a:r>
            <a:endParaRPr lang="en-US" sz="1400" dirty="0"/>
          </a:p>
        </p:txBody>
      </p:sp>
      <p:sp>
        <p:nvSpPr>
          <p:cNvPr id="23" name="Text 21"/>
          <p:cNvSpPr/>
          <p:nvPr/>
        </p:nvSpPr>
        <p:spPr>
          <a:xfrm>
            <a:off x="4809744" y="1243584"/>
            <a:ext cx="4078224" cy="566928"/>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Religious and philosophical belief systems create both constraints and requirements on AI behaviour. Failing to account for belief systems can produce software that is offensive, unusable, or ethically unacceptable to large population groups.</a:t>
            </a:r>
            <a:endParaRPr lang="en-US" sz="950" dirty="0"/>
          </a:p>
        </p:txBody>
      </p:sp>
      <p:sp>
        <p:nvSpPr>
          <p:cNvPr id="24" name="Shape 22"/>
          <p:cNvSpPr/>
          <p:nvPr/>
        </p:nvSpPr>
        <p:spPr>
          <a:xfrm>
            <a:off x="4809744" y="1883664"/>
            <a:ext cx="4059936" cy="804672"/>
          </a:xfrm>
          <a:prstGeom prst="rect">
            <a:avLst/>
          </a:prstGeom>
          <a:solidFill>
            <a:srgbClr val="FFF8E1"/>
          </a:solidFill>
          <a:ln w="6350">
            <a:solidFill>
              <a:srgbClr val="C9A84C"/>
            </a:solidFill>
            <a:prstDash val="solid"/>
          </a:ln>
        </p:spPr>
        <p:txBody>
          <a:bodyPr/>
          <a:lstStyle/>
          <a:p>
            <a:endParaRPr lang="en-AU"/>
          </a:p>
        </p:txBody>
      </p:sp>
      <p:sp>
        <p:nvSpPr>
          <p:cNvPr id="25" name="Text 23"/>
          <p:cNvSpPr/>
          <p:nvPr/>
        </p:nvSpPr>
        <p:spPr>
          <a:xfrm>
            <a:off x="4919472" y="1920240"/>
            <a:ext cx="3840480" cy="219456"/>
          </a:xfrm>
          <a:prstGeom prst="rect">
            <a:avLst/>
          </a:prstGeom>
          <a:noFill/>
          <a:ln/>
        </p:spPr>
        <p:txBody>
          <a:bodyPr wrap="square" rtlCol="0" anchor="ctr"/>
          <a:lstStyle/>
          <a:p>
            <a:pPr marL="0" indent="0">
              <a:buNone/>
            </a:pPr>
            <a:r>
              <a:rPr lang="en-US" sz="1050" b="1" dirty="0">
                <a:solidFill>
                  <a:srgbClr val="8B6914"/>
                </a:solidFill>
                <a:latin typeface="Calibri" pitchFamily="34" charset="0"/>
                <a:ea typeface="Calibri" pitchFamily="34" charset="-122"/>
                <a:cs typeface="Calibri" pitchFamily="34" charset="-120"/>
              </a:rPr>
              <a:t>Dietary and Lifestyle Restrictions</a:t>
            </a:r>
            <a:endParaRPr lang="en-US" sz="1050" dirty="0"/>
          </a:p>
        </p:txBody>
      </p:sp>
      <p:sp>
        <p:nvSpPr>
          <p:cNvPr id="26" name="Text 24"/>
          <p:cNvSpPr/>
          <p:nvPr/>
        </p:nvSpPr>
        <p:spPr>
          <a:xfrm>
            <a:off x="4919472" y="2157984"/>
            <a:ext cx="3840480" cy="493776"/>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Recommendation engines for food, finance or healthcare must account for religious dietary laws (halal, kosher, vegetarian). Training data must include these constraints or models will produce irrelevant outputs.</a:t>
            </a:r>
            <a:endParaRPr lang="en-US" sz="950" dirty="0"/>
          </a:p>
        </p:txBody>
      </p:sp>
      <p:sp>
        <p:nvSpPr>
          <p:cNvPr id="27" name="Shape 25"/>
          <p:cNvSpPr/>
          <p:nvPr/>
        </p:nvSpPr>
        <p:spPr>
          <a:xfrm>
            <a:off x="4809744" y="2779776"/>
            <a:ext cx="4059936" cy="804672"/>
          </a:xfrm>
          <a:prstGeom prst="rect">
            <a:avLst/>
          </a:prstGeom>
          <a:solidFill>
            <a:srgbClr val="FFF8E1"/>
          </a:solidFill>
          <a:ln w="6350">
            <a:solidFill>
              <a:srgbClr val="C9A84C"/>
            </a:solidFill>
            <a:prstDash val="solid"/>
          </a:ln>
        </p:spPr>
        <p:txBody>
          <a:bodyPr/>
          <a:lstStyle/>
          <a:p>
            <a:endParaRPr lang="en-AU"/>
          </a:p>
        </p:txBody>
      </p:sp>
      <p:sp>
        <p:nvSpPr>
          <p:cNvPr id="28" name="Text 26"/>
          <p:cNvSpPr/>
          <p:nvPr/>
        </p:nvSpPr>
        <p:spPr>
          <a:xfrm>
            <a:off x="4919472" y="2816352"/>
            <a:ext cx="3840480" cy="219456"/>
          </a:xfrm>
          <a:prstGeom prst="rect">
            <a:avLst/>
          </a:prstGeom>
          <a:noFill/>
          <a:ln/>
        </p:spPr>
        <p:txBody>
          <a:bodyPr wrap="square" rtlCol="0" anchor="ctr"/>
          <a:lstStyle/>
          <a:p>
            <a:pPr marL="0" indent="0">
              <a:buNone/>
            </a:pPr>
            <a:r>
              <a:rPr lang="en-US" sz="1050" b="1" dirty="0">
                <a:solidFill>
                  <a:srgbClr val="8B6914"/>
                </a:solidFill>
                <a:latin typeface="Calibri" pitchFamily="34" charset="0"/>
                <a:ea typeface="Calibri" pitchFamily="34" charset="-122"/>
                <a:cs typeface="Calibri" pitchFamily="34" charset="-120"/>
              </a:rPr>
              <a:t>Content Restrictions</a:t>
            </a:r>
            <a:endParaRPr lang="en-US" sz="1050" dirty="0"/>
          </a:p>
        </p:txBody>
      </p:sp>
      <p:sp>
        <p:nvSpPr>
          <p:cNvPr id="29" name="Text 27"/>
          <p:cNvSpPr/>
          <p:nvPr/>
        </p:nvSpPr>
        <p:spPr>
          <a:xfrm>
            <a:off x="4919472" y="3054096"/>
            <a:ext cx="3840480" cy="493776"/>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In some belief systems, imagery of the human form, music, or certain financial products (interest-bearing) are prohibited. Content moderation AI must be trained on culturally contextualised data.</a:t>
            </a:r>
            <a:endParaRPr lang="en-US" sz="950" dirty="0"/>
          </a:p>
        </p:txBody>
      </p:sp>
      <p:sp>
        <p:nvSpPr>
          <p:cNvPr id="30" name="Shape 28"/>
          <p:cNvSpPr/>
          <p:nvPr/>
        </p:nvSpPr>
        <p:spPr>
          <a:xfrm>
            <a:off x="4809744" y="3675888"/>
            <a:ext cx="4059936" cy="804672"/>
          </a:xfrm>
          <a:prstGeom prst="rect">
            <a:avLst/>
          </a:prstGeom>
          <a:solidFill>
            <a:srgbClr val="FFF8E1"/>
          </a:solidFill>
          <a:ln w="6350">
            <a:solidFill>
              <a:srgbClr val="C9A84C"/>
            </a:solidFill>
            <a:prstDash val="solid"/>
          </a:ln>
        </p:spPr>
        <p:txBody>
          <a:bodyPr/>
          <a:lstStyle/>
          <a:p>
            <a:endParaRPr lang="en-AU"/>
          </a:p>
        </p:txBody>
      </p:sp>
      <p:sp>
        <p:nvSpPr>
          <p:cNvPr id="31" name="Text 29"/>
          <p:cNvSpPr/>
          <p:nvPr/>
        </p:nvSpPr>
        <p:spPr>
          <a:xfrm>
            <a:off x="4919472" y="3712464"/>
            <a:ext cx="3840480" cy="219456"/>
          </a:xfrm>
          <a:prstGeom prst="rect">
            <a:avLst/>
          </a:prstGeom>
          <a:noFill/>
          <a:ln/>
        </p:spPr>
        <p:txBody>
          <a:bodyPr wrap="square" rtlCol="0" anchor="ctr"/>
          <a:lstStyle/>
          <a:p>
            <a:pPr marL="0" indent="0">
              <a:buNone/>
            </a:pPr>
            <a:r>
              <a:rPr lang="en-US" sz="1050" b="1" dirty="0">
                <a:solidFill>
                  <a:srgbClr val="8B6914"/>
                </a:solidFill>
                <a:latin typeface="Calibri" pitchFamily="34" charset="0"/>
                <a:ea typeface="Calibri" pitchFamily="34" charset="-122"/>
                <a:cs typeface="Calibri" pitchFamily="34" charset="-120"/>
              </a:rPr>
              <a:t>End-of-Life and Medical Decisions</a:t>
            </a:r>
            <a:endParaRPr lang="en-US" sz="1050" dirty="0"/>
          </a:p>
        </p:txBody>
      </p:sp>
      <p:sp>
        <p:nvSpPr>
          <p:cNvPr id="32" name="Text 30"/>
          <p:cNvSpPr/>
          <p:nvPr/>
        </p:nvSpPr>
        <p:spPr>
          <a:xfrm>
            <a:off x="4919472" y="3950208"/>
            <a:ext cx="3840480" cy="493776"/>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AI triage and medical recommendation systems must account for religious objections to certain treatments (e.g., blood transfusions). Belief-sensitive constraints must be embedded in model design.</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A84C"/>
          </a:solidFill>
          <a:ln w="12700">
            <a:solidFill>
              <a:srgbClr val="C9A84C"/>
            </a:solidFill>
            <a:prstDash val="solid"/>
          </a:ln>
        </p:spPr>
        <p:txBody>
          <a:bodyPr/>
          <a:lstStyle/>
          <a:p>
            <a:endParaRPr lang="en-AU"/>
          </a:p>
        </p:txBody>
      </p:sp>
      <p:sp>
        <p:nvSpPr>
          <p:cNvPr id="3" name="Shape 1"/>
          <p:cNvSpPr/>
          <p:nvPr/>
        </p:nvSpPr>
        <p:spPr>
          <a:xfrm>
            <a:off x="201168" y="2148840"/>
            <a:ext cx="8942832" cy="914400"/>
          </a:xfrm>
          <a:prstGeom prst="rect">
            <a:avLst/>
          </a:prstGeom>
          <a:solidFill>
            <a:srgbClr val="B71C1C">
              <a:alpha val="80000"/>
            </a:srgbClr>
          </a:solidFill>
          <a:ln w="12700">
            <a:solidFill>
              <a:srgbClr val="B71C1C"/>
            </a:solidFill>
            <a:prstDash val="solid"/>
          </a:ln>
        </p:spPr>
        <p:txBody>
          <a:bodyPr/>
          <a:lstStyle/>
          <a:p>
            <a:endParaRPr lang="en-AU"/>
          </a:p>
        </p:txBody>
      </p:sp>
      <p:sp>
        <p:nvSpPr>
          <p:cNvPr id="4" name="Text 2"/>
          <p:cNvSpPr/>
          <p:nvPr/>
        </p:nvSpPr>
        <p:spPr>
          <a:xfrm>
            <a:off x="411480" y="182880"/>
            <a:ext cx="8229600" cy="365760"/>
          </a:xfrm>
          <a:prstGeom prst="rect">
            <a:avLst/>
          </a:prstGeom>
          <a:noFill/>
          <a:ln/>
        </p:spPr>
        <p:txBody>
          <a:bodyPr wrap="square" rtlCol="0" anchor="ctr"/>
          <a:lstStyle/>
          <a:p>
            <a:pPr marL="0" indent="0">
              <a:buNone/>
            </a:pPr>
            <a:r>
              <a:rPr lang="en-US" sz="1400" b="1" kern="0" spc="300" dirty="0">
                <a:solidFill>
                  <a:srgbClr val="C9A84C"/>
                </a:solidFill>
                <a:latin typeface="Calibri" pitchFamily="34" charset="0"/>
                <a:ea typeface="Calibri" pitchFamily="34" charset="-122"/>
                <a:cs typeface="Calibri" pitchFamily="34" charset="-120"/>
              </a:rPr>
              <a:t>Section 3</a:t>
            </a:r>
            <a:endParaRPr lang="en-US" sz="1400" dirty="0"/>
          </a:p>
        </p:txBody>
      </p:sp>
      <p:sp>
        <p:nvSpPr>
          <p:cNvPr id="5" name="Text 3"/>
          <p:cNvSpPr/>
          <p:nvPr/>
        </p:nvSpPr>
        <p:spPr>
          <a:xfrm>
            <a:off x="411480" y="621792"/>
            <a:ext cx="8229600" cy="14173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Investigate the Effect of Human and</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Dataset Source Bias in the Development</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of ML and AI Solutions</a:t>
            </a:r>
            <a:endParaRPr lang="en-US" sz="3000" dirty="0"/>
          </a:p>
        </p:txBody>
      </p:sp>
      <p:sp>
        <p:nvSpPr>
          <p:cNvPr id="6" name="Text 4"/>
          <p:cNvSpPr/>
          <p:nvPr/>
        </p:nvSpPr>
        <p:spPr>
          <a:xfrm>
            <a:off x="411480" y="2231136"/>
            <a:ext cx="8229600" cy="548640"/>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"Garbage in, garbage out" — a biased dataset produces a biased model, regardless of algorithmic sophistication.</a:t>
            </a:r>
            <a:endParaRPr lang="en-US" sz="1250" dirty="0"/>
          </a:p>
        </p:txBody>
      </p:sp>
      <p:sp>
        <p:nvSpPr>
          <p:cNvPr id="7" name="Shape 5"/>
          <p:cNvSpPr/>
          <p:nvPr/>
        </p:nvSpPr>
        <p:spPr>
          <a:xfrm>
            <a:off x="411480" y="3383280"/>
            <a:ext cx="2697480" cy="512064"/>
          </a:xfrm>
          <a:prstGeom prst="rect">
            <a:avLst/>
          </a:prstGeom>
          <a:solidFill>
            <a:srgbClr val="CC1818"/>
          </a:solidFill>
          <a:ln w="6350">
            <a:solidFill>
              <a:srgbClr val="FFFFFF"/>
            </a:solidFill>
            <a:prstDash val="solid"/>
          </a:ln>
        </p:spPr>
        <p:txBody>
          <a:bodyPr/>
          <a:lstStyle/>
          <a:p>
            <a:endParaRPr lang="en-AU"/>
          </a:p>
        </p:txBody>
      </p:sp>
      <p:sp>
        <p:nvSpPr>
          <p:cNvPr id="8" name="Text 6"/>
          <p:cNvSpPr/>
          <p:nvPr/>
        </p:nvSpPr>
        <p:spPr>
          <a:xfrm>
            <a:off x="411480" y="3383280"/>
            <a:ext cx="2697480"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Human / Developer Bias</a:t>
            </a:r>
            <a:endParaRPr lang="en-US" sz="1100" dirty="0"/>
          </a:p>
        </p:txBody>
      </p:sp>
      <p:sp>
        <p:nvSpPr>
          <p:cNvPr id="9" name="Shape 7"/>
          <p:cNvSpPr/>
          <p:nvPr/>
        </p:nvSpPr>
        <p:spPr>
          <a:xfrm>
            <a:off x="3246120" y="3383280"/>
            <a:ext cx="2697480" cy="512064"/>
          </a:xfrm>
          <a:prstGeom prst="rect">
            <a:avLst/>
          </a:prstGeom>
          <a:solidFill>
            <a:srgbClr val="CC1818"/>
          </a:solidFill>
          <a:ln w="6350">
            <a:solidFill>
              <a:srgbClr val="FFFFFF"/>
            </a:solidFill>
            <a:prstDash val="solid"/>
          </a:ln>
        </p:spPr>
        <p:txBody>
          <a:bodyPr/>
          <a:lstStyle/>
          <a:p>
            <a:endParaRPr lang="en-AU"/>
          </a:p>
        </p:txBody>
      </p:sp>
      <p:sp>
        <p:nvSpPr>
          <p:cNvPr id="10" name="Text 8"/>
          <p:cNvSpPr/>
          <p:nvPr/>
        </p:nvSpPr>
        <p:spPr>
          <a:xfrm>
            <a:off x="3246120" y="3383280"/>
            <a:ext cx="2697480"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Historical Bias</a:t>
            </a:r>
            <a:endParaRPr lang="en-US" sz="1100" dirty="0"/>
          </a:p>
        </p:txBody>
      </p:sp>
      <p:sp>
        <p:nvSpPr>
          <p:cNvPr id="11" name="Shape 9"/>
          <p:cNvSpPr/>
          <p:nvPr/>
        </p:nvSpPr>
        <p:spPr>
          <a:xfrm>
            <a:off x="6080760" y="3383280"/>
            <a:ext cx="2697480" cy="512064"/>
          </a:xfrm>
          <a:prstGeom prst="rect">
            <a:avLst/>
          </a:prstGeom>
          <a:solidFill>
            <a:srgbClr val="CC1818"/>
          </a:solidFill>
          <a:ln w="6350">
            <a:solidFill>
              <a:srgbClr val="FFFFFF"/>
            </a:solidFill>
            <a:prstDash val="solid"/>
          </a:ln>
        </p:spPr>
        <p:txBody>
          <a:bodyPr/>
          <a:lstStyle/>
          <a:p>
            <a:endParaRPr lang="en-AU"/>
          </a:p>
        </p:txBody>
      </p:sp>
      <p:sp>
        <p:nvSpPr>
          <p:cNvPr id="12" name="Text 10"/>
          <p:cNvSpPr/>
          <p:nvPr/>
        </p:nvSpPr>
        <p:spPr>
          <a:xfrm>
            <a:off x="6080760" y="3383280"/>
            <a:ext cx="2697480"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Sampling Bias</a:t>
            </a:r>
            <a:endParaRPr lang="en-US" sz="1100" dirty="0"/>
          </a:p>
        </p:txBody>
      </p:sp>
      <p:sp>
        <p:nvSpPr>
          <p:cNvPr id="13" name="Shape 11"/>
          <p:cNvSpPr/>
          <p:nvPr/>
        </p:nvSpPr>
        <p:spPr>
          <a:xfrm>
            <a:off x="411480" y="4005072"/>
            <a:ext cx="2697480" cy="512064"/>
          </a:xfrm>
          <a:prstGeom prst="rect">
            <a:avLst/>
          </a:prstGeom>
          <a:solidFill>
            <a:srgbClr val="CC1818"/>
          </a:solidFill>
          <a:ln w="6350">
            <a:solidFill>
              <a:srgbClr val="FFFFFF"/>
            </a:solidFill>
            <a:prstDash val="solid"/>
          </a:ln>
        </p:spPr>
        <p:txBody>
          <a:bodyPr/>
          <a:lstStyle/>
          <a:p>
            <a:endParaRPr lang="en-AU"/>
          </a:p>
        </p:txBody>
      </p:sp>
      <p:sp>
        <p:nvSpPr>
          <p:cNvPr id="14" name="Text 12"/>
          <p:cNvSpPr/>
          <p:nvPr/>
        </p:nvSpPr>
        <p:spPr>
          <a:xfrm>
            <a:off x="411480" y="4005072"/>
            <a:ext cx="2697480"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Measurement Bias</a:t>
            </a:r>
            <a:endParaRPr lang="en-US" sz="1100" dirty="0"/>
          </a:p>
        </p:txBody>
      </p:sp>
      <p:sp>
        <p:nvSpPr>
          <p:cNvPr id="15" name="Shape 13"/>
          <p:cNvSpPr/>
          <p:nvPr/>
        </p:nvSpPr>
        <p:spPr>
          <a:xfrm>
            <a:off x="3246120" y="4005072"/>
            <a:ext cx="2697480" cy="512064"/>
          </a:xfrm>
          <a:prstGeom prst="rect">
            <a:avLst/>
          </a:prstGeom>
          <a:solidFill>
            <a:srgbClr val="CC1818"/>
          </a:solidFill>
          <a:ln w="6350">
            <a:solidFill>
              <a:srgbClr val="FFFFFF"/>
            </a:solidFill>
            <a:prstDash val="solid"/>
          </a:ln>
        </p:spPr>
        <p:txBody>
          <a:bodyPr/>
          <a:lstStyle/>
          <a:p>
            <a:endParaRPr lang="en-AU"/>
          </a:p>
        </p:txBody>
      </p:sp>
      <p:sp>
        <p:nvSpPr>
          <p:cNvPr id="16" name="Text 14"/>
          <p:cNvSpPr/>
          <p:nvPr/>
        </p:nvSpPr>
        <p:spPr>
          <a:xfrm>
            <a:off x="3246120" y="4005072"/>
            <a:ext cx="2697480"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Confirmation Bias</a:t>
            </a:r>
            <a:endParaRPr lang="en-US" sz="1100" dirty="0"/>
          </a:p>
        </p:txBody>
      </p:sp>
      <p:sp>
        <p:nvSpPr>
          <p:cNvPr id="17" name="Shape 15"/>
          <p:cNvSpPr/>
          <p:nvPr/>
        </p:nvSpPr>
        <p:spPr>
          <a:xfrm>
            <a:off x="6080760" y="4005072"/>
            <a:ext cx="2697480" cy="512064"/>
          </a:xfrm>
          <a:prstGeom prst="rect">
            <a:avLst/>
          </a:prstGeom>
          <a:solidFill>
            <a:srgbClr val="CC1818"/>
          </a:solidFill>
          <a:ln w="6350">
            <a:solidFill>
              <a:srgbClr val="FFFFFF"/>
            </a:solidFill>
            <a:prstDash val="solid"/>
          </a:ln>
        </p:spPr>
        <p:txBody>
          <a:bodyPr/>
          <a:lstStyle/>
          <a:p>
            <a:endParaRPr lang="en-AU"/>
          </a:p>
        </p:txBody>
      </p:sp>
      <p:sp>
        <p:nvSpPr>
          <p:cNvPr id="18" name="Text 16"/>
          <p:cNvSpPr/>
          <p:nvPr/>
        </p:nvSpPr>
        <p:spPr>
          <a:xfrm>
            <a:off x="6080760" y="4005072"/>
            <a:ext cx="2697480" cy="512064"/>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Feedback Loop Bias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Human and Dataset Source Bias — Types and Origins</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Bias in ML and AI — SE-12-05</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Shape 5"/>
          <p:cNvSpPr/>
          <p:nvPr/>
        </p:nvSpPr>
        <p:spPr>
          <a:xfrm>
            <a:off x="201168" y="749808"/>
            <a:ext cx="4206240" cy="1335024"/>
          </a:xfrm>
          <a:prstGeom prst="rect">
            <a:avLst/>
          </a:prstGeom>
          <a:solidFill>
            <a:srgbClr val="FFFFFF"/>
          </a:solidFill>
          <a:ln w="15240">
            <a:solidFill>
              <a:srgbClr val="B71C1C"/>
            </a:solidFill>
            <a:prstDash val="solid"/>
          </a:ln>
          <a:effectLst>
            <a:outerShdw blurRad="63500" dist="25400" dir="8100000" algn="bl" rotWithShape="0">
              <a:srgbClr val="000000">
                <a:alpha val="12000"/>
              </a:srgbClr>
            </a:outerShdw>
          </a:effectLst>
        </p:spPr>
        <p:txBody>
          <a:bodyPr/>
          <a:lstStyle/>
          <a:p>
            <a:endParaRPr lang="en-AU"/>
          </a:p>
        </p:txBody>
      </p:sp>
      <p:sp>
        <p:nvSpPr>
          <p:cNvPr id="8" name="Shape 6"/>
          <p:cNvSpPr/>
          <p:nvPr/>
        </p:nvSpPr>
        <p:spPr>
          <a:xfrm>
            <a:off x="201168" y="749808"/>
            <a:ext cx="4206240" cy="310896"/>
          </a:xfrm>
          <a:prstGeom prst="rect">
            <a:avLst/>
          </a:prstGeom>
          <a:solidFill>
            <a:srgbClr val="B71C1C"/>
          </a:solidFill>
          <a:ln w="12700">
            <a:solidFill>
              <a:srgbClr val="B71C1C"/>
            </a:solidFill>
            <a:prstDash val="solid"/>
          </a:ln>
        </p:spPr>
        <p:txBody>
          <a:bodyPr/>
          <a:lstStyle/>
          <a:p>
            <a:endParaRPr lang="en-AU"/>
          </a:p>
        </p:txBody>
      </p:sp>
      <p:sp>
        <p:nvSpPr>
          <p:cNvPr id="9" name="Text 7"/>
          <p:cNvSpPr/>
          <p:nvPr/>
        </p:nvSpPr>
        <p:spPr>
          <a:xfrm>
            <a:off x="329184" y="749808"/>
            <a:ext cx="3950208"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Human / Developer Bias</a:t>
            </a:r>
            <a:endParaRPr lang="en-US" sz="1100" dirty="0"/>
          </a:p>
        </p:txBody>
      </p:sp>
      <p:sp>
        <p:nvSpPr>
          <p:cNvPr id="10" name="Text 8"/>
          <p:cNvSpPr/>
          <p:nvPr/>
        </p:nvSpPr>
        <p:spPr>
          <a:xfrm>
            <a:off x="329184" y="1097280"/>
            <a:ext cx="3950208" cy="310896"/>
          </a:xfrm>
          <a:prstGeom prst="rect">
            <a:avLst/>
          </a:prstGeom>
          <a:noFill/>
          <a:ln/>
        </p:spPr>
        <p:txBody>
          <a:bodyPr wrap="square" rtlCol="0" anchor="ctr"/>
          <a:lstStyle/>
          <a:p>
            <a:pPr marL="0" indent="0">
              <a:buNone/>
            </a:pPr>
            <a:r>
              <a:rPr lang="en-US" sz="900" i="1" dirty="0">
                <a:solidFill>
                  <a:srgbClr val="37474F"/>
                </a:solidFill>
                <a:latin typeface="Calibri" pitchFamily="34" charset="0"/>
                <a:ea typeface="Calibri" pitchFamily="34" charset="-122"/>
                <a:cs typeface="Calibri" pitchFamily="34" charset="-120"/>
              </a:rPr>
              <a:t>Originates from the values, assumptions and blind spots of the team who design and label training data.</a:t>
            </a:r>
            <a:endParaRPr lang="en-US" sz="900" dirty="0"/>
          </a:p>
        </p:txBody>
      </p:sp>
      <p:sp>
        <p:nvSpPr>
          <p:cNvPr id="11" name="Text 9"/>
          <p:cNvSpPr/>
          <p:nvPr/>
        </p:nvSpPr>
        <p:spPr>
          <a:xfrm>
            <a:off x="329184" y="1408176"/>
            <a:ext cx="3950208" cy="621792"/>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Example: A hiring algorithm built by a team without gender diversity learned to penalise female candidates — because training data reflected historical male-dominated hiring patterns.</a:t>
            </a:r>
            <a:endParaRPr lang="en-US" sz="900" dirty="0"/>
          </a:p>
        </p:txBody>
      </p:sp>
      <p:sp>
        <p:nvSpPr>
          <p:cNvPr id="12" name="Shape 10"/>
          <p:cNvSpPr/>
          <p:nvPr/>
        </p:nvSpPr>
        <p:spPr>
          <a:xfrm>
            <a:off x="4736592" y="749808"/>
            <a:ext cx="4206240" cy="1335024"/>
          </a:xfrm>
          <a:prstGeom prst="rect">
            <a:avLst/>
          </a:prstGeom>
          <a:solidFill>
            <a:srgbClr val="FFFFFF"/>
          </a:solidFill>
          <a:ln w="15240">
            <a:solidFill>
              <a:srgbClr val="8B0000"/>
            </a:solidFill>
            <a:prstDash val="solid"/>
          </a:ln>
          <a:effectLst>
            <a:outerShdw blurRad="63500" dist="25400" dir="8100000" algn="bl" rotWithShape="0">
              <a:srgbClr val="000000">
                <a:alpha val="12000"/>
              </a:srgbClr>
            </a:outerShdw>
          </a:effectLst>
        </p:spPr>
        <p:txBody>
          <a:bodyPr/>
          <a:lstStyle/>
          <a:p>
            <a:endParaRPr lang="en-AU"/>
          </a:p>
        </p:txBody>
      </p:sp>
      <p:sp>
        <p:nvSpPr>
          <p:cNvPr id="13" name="Shape 11"/>
          <p:cNvSpPr/>
          <p:nvPr/>
        </p:nvSpPr>
        <p:spPr>
          <a:xfrm>
            <a:off x="4736592" y="749808"/>
            <a:ext cx="4206240" cy="310896"/>
          </a:xfrm>
          <a:prstGeom prst="rect">
            <a:avLst/>
          </a:prstGeom>
          <a:solidFill>
            <a:srgbClr val="8B0000"/>
          </a:solidFill>
          <a:ln w="12700">
            <a:solidFill>
              <a:srgbClr val="8B0000"/>
            </a:solidFill>
            <a:prstDash val="solid"/>
          </a:ln>
        </p:spPr>
        <p:txBody>
          <a:bodyPr/>
          <a:lstStyle/>
          <a:p>
            <a:endParaRPr lang="en-AU"/>
          </a:p>
        </p:txBody>
      </p:sp>
      <p:sp>
        <p:nvSpPr>
          <p:cNvPr id="14" name="Text 12"/>
          <p:cNvSpPr/>
          <p:nvPr/>
        </p:nvSpPr>
        <p:spPr>
          <a:xfrm>
            <a:off x="4864608" y="749808"/>
            <a:ext cx="3950208"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Historical / Data Bias</a:t>
            </a:r>
            <a:endParaRPr lang="en-US" sz="1100" dirty="0"/>
          </a:p>
        </p:txBody>
      </p:sp>
      <p:sp>
        <p:nvSpPr>
          <p:cNvPr id="15" name="Text 13"/>
          <p:cNvSpPr/>
          <p:nvPr/>
        </p:nvSpPr>
        <p:spPr>
          <a:xfrm>
            <a:off x="4864608" y="1097280"/>
            <a:ext cx="3950208" cy="310896"/>
          </a:xfrm>
          <a:prstGeom prst="rect">
            <a:avLst/>
          </a:prstGeom>
          <a:noFill/>
          <a:ln/>
        </p:spPr>
        <p:txBody>
          <a:bodyPr wrap="square" rtlCol="0" anchor="ctr"/>
          <a:lstStyle/>
          <a:p>
            <a:pPr marL="0" indent="0">
              <a:buNone/>
            </a:pPr>
            <a:r>
              <a:rPr lang="en-US" sz="900" i="1" dirty="0">
                <a:solidFill>
                  <a:srgbClr val="37474F"/>
                </a:solidFill>
                <a:latin typeface="Calibri" pitchFamily="34" charset="0"/>
                <a:ea typeface="Calibri" pitchFamily="34" charset="-122"/>
                <a:cs typeface="Calibri" pitchFamily="34" charset="-120"/>
              </a:rPr>
              <a:t>Occurs when historical data encodes systemic inequalities as though they are objective truth.</a:t>
            </a:r>
            <a:endParaRPr lang="en-US" sz="900" dirty="0"/>
          </a:p>
        </p:txBody>
      </p:sp>
      <p:sp>
        <p:nvSpPr>
          <p:cNvPr id="16" name="Text 14"/>
          <p:cNvSpPr/>
          <p:nvPr/>
        </p:nvSpPr>
        <p:spPr>
          <a:xfrm>
            <a:off x="4864608" y="1408176"/>
            <a:ext cx="3950208" cy="621792"/>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Example: Predictive policing systems trained on historical arrest data over-predict crime in minority neighbourhoods, reflecting past over-policing rather than actual crime rates.</a:t>
            </a:r>
            <a:endParaRPr lang="en-US" sz="900" dirty="0"/>
          </a:p>
        </p:txBody>
      </p:sp>
      <p:sp>
        <p:nvSpPr>
          <p:cNvPr id="17" name="Shape 15"/>
          <p:cNvSpPr/>
          <p:nvPr/>
        </p:nvSpPr>
        <p:spPr>
          <a:xfrm>
            <a:off x="201168" y="2176272"/>
            <a:ext cx="4206240" cy="1335024"/>
          </a:xfrm>
          <a:prstGeom prst="rect">
            <a:avLst/>
          </a:prstGeom>
          <a:solidFill>
            <a:srgbClr val="FFFFFF"/>
          </a:solidFill>
          <a:ln w="15240">
            <a:solidFill>
              <a:srgbClr val="E65100"/>
            </a:solidFill>
            <a:prstDash val="solid"/>
          </a:ln>
          <a:effectLst>
            <a:outerShdw blurRad="63500" dist="25400" dir="8100000" algn="bl" rotWithShape="0">
              <a:srgbClr val="000000">
                <a:alpha val="12000"/>
              </a:srgbClr>
            </a:outerShdw>
          </a:effectLst>
        </p:spPr>
        <p:txBody>
          <a:bodyPr/>
          <a:lstStyle/>
          <a:p>
            <a:endParaRPr lang="en-AU"/>
          </a:p>
        </p:txBody>
      </p:sp>
      <p:sp>
        <p:nvSpPr>
          <p:cNvPr id="18" name="Shape 16"/>
          <p:cNvSpPr/>
          <p:nvPr/>
        </p:nvSpPr>
        <p:spPr>
          <a:xfrm>
            <a:off x="201168" y="2176272"/>
            <a:ext cx="4206240" cy="310896"/>
          </a:xfrm>
          <a:prstGeom prst="rect">
            <a:avLst/>
          </a:prstGeom>
          <a:solidFill>
            <a:srgbClr val="E65100"/>
          </a:solidFill>
          <a:ln w="12700">
            <a:solidFill>
              <a:srgbClr val="E65100"/>
            </a:solidFill>
            <a:prstDash val="solid"/>
          </a:ln>
        </p:spPr>
        <p:txBody>
          <a:bodyPr/>
          <a:lstStyle/>
          <a:p>
            <a:endParaRPr lang="en-AU"/>
          </a:p>
        </p:txBody>
      </p:sp>
      <p:sp>
        <p:nvSpPr>
          <p:cNvPr id="19" name="Text 17"/>
          <p:cNvSpPr/>
          <p:nvPr/>
        </p:nvSpPr>
        <p:spPr>
          <a:xfrm>
            <a:off x="329184" y="2176272"/>
            <a:ext cx="3950208"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Sampling / Selection Bias</a:t>
            </a:r>
            <a:endParaRPr lang="en-US" sz="1100" dirty="0"/>
          </a:p>
        </p:txBody>
      </p:sp>
      <p:sp>
        <p:nvSpPr>
          <p:cNvPr id="20" name="Text 18"/>
          <p:cNvSpPr/>
          <p:nvPr/>
        </p:nvSpPr>
        <p:spPr>
          <a:xfrm>
            <a:off x="329184" y="2523744"/>
            <a:ext cx="3950208" cy="310896"/>
          </a:xfrm>
          <a:prstGeom prst="rect">
            <a:avLst/>
          </a:prstGeom>
          <a:noFill/>
          <a:ln/>
        </p:spPr>
        <p:txBody>
          <a:bodyPr wrap="square" rtlCol="0" anchor="ctr"/>
          <a:lstStyle/>
          <a:p>
            <a:pPr marL="0" indent="0">
              <a:buNone/>
            </a:pPr>
            <a:r>
              <a:rPr lang="en-US" sz="900" i="1" dirty="0">
                <a:solidFill>
                  <a:srgbClr val="37474F"/>
                </a:solidFill>
                <a:latin typeface="Calibri" pitchFamily="34" charset="0"/>
                <a:ea typeface="Calibri" pitchFamily="34" charset="-122"/>
                <a:cs typeface="Calibri" pitchFamily="34" charset="-120"/>
              </a:rPr>
              <a:t>Occurs when training data is not representative of the population the model will serve.</a:t>
            </a:r>
            <a:endParaRPr lang="en-US" sz="900" dirty="0"/>
          </a:p>
        </p:txBody>
      </p:sp>
      <p:sp>
        <p:nvSpPr>
          <p:cNvPr id="21" name="Text 19"/>
          <p:cNvSpPr/>
          <p:nvPr/>
        </p:nvSpPr>
        <p:spPr>
          <a:xfrm>
            <a:off x="329184" y="2834640"/>
            <a:ext cx="3950208" cy="621792"/>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Example: Early facial recognition systems trained on light-skinned datasets performed with far higher error rates on darker-skinned faces — documented in the MIT Gender Shades study.</a:t>
            </a:r>
            <a:endParaRPr lang="en-US" sz="900" dirty="0"/>
          </a:p>
        </p:txBody>
      </p:sp>
      <p:sp>
        <p:nvSpPr>
          <p:cNvPr id="22" name="Shape 20"/>
          <p:cNvSpPr/>
          <p:nvPr/>
        </p:nvSpPr>
        <p:spPr>
          <a:xfrm>
            <a:off x="4736592" y="2176272"/>
            <a:ext cx="4206240" cy="1335024"/>
          </a:xfrm>
          <a:prstGeom prst="rect">
            <a:avLst/>
          </a:prstGeom>
          <a:solidFill>
            <a:srgbClr val="FFFFFF"/>
          </a:solidFill>
          <a:ln w="15240">
            <a:solidFill>
              <a:srgbClr val="5D4037"/>
            </a:solidFill>
            <a:prstDash val="solid"/>
          </a:ln>
          <a:effectLst>
            <a:outerShdw blurRad="63500" dist="25400" dir="8100000" algn="bl" rotWithShape="0">
              <a:srgbClr val="000000">
                <a:alpha val="12000"/>
              </a:srgbClr>
            </a:outerShdw>
          </a:effectLst>
        </p:spPr>
        <p:txBody>
          <a:bodyPr/>
          <a:lstStyle/>
          <a:p>
            <a:endParaRPr lang="en-AU"/>
          </a:p>
        </p:txBody>
      </p:sp>
      <p:sp>
        <p:nvSpPr>
          <p:cNvPr id="23" name="Shape 21"/>
          <p:cNvSpPr/>
          <p:nvPr/>
        </p:nvSpPr>
        <p:spPr>
          <a:xfrm>
            <a:off x="4736592" y="2176272"/>
            <a:ext cx="4206240" cy="310896"/>
          </a:xfrm>
          <a:prstGeom prst="rect">
            <a:avLst/>
          </a:prstGeom>
          <a:solidFill>
            <a:srgbClr val="5D4037"/>
          </a:solidFill>
          <a:ln w="12700">
            <a:solidFill>
              <a:srgbClr val="5D4037"/>
            </a:solidFill>
            <a:prstDash val="solid"/>
          </a:ln>
        </p:spPr>
        <p:txBody>
          <a:bodyPr/>
          <a:lstStyle/>
          <a:p>
            <a:endParaRPr lang="en-AU"/>
          </a:p>
        </p:txBody>
      </p:sp>
      <p:sp>
        <p:nvSpPr>
          <p:cNvPr id="24" name="Text 22"/>
          <p:cNvSpPr/>
          <p:nvPr/>
        </p:nvSpPr>
        <p:spPr>
          <a:xfrm>
            <a:off x="4864608" y="2176272"/>
            <a:ext cx="3950208"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Measurement Bias</a:t>
            </a:r>
            <a:endParaRPr lang="en-US" sz="1100" dirty="0"/>
          </a:p>
        </p:txBody>
      </p:sp>
      <p:sp>
        <p:nvSpPr>
          <p:cNvPr id="25" name="Text 23"/>
          <p:cNvSpPr/>
          <p:nvPr/>
        </p:nvSpPr>
        <p:spPr>
          <a:xfrm>
            <a:off x="4864608" y="2523744"/>
            <a:ext cx="3950208" cy="310896"/>
          </a:xfrm>
          <a:prstGeom prst="rect">
            <a:avLst/>
          </a:prstGeom>
          <a:noFill/>
          <a:ln/>
        </p:spPr>
        <p:txBody>
          <a:bodyPr wrap="square" rtlCol="0" anchor="ctr"/>
          <a:lstStyle/>
          <a:p>
            <a:pPr marL="0" indent="0">
              <a:buNone/>
            </a:pPr>
            <a:r>
              <a:rPr lang="en-US" sz="900" i="1" dirty="0">
                <a:solidFill>
                  <a:srgbClr val="37474F"/>
                </a:solidFill>
                <a:latin typeface="Calibri" pitchFamily="34" charset="0"/>
                <a:ea typeface="Calibri" pitchFamily="34" charset="-122"/>
                <a:cs typeface="Calibri" pitchFamily="34" charset="-120"/>
              </a:rPr>
              <a:t>Occurs when the data collection method systematically distorts the values recorded.</a:t>
            </a:r>
            <a:endParaRPr lang="en-US" sz="900" dirty="0"/>
          </a:p>
        </p:txBody>
      </p:sp>
      <p:sp>
        <p:nvSpPr>
          <p:cNvPr id="26" name="Text 24"/>
          <p:cNvSpPr/>
          <p:nvPr/>
        </p:nvSpPr>
        <p:spPr>
          <a:xfrm>
            <a:off x="4864608" y="2834640"/>
            <a:ext cx="3950208" cy="621792"/>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Example: A healthcare ML model trained on hospital patient data under-represents patients who could not afford care, leading to underestimation of disease prevalence in low-income groups.</a:t>
            </a:r>
            <a:endParaRPr lang="en-US" sz="900" dirty="0"/>
          </a:p>
        </p:txBody>
      </p:sp>
      <p:sp>
        <p:nvSpPr>
          <p:cNvPr id="27" name="Shape 25"/>
          <p:cNvSpPr/>
          <p:nvPr/>
        </p:nvSpPr>
        <p:spPr>
          <a:xfrm>
            <a:off x="201168" y="3602736"/>
            <a:ext cx="4206240" cy="1335024"/>
          </a:xfrm>
          <a:prstGeom prst="rect">
            <a:avLst/>
          </a:prstGeom>
          <a:solidFill>
            <a:srgbClr val="FFFFFF"/>
          </a:solidFill>
          <a:ln w="15240">
            <a:solidFill>
              <a:srgbClr val="1B3A6B"/>
            </a:solidFill>
            <a:prstDash val="solid"/>
          </a:ln>
          <a:effectLst>
            <a:outerShdw blurRad="63500" dist="25400" dir="8100000" algn="bl" rotWithShape="0">
              <a:srgbClr val="000000">
                <a:alpha val="12000"/>
              </a:srgbClr>
            </a:outerShdw>
          </a:effectLst>
        </p:spPr>
        <p:txBody>
          <a:bodyPr/>
          <a:lstStyle/>
          <a:p>
            <a:endParaRPr lang="en-AU"/>
          </a:p>
        </p:txBody>
      </p:sp>
      <p:sp>
        <p:nvSpPr>
          <p:cNvPr id="28" name="Shape 26"/>
          <p:cNvSpPr/>
          <p:nvPr/>
        </p:nvSpPr>
        <p:spPr>
          <a:xfrm>
            <a:off x="201168" y="3602736"/>
            <a:ext cx="4206240" cy="310896"/>
          </a:xfrm>
          <a:prstGeom prst="rect">
            <a:avLst/>
          </a:prstGeom>
          <a:solidFill>
            <a:srgbClr val="1B3A6B"/>
          </a:solidFill>
          <a:ln w="12700">
            <a:solidFill>
              <a:srgbClr val="1B3A6B"/>
            </a:solidFill>
            <a:prstDash val="solid"/>
          </a:ln>
        </p:spPr>
        <p:txBody>
          <a:bodyPr/>
          <a:lstStyle/>
          <a:p>
            <a:endParaRPr lang="en-AU"/>
          </a:p>
        </p:txBody>
      </p:sp>
      <p:sp>
        <p:nvSpPr>
          <p:cNvPr id="29" name="Text 27"/>
          <p:cNvSpPr/>
          <p:nvPr/>
        </p:nvSpPr>
        <p:spPr>
          <a:xfrm>
            <a:off x="329184" y="3602736"/>
            <a:ext cx="3950208"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Confirmation Bias</a:t>
            </a:r>
            <a:endParaRPr lang="en-US" sz="1100" dirty="0"/>
          </a:p>
        </p:txBody>
      </p:sp>
      <p:sp>
        <p:nvSpPr>
          <p:cNvPr id="30" name="Text 28"/>
          <p:cNvSpPr/>
          <p:nvPr/>
        </p:nvSpPr>
        <p:spPr>
          <a:xfrm>
            <a:off x="329184" y="3950208"/>
            <a:ext cx="3950208" cy="310896"/>
          </a:xfrm>
          <a:prstGeom prst="rect">
            <a:avLst/>
          </a:prstGeom>
          <a:noFill/>
          <a:ln/>
        </p:spPr>
        <p:txBody>
          <a:bodyPr wrap="square" rtlCol="0" anchor="ctr"/>
          <a:lstStyle/>
          <a:p>
            <a:pPr marL="0" indent="0">
              <a:buNone/>
            </a:pPr>
            <a:r>
              <a:rPr lang="en-US" sz="900" i="1" dirty="0">
                <a:solidFill>
                  <a:srgbClr val="37474F"/>
                </a:solidFill>
                <a:latin typeface="Calibri" pitchFamily="34" charset="0"/>
                <a:ea typeface="Calibri" pitchFamily="34" charset="-122"/>
                <a:cs typeface="Calibri" pitchFamily="34" charset="-120"/>
              </a:rPr>
              <a:t>Occurs when developers select and weight data that confirms existing assumptions.</a:t>
            </a:r>
            <a:endParaRPr lang="en-US" sz="900" dirty="0"/>
          </a:p>
        </p:txBody>
      </p:sp>
      <p:sp>
        <p:nvSpPr>
          <p:cNvPr id="31" name="Text 29"/>
          <p:cNvSpPr/>
          <p:nvPr/>
        </p:nvSpPr>
        <p:spPr>
          <a:xfrm>
            <a:off x="329184" y="4261104"/>
            <a:ext cx="3950208" cy="621792"/>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Example: A sentiment analysis model tuned primarily on positive-negative reviews may systematically misclassify neutral or culturally indirect language as negative.</a:t>
            </a:r>
            <a:endParaRPr lang="en-US" sz="900" dirty="0"/>
          </a:p>
        </p:txBody>
      </p:sp>
      <p:sp>
        <p:nvSpPr>
          <p:cNvPr id="32" name="Shape 30"/>
          <p:cNvSpPr/>
          <p:nvPr/>
        </p:nvSpPr>
        <p:spPr>
          <a:xfrm>
            <a:off x="4736592" y="3602736"/>
            <a:ext cx="4206240" cy="1335024"/>
          </a:xfrm>
          <a:prstGeom prst="rect">
            <a:avLst/>
          </a:prstGeom>
          <a:solidFill>
            <a:srgbClr val="FFFFFF"/>
          </a:solidFill>
          <a:ln w="15240">
            <a:solidFill>
              <a:srgbClr val="028090"/>
            </a:solidFill>
            <a:prstDash val="solid"/>
          </a:ln>
          <a:effectLst>
            <a:outerShdw blurRad="63500" dist="25400" dir="8100000" algn="bl" rotWithShape="0">
              <a:srgbClr val="000000">
                <a:alpha val="12000"/>
              </a:srgbClr>
            </a:outerShdw>
          </a:effectLst>
        </p:spPr>
        <p:txBody>
          <a:bodyPr/>
          <a:lstStyle/>
          <a:p>
            <a:endParaRPr lang="en-AU"/>
          </a:p>
        </p:txBody>
      </p:sp>
      <p:sp>
        <p:nvSpPr>
          <p:cNvPr id="33" name="Shape 31"/>
          <p:cNvSpPr/>
          <p:nvPr/>
        </p:nvSpPr>
        <p:spPr>
          <a:xfrm>
            <a:off x="4736592" y="3602736"/>
            <a:ext cx="4206240" cy="310896"/>
          </a:xfrm>
          <a:prstGeom prst="rect">
            <a:avLst/>
          </a:prstGeom>
          <a:solidFill>
            <a:srgbClr val="028090"/>
          </a:solidFill>
          <a:ln w="12700">
            <a:solidFill>
              <a:srgbClr val="028090"/>
            </a:solidFill>
            <a:prstDash val="solid"/>
          </a:ln>
        </p:spPr>
        <p:txBody>
          <a:bodyPr/>
          <a:lstStyle/>
          <a:p>
            <a:endParaRPr lang="en-AU"/>
          </a:p>
        </p:txBody>
      </p:sp>
      <p:sp>
        <p:nvSpPr>
          <p:cNvPr id="34" name="Text 32"/>
          <p:cNvSpPr/>
          <p:nvPr/>
        </p:nvSpPr>
        <p:spPr>
          <a:xfrm>
            <a:off x="4864608" y="3602736"/>
            <a:ext cx="3950208"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Feedback Loop Bias</a:t>
            </a:r>
            <a:endParaRPr lang="en-US" sz="1100" dirty="0"/>
          </a:p>
        </p:txBody>
      </p:sp>
      <p:sp>
        <p:nvSpPr>
          <p:cNvPr id="35" name="Text 33"/>
          <p:cNvSpPr/>
          <p:nvPr/>
        </p:nvSpPr>
        <p:spPr>
          <a:xfrm>
            <a:off x="4864608" y="3950208"/>
            <a:ext cx="3950208" cy="310896"/>
          </a:xfrm>
          <a:prstGeom prst="rect">
            <a:avLst/>
          </a:prstGeom>
          <a:noFill/>
          <a:ln/>
        </p:spPr>
        <p:txBody>
          <a:bodyPr wrap="square" rtlCol="0" anchor="ctr"/>
          <a:lstStyle/>
          <a:p>
            <a:pPr marL="0" indent="0">
              <a:buNone/>
            </a:pPr>
            <a:r>
              <a:rPr lang="en-US" sz="900" i="1" dirty="0">
                <a:solidFill>
                  <a:srgbClr val="37474F"/>
                </a:solidFill>
                <a:latin typeface="Calibri" pitchFamily="34" charset="0"/>
                <a:ea typeface="Calibri" pitchFamily="34" charset="-122"/>
                <a:cs typeface="Calibri" pitchFamily="34" charset="-120"/>
              </a:rPr>
              <a:t>Occurs when the model's own outputs are fed back as training data, reinforcing its existing patterns.</a:t>
            </a:r>
            <a:endParaRPr lang="en-US" sz="900" dirty="0"/>
          </a:p>
        </p:txBody>
      </p:sp>
      <p:sp>
        <p:nvSpPr>
          <p:cNvPr id="36" name="Text 34"/>
          <p:cNvSpPr/>
          <p:nvPr/>
        </p:nvSpPr>
        <p:spPr>
          <a:xfrm>
            <a:off x="4864608" y="4261104"/>
            <a:ext cx="3950208" cy="621792"/>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Example: A content recommendation algorithm that promotes outrage-inducing content (because engagement is high) trains on its own engagement data, progressively amplifying extreme content.</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5" grpId="0" animBg="1"/>
      <p:bldP spid="16" grpId="0" animBg="1"/>
      <p:bldP spid="20" grpId="0" animBg="1"/>
      <p:bldP spid="21" grpId="0" animBg="1"/>
      <p:bldP spid="25" grpId="0" animBg="1"/>
      <p:bldP spid="26" grpId="0" animBg="1"/>
      <p:bldP spid="30" grpId="0" animBg="1"/>
      <p:bldP spid="31" grpId="0" animBg="1"/>
      <p:bldP spid="35" grpId="0" animBg="1"/>
      <p:bldP spid="3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Case Studies — Bias in Real-World ML and AI Systems</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Bias in ML and AI — SE-12-05</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Shape 5"/>
          <p:cNvSpPr/>
          <p:nvPr/>
        </p:nvSpPr>
        <p:spPr>
          <a:xfrm>
            <a:off x="201168" y="749808"/>
            <a:ext cx="2871216" cy="3968496"/>
          </a:xfrm>
          <a:prstGeom prst="rect">
            <a:avLst/>
          </a:prstGeom>
          <a:solidFill>
            <a:srgbClr val="FFFFFF"/>
          </a:solidFill>
          <a:ln w="15240">
            <a:solidFill>
              <a:srgbClr val="B71C1C"/>
            </a:solidFill>
            <a:prstDash val="solid"/>
          </a:ln>
          <a:effectLst>
            <a:outerShdw blurRad="63500" dist="25400" dir="8100000" algn="bl" rotWithShape="0">
              <a:srgbClr val="000000">
                <a:alpha val="12000"/>
              </a:srgbClr>
            </a:outerShdw>
          </a:effectLst>
        </p:spPr>
        <p:txBody>
          <a:bodyPr/>
          <a:lstStyle/>
          <a:p>
            <a:endParaRPr lang="en-AU"/>
          </a:p>
        </p:txBody>
      </p:sp>
      <p:sp>
        <p:nvSpPr>
          <p:cNvPr id="8" name="Shape 6"/>
          <p:cNvSpPr/>
          <p:nvPr/>
        </p:nvSpPr>
        <p:spPr>
          <a:xfrm>
            <a:off x="201168" y="749808"/>
            <a:ext cx="2871216" cy="384048"/>
          </a:xfrm>
          <a:prstGeom prst="rect">
            <a:avLst/>
          </a:prstGeom>
          <a:solidFill>
            <a:srgbClr val="B71C1C"/>
          </a:solidFill>
          <a:ln w="12700">
            <a:solidFill>
              <a:srgbClr val="B71C1C"/>
            </a:solidFill>
            <a:prstDash val="solid"/>
          </a:ln>
        </p:spPr>
        <p:txBody>
          <a:bodyPr/>
          <a:lstStyle/>
          <a:p>
            <a:endParaRPr lang="en-AU"/>
          </a:p>
        </p:txBody>
      </p:sp>
      <p:sp>
        <p:nvSpPr>
          <p:cNvPr id="9" name="Text 7"/>
          <p:cNvSpPr/>
          <p:nvPr/>
        </p:nvSpPr>
        <p:spPr>
          <a:xfrm>
            <a:off x="292608" y="749808"/>
            <a:ext cx="2688336" cy="256032"/>
          </a:xfrm>
          <a:prstGeom prst="rect">
            <a:avLst/>
          </a:prstGeom>
          <a:noFill/>
          <a:ln/>
        </p:spPr>
        <p:txBody>
          <a:bodyPr wrap="square" rtlCol="0" anchor="b"/>
          <a:lstStyle/>
          <a:p>
            <a:pPr marL="0" indent="0">
              <a:buNone/>
            </a:pPr>
            <a:r>
              <a:rPr lang="en-US" sz="1100" b="1" dirty="0">
                <a:solidFill>
                  <a:srgbClr val="FFFFFF"/>
                </a:solidFill>
                <a:latin typeface="Calibri" pitchFamily="34" charset="0"/>
                <a:ea typeface="Calibri" pitchFamily="34" charset="-122"/>
                <a:cs typeface="Calibri" pitchFamily="34" charset="-120"/>
              </a:rPr>
              <a:t>COMPAS Recidivism Algorithm (USA)</a:t>
            </a:r>
            <a:endParaRPr lang="en-US" sz="1100" dirty="0"/>
          </a:p>
        </p:txBody>
      </p:sp>
      <p:sp>
        <p:nvSpPr>
          <p:cNvPr id="10" name="Shape 8"/>
          <p:cNvSpPr/>
          <p:nvPr/>
        </p:nvSpPr>
        <p:spPr>
          <a:xfrm>
            <a:off x="292608" y="1170432"/>
            <a:ext cx="2688336" cy="201168"/>
          </a:xfrm>
          <a:prstGeom prst="rect">
            <a:avLst/>
          </a:prstGeom>
          <a:solidFill>
            <a:srgbClr val="546E7A"/>
          </a:solidFill>
          <a:ln w="12700">
            <a:solidFill>
              <a:srgbClr val="546E7A"/>
            </a:solidFill>
            <a:prstDash val="solid"/>
          </a:ln>
        </p:spPr>
        <p:txBody>
          <a:bodyPr/>
          <a:lstStyle/>
          <a:p>
            <a:endParaRPr lang="en-AU"/>
          </a:p>
        </p:txBody>
      </p:sp>
      <p:sp>
        <p:nvSpPr>
          <p:cNvPr id="11" name="Text 9"/>
          <p:cNvSpPr/>
          <p:nvPr/>
        </p:nvSpPr>
        <p:spPr>
          <a:xfrm>
            <a:off x="292608" y="1170432"/>
            <a:ext cx="2688336"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HISTORICAL + SAMPLING BIAS</a:t>
            </a:r>
            <a:endParaRPr lang="en-US" sz="750" dirty="0"/>
          </a:p>
        </p:txBody>
      </p:sp>
      <p:sp>
        <p:nvSpPr>
          <p:cNvPr id="12" name="Shape 10"/>
          <p:cNvSpPr/>
          <p:nvPr/>
        </p:nvSpPr>
        <p:spPr>
          <a:xfrm>
            <a:off x="292608" y="1444752"/>
            <a:ext cx="50292" cy="969264"/>
          </a:xfrm>
          <a:prstGeom prst="rect">
            <a:avLst/>
          </a:prstGeom>
          <a:solidFill>
            <a:srgbClr val="B71C1C"/>
          </a:solidFill>
          <a:ln w="12700">
            <a:solidFill>
              <a:srgbClr val="B71C1C"/>
            </a:solidFill>
            <a:prstDash val="solid"/>
          </a:ln>
        </p:spPr>
        <p:txBody>
          <a:bodyPr/>
          <a:lstStyle/>
          <a:p>
            <a:endParaRPr lang="en-AU"/>
          </a:p>
        </p:txBody>
      </p:sp>
      <p:sp>
        <p:nvSpPr>
          <p:cNvPr id="13" name="Shape 11"/>
          <p:cNvSpPr/>
          <p:nvPr/>
        </p:nvSpPr>
        <p:spPr>
          <a:xfrm>
            <a:off x="342900" y="1444752"/>
            <a:ext cx="2638044" cy="969264"/>
          </a:xfrm>
          <a:prstGeom prst="rect">
            <a:avLst/>
          </a:prstGeom>
          <a:solidFill>
            <a:srgbClr val="ECEFF1"/>
          </a:solidFill>
          <a:ln w="12700">
            <a:solidFill>
              <a:srgbClr val="ECEFF1"/>
            </a:solidFill>
            <a:prstDash val="solid"/>
          </a:ln>
        </p:spPr>
        <p:txBody>
          <a:bodyPr/>
          <a:lstStyle/>
          <a:p>
            <a:endParaRPr lang="en-AU"/>
          </a:p>
        </p:txBody>
      </p:sp>
      <p:sp>
        <p:nvSpPr>
          <p:cNvPr id="14" name="Text 12"/>
          <p:cNvSpPr/>
          <p:nvPr/>
        </p:nvSpPr>
        <p:spPr>
          <a:xfrm>
            <a:off x="448056" y="1444752"/>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COMPAS is an ML system used by US courts to predict the likelihood of a defendant reoffending. A ProPublica investigation found that the system incorrectly flagged Black defendants as high-risk at twice the rate of white defendants.</a:t>
            </a:r>
            <a:endParaRPr lang="en-US" sz="1050" dirty="0"/>
          </a:p>
        </p:txBody>
      </p:sp>
      <p:sp>
        <p:nvSpPr>
          <p:cNvPr id="15" name="Shape 13"/>
          <p:cNvSpPr/>
          <p:nvPr/>
        </p:nvSpPr>
        <p:spPr>
          <a:xfrm>
            <a:off x="292608" y="2505456"/>
            <a:ext cx="50292" cy="969264"/>
          </a:xfrm>
          <a:prstGeom prst="rect">
            <a:avLst/>
          </a:prstGeom>
          <a:solidFill>
            <a:srgbClr val="B71C1C"/>
          </a:solidFill>
          <a:ln w="12700">
            <a:solidFill>
              <a:srgbClr val="B71C1C"/>
            </a:solidFill>
            <a:prstDash val="solid"/>
          </a:ln>
        </p:spPr>
        <p:txBody>
          <a:bodyPr/>
          <a:lstStyle/>
          <a:p>
            <a:endParaRPr lang="en-AU"/>
          </a:p>
        </p:txBody>
      </p:sp>
      <p:sp>
        <p:nvSpPr>
          <p:cNvPr id="16" name="Shape 14"/>
          <p:cNvSpPr/>
          <p:nvPr/>
        </p:nvSpPr>
        <p:spPr>
          <a:xfrm>
            <a:off x="342900" y="2505456"/>
            <a:ext cx="2638044" cy="969264"/>
          </a:xfrm>
          <a:prstGeom prst="rect">
            <a:avLst/>
          </a:prstGeom>
          <a:solidFill>
            <a:srgbClr val="ECEFF1"/>
          </a:solidFill>
          <a:ln w="12700">
            <a:solidFill>
              <a:srgbClr val="ECEFF1"/>
            </a:solidFill>
            <a:prstDash val="solid"/>
          </a:ln>
        </p:spPr>
        <p:txBody>
          <a:bodyPr/>
          <a:lstStyle/>
          <a:p>
            <a:endParaRPr lang="en-AU"/>
          </a:p>
        </p:txBody>
      </p:sp>
      <p:sp>
        <p:nvSpPr>
          <p:cNvPr id="17" name="Text 15"/>
          <p:cNvSpPr/>
          <p:nvPr/>
        </p:nvSpPr>
        <p:spPr>
          <a:xfrm>
            <a:off x="448056" y="2505456"/>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The algorithm was trained on historical criminal justice data — data that reflected decades of racially disparate policing and sentencing. The bias in the input data produced bias in the predictions.</a:t>
            </a:r>
            <a:endParaRPr lang="en-US" sz="1050" dirty="0"/>
          </a:p>
        </p:txBody>
      </p:sp>
      <p:sp>
        <p:nvSpPr>
          <p:cNvPr id="18" name="Shape 16"/>
          <p:cNvSpPr/>
          <p:nvPr/>
        </p:nvSpPr>
        <p:spPr>
          <a:xfrm>
            <a:off x="292608" y="3566160"/>
            <a:ext cx="50292" cy="969264"/>
          </a:xfrm>
          <a:prstGeom prst="rect">
            <a:avLst/>
          </a:prstGeom>
          <a:solidFill>
            <a:srgbClr val="B71C1C"/>
          </a:solidFill>
          <a:ln w="12700">
            <a:solidFill>
              <a:srgbClr val="B71C1C"/>
            </a:solidFill>
            <a:prstDash val="solid"/>
          </a:ln>
        </p:spPr>
        <p:txBody>
          <a:bodyPr/>
          <a:lstStyle/>
          <a:p>
            <a:endParaRPr lang="en-AU"/>
          </a:p>
        </p:txBody>
      </p:sp>
      <p:sp>
        <p:nvSpPr>
          <p:cNvPr id="19" name="Shape 17"/>
          <p:cNvSpPr/>
          <p:nvPr/>
        </p:nvSpPr>
        <p:spPr>
          <a:xfrm>
            <a:off x="342900" y="3566160"/>
            <a:ext cx="2638044" cy="969264"/>
          </a:xfrm>
          <a:prstGeom prst="rect">
            <a:avLst/>
          </a:prstGeom>
          <a:solidFill>
            <a:srgbClr val="ECEFF1"/>
          </a:solidFill>
          <a:ln w="12700">
            <a:solidFill>
              <a:srgbClr val="ECEFF1"/>
            </a:solidFill>
            <a:prstDash val="solid"/>
          </a:ln>
        </p:spPr>
        <p:txBody>
          <a:bodyPr/>
          <a:lstStyle/>
          <a:p>
            <a:endParaRPr lang="en-AU"/>
          </a:p>
        </p:txBody>
      </p:sp>
      <p:sp>
        <p:nvSpPr>
          <p:cNvPr id="20" name="Text 18"/>
          <p:cNvSpPr/>
          <p:nvPr/>
        </p:nvSpPr>
        <p:spPr>
          <a:xfrm>
            <a:off x="448056" y="3566160"/>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Outcome: This demonstrates that historical inequity in a dataset is reproduced as objective-seeming algorithmic output, with serious consequences for individuals' freedom.</a:t>
            </a:r>
            <a:endParaRPr lang="en-US" sz="1050" dirty="0"/>
          </a:p>
        </p:txBody>
      </p:sp>
      <p:sp>
        <p:nvSpPr>
          <p:cNvPr id="21" name="Shape 19"/>
          <p:cNvSpPr/>
          <p:nvPr/>
        </p:nvSpPr>
        <p:spPr>
          <a:xfrm>
            <a:off x="3182112" y="749808"/>
            <a:ext cx="2871216" cy="3968496"/>
          </a:xfrm>
          <a:prstGeom prst="rect">
            <a:avLst/>
          </a:prstGeom>
          <a:solidFill>
            <a:srgbClr val="FFFFFF"/>
          </a:solidFill>
          <a:ln w="15240">
            <a:solidFill>
              <a:srgbClr val="1B3A6B"/>
            </a:solidFill>
            <a:prstDash val="solid"/>
          </a:ln>
          <a:effectLst>
            <a:outerShdw blurRad="63500" dist="25400" dir="8100000" algn="bl" rotWithShape="0">
              <a:srgbClr val="000000">
                <a:alpha val="12000"/>
              </a:srgbClr>
            </a:outerShdw>
          </a:effectLst>
        </p:spPr>
        <p:txBody>
          <a:bodyPr/>
          <a:lstStyle/>
          <a:p>
            <a:endParaRPr lang="en-AU"/>
          </a:p>
        </p:txBody>
      </p:sp>
      <p:sp>
        <p:nvSpPr>
          <p:cNvPr id="22" name="Shape 20"/>
          <p:cNvSpPr/>
          <p:nvPr/>
        </p:nvSpPr>
        <p:spPr>
          <a:xfrm>
            <a:off x="3182112" y="749808"/>
            <a:ext cx="2871216" cy="384048"/>
          </a:xfrm>
          <a:prstGeom prst="rect">
            <a:avLst/>
          </a:prstGeom>
          <a:solidFill>
            <a:srgbClr val="1B3A6B"/>
          </a:solidFill>
          <a:ln w="12700">
            <a:solidFill>
              <a:srgbClr val="1B3A6B"/>
            </a:solidFill>
            <a:prstDash val="solid"/>
          </a:ln>
        </p:spPr>
        <p:txBody>
          <a:bodyPr/>
          <a:lstStyle/>
          <a:p>
            <a:endParaRPr lang="en-AU"/>
          </a:p>
        </p:txBody>
      </p:sp>
      <p:sp>
        <p:nvSpPr>
          <p:cNvPr id="23" name="Text 21"/>
          <p:cNvSpPr/>
          <p:nvPr/>
        </p:nvSpPr>
        <p:spPr>
          <a:xfrm>
            <a:off x="3273552" y="749808"/>
            <a:ext cx="2688336" cy="256032"/>
          </a:xfrm>
          <a:prstGeom prst="rect">
            <a:avLst/>
          </a:prstGeom>
          <a:noFill/>
          <a:ln/>
        </p:spPr>
        <p:txBody>
          <a:bodyPr wrap="square" rtlCol="0" anchor="b"/>
          <a:lstStyle/>
          <a:p>
            <a:pPr marL="0" indent="0">
              <a:buNone/>
            </a:pPr>
            <a:r>
              <a:rPr lang="en-US" sz="1100" b="1" dirty="0">
                <a:solidFill>
                  <a:srgbClr val="FFFFFF"/>
                </a:solidFill>
                <a:latin typeface="Calibri" pitchFamily="34" charset="0"/>
                <a:ea typeface="Calibri" pitchFamily="34" charset="-122"/>
                <a:cs typeface="Calibri" pitchFamily="34" charset="-120"/>
              </a:rPr>
              <a:t>Amazon Hiring Tool (2018)</a:t>
            </a:r>
            <a:endParaRPr lang="en-US" sz="1100" dirty="0"/>
          </a:p>
        </p:txBody>
      </p:sp>
      <p:sp>
        <p:nvSpPr>
          <p:cNvPr id="24" name="Shape 22"/>
          <p:cNvSpPr/>
          <p:nvPr/>
        </p:nvSpPr>
        <p:spPr>
          <a:xfrm>
            <a:off x="3273552" y="1170432"/>
            <a:ext cx="2688336" cy="201168"/>
          </a:xfrm>
          <a:prstGeom prst="rect">
            <a:avLst/>
          </a:prstGeom>
          <a:solidFill>
            <a:srgbClr val="546E7A"/>
          </a:solidFill>
          <a:ln w="12700">
            <a:solidFill>
              <a:srgbClr val="546E7A"/>
            </a:solidFill>
            <a:prstDash val="solid"/>
          </a:ln>
        </p:spPr>
        <p:txBody>
          <a:bodyPr/>
          <a:lstStyle/>
          <a:p>
            <a:endParaRPr lang="en-AU"/>
          </a:p>
        </p:txBody>
      </p:sp>
      <p:sp>
        <p:nvSpPr>
          <p:cNvPr id="25" name="Text 23"/>
          <p:cNvSpPr/>
          <p:nvPr/>
        </p:nvSpPr>
        <p:spPr>
          <a:xfrm>
            <a:off x="3273552" y="1170432"/>
            <a:ext cx="2688336"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HUMAN / DEVELOPER BIAS + HISTORICAL BIAS</a:t>
            </a:r>
            <a:endParaRPr lang="en-US" sz="750" dirty="0"/>
          </a:p>
        </p:txBody>
      </p:sp>
      <p:sp>
        <p:nvSpPr>
          <p:cNvPr id="26" name="Shape 24"/>
          <p:cNvSpPr/>
          <p:nvPr/>
        </p:nvSpPr>
        <p:spPr>
          <a:xfrm>
            <a:off x="3273552" y="1444752"/>
            <a:ext cx="50292" cy="969264"/>
          </a:xfrm>
          <a:prstGeom prst="rect">
            <a:avLst/>
          </a:prstGeom>
          <a:solidFill>
            <a:srgbClr val="1B3A6B"/>
          </a:solidFill>
          <a:ln w="12700">
            <a:solidFill>
              <a:srgbClr val="1B3A6B"/>
            </a:solidFill>
            <a:prstDash val="solid"/>
          </a:ln>
        </p:spPr>
        <p:txBody>
          <a:bodyPr/>
          <a:lstStyle/>
          <a:p>
            <a:endParaRPr lang="en-AU"/>
          </a:p>
        </p:txBody>
      </p:sp>
      <p:sp>
        <p:nvSpPr>
          <p:cNvPr id="27" name="Shape 25"/>
          <p:cNvSpPr/>
          <p:nvPr/>
        </p:nvSpPr>
        <p:spPr>
          <a:xfrm>
            <a:off x="3323844" y="1444752"/>
            <a:ext cx="2638044" cy="969264"/>
          </a:xfrm>
          <a:prstGeom prst="rect">
            <a:avLst/>
          </a:prstGeom>
          <a:solidFill>
            <a:srgbClr val="ECEFF1"/>
          </a:solidFill>
          <a:ln w="12700">
            <a:solidFill>
              <a:srgbClr val="ECEFF1"/>
            </a:solidFill>
            <a:prstDash val="solid"/>
          </a:ln>
        </p:spPr>
        <p:txBody>
          <a:bodyPr/>
          <a:lstStyle/>
          <a:p>
            <a:endParaRPr lang="en-AU"/>
          </a:p>
        </p:txBody>
      </p:sp>
      <p:sp>
        <p:nvSpPr>
          <p:cNvPr id="28" name="Text 26"/>
          <p:cNvSpPr/>
          <p:nvPr/>
        </p:nvSpPr>
        <p:spPr>
          <a:xfrm>
            <a:off x="3429000" y="1444752"/>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Amazon developed an ML resume screening tool trained on CVs submitted over a 10-year period. Because the company's workforce was historically male-dominated, the training data reflected this pattern.</a:t>
            </a:r>
            <a:endParaRPr lang="en-US" sz="1050" dirty="0"/>
          </a:p>
        </p:txBody>
      </p:sp>
      <p:sp>
        <p:nvSpPr>
          <p:cNvPr id="29" name="Shape 27"/>
          <p:cNvSpPr/>
          <p:nvPr/>
        </p:nvSpPr>
        <p:spPr>
          <a:xfrm>
            <a:off x="3273552" y="2505456"/>
            <a:ext cx="50292" cy="969264"/>
          </a:xfrm>
          <a:prstGeom prst="rect">
            <a:avLst/>
          </a:prstGeom>
          <a:solidFill>
            <a:srgbClr val="1B3A6B"/>
          </a:solidFill>
          <a:ln w="12700">
            <a:solidFill>
              <a:srgbClr val="1B3A6B"/>
            </a:solidFill>
            <a:prstDash val="solid"/>
          </a:ln>
        </p:spPr>
        <p:txBody>
          <a:bodyPr/>
          <a:lstStyle/>
          <a:p>
            <a:endParaRPr lang="en-AU"/>
          </a:p>
        </p:txBody>
      </p:sp>
      <p:sp>
        <p:nvSpPr>
          <p:cNvPr id="30" name="Shape 28"/>
          <p:cNvSpPr/>
          <p:nvPr/>
        </p:nvSpPr>
        <p:spPr>
          <a:xfrm>
            <a:off x="3323844" y="2505456"/>
            <a:ext cx="2638044" cy="969264"/>
          </a:xfrm>
          <a:prstGeom prst="rect">
            <a:avLst/>
          </a:prstGeom>
          <a:solidFill>
            <a:srgbClr val="ECEFF1"/>
          </a:solidFill>
          <a:ln w="12700">
            <a:solidFill>
              <a:srgbClr val="ECEFF1"/>
            </a:solidFill>
            <a:prstDash val="solid"/>
          </a:ln>
        </p:spPr>
        <p:txBody>
          <a:bodyPr/>
          <a:lstStyle/>
          <a:p>
            <a:endParaRPr lang="en-AU"/>
          </a:p>
        </p:txBody>
      </p:sp>
      <p:sp>
        <p:nvSpPr>
          <p:cNvPr id="31" name="Text 29"/>
          <p:cNvSpPr/>
          <p:nvPr/>
        </p:nvSpPr>
        <p:spPr>
          <a:xfrm>
            <a:off x="3429000" y="2505456"/>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The model learned to penalise resumes that included the word 'women's' (e.g., 'women's chess club') and down-ranked graduates of all-female universities.</a:t>
            </a:r>
            <a:endParaRPr lang="en-US" sz="1050" dirty="0"/>
          </a:p>
        </p:txBody>
      </p:sp>
      <p:sp>
        <p:nvSpPr>
          <p:cNvPr id="32" name="Shape 30"/>
          <p:cNvSpPr/>
          <p:nvPr/>
        </p:nvSpPr>
        <p:spPr>
          <a:xfrm>
            <a:off x="3273552" y="3566160"/>
            <a:ext cx="50292" cy="969264"/>
          </a:xfrm>
          <a:prstGeom prst="rect">
            <a:avLst/>
          </a:prstGeom>
          <a:solidFill>
            <a:srgbClr val="1B3A6B"/>
          </a:solidFill>
          <a:ln w="12700">
            <a:solidFill>
              <a:srgbClr val="1B3A6B"/>
            </a:solidFill>
            <a:prstDash val="solid"/>
          </a:ln>
        </p:spPr>
        <p:txBody>
          <a:bodyPr/>
          <a:lstStyle/>
          <a:p>
            <a:endParaRPr lang="en-AU"/>
          </a:p>
        </p:txBody>
      </p:sp>
      <p:sp>
        <p:nvSpPr>
          <p:cNvPr id="33" name="Shape 31"/>
          <p:cNvSpPr/>
          <p:nvPr/>
        </p:nvSpPr>
        <p:spPr>
          <a:xfrm>
            <a:off x="3323844" y="3566160"/>
            <a:ext cx="2638044" cy="969264"/>
          </a:xfrm>
          <a:prstGeom prst="rect">
            <a:avLst/>
          </a:prstGeom>
          <a:solidFill>
            <a:srgbClr val="ECEFF1"/>
          </a:solidFill>
          <a:ln w="12700">
            <a:solidFill>
              <a:srgbClr val="ECEFF1"/>
            </a:solidFill>
            <a:prstDash val="solid"/>
          </a:ln>
        </p:spPr>
        <p:txBody>
          <a:bodyPr/>
          <a:lstStyle/>
          <a:p>
            <a:endParaRPr lang="en-AU"/>
          </a:p>
        </p:txBody>
      </p:sp>
      <p:sp>
        <p:nvSpPr>
          <p:cNvPr id="34" name="Text 32"/>
          <p:cNvSpPr/>
          <p:nvPr/>
        </p:nvSpPr>
        <p:spPr>
          <a:xfrm>
            <a:off x="3429000" y="3566160"/>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Amazon scrapped the project in 2018. This is a defining case study for how developer team composition affects training data selection and labelling decisions.</a:t>
            </a:r>
            <a:endParaRPr lang="en-US" sz="1050" dirty="0"/>
          </a:p>
        </p:txBody>
      </p:sp>
      <p:sp>
        <p:nvSpPr>
          <p:cNvPr id="35" name="Shape 33"/>
          <p:cNvSpPr/>
          <p:nvPr/>
        </p:nvSpPr>
        <p:spPr>
          <a:xfrm>
            <a:off x="6163056" y="749808"/>
            <a:ext cx="2871216" cy="3968496"/>
          </a:xfrm>
          <a:prstGeom prst="rect">
            <a:avLst/>
          </a:prstGeom>
          <a:solidFill>
            <a:srgbClr val="FFFFFF"/>
          </a:solidFill>
          <a:ln w="15240">
            <a:solidFill>
              <a:srgbClr val="E65100"/>
            </a:solidFill>
            <a:prstDash val="solid"/>
          </a:ln>
          <a:effectLst>
            <a:outerShdw blurRad="63500" dist="25400" dir="8100000" algn="bl" rotWithShape="0">
              <a:srgbClr val="000000">
                <a:alpha val="12000"/>
              </a:srgbClr>
            </a:outerShdw>
          </a:effectLst>
        </p:spPr>
        <p:txBody>
          <a:bodyPr/>
          <a:lstStyle/>
          <a:p>
            <a:endParaRPr lang="en-AU"/>
          </a:p>
        </p:txBody>
      </p:sp>
      <p:sp>
        <p:nvSpPr>
          <p:cNvPr id="36" name="Shape 34"/>
          <p:cNvSpPr/>
          <p:nvPr/>
        </p:nvSpPr>
        <p:spPr>
          <a:xfrm>
            <a:off x="6163056" y="749808"/>
            <a:ext cx="2871216" cy="384048"/>
          </a:xfrm>
          <a:prstGeom prst="rect">
            <a:avLst/>
          </a:prstGeom>
          <a:solidFill>
            <a:srgbClr val="E65100"/>
          </a:solidFill>
          <a:ln w="12700">
            <a:solidFill>
              <a:srgbClr val="E65100"/>
            </a:solidFill>
            <a:prstDash val="solid"/>
          </a:ln>
        </p:spPr>
        <p:txBody>
          <a:bodyPr/>
          <a:lstStyle/>
          <a:p>
            <a:endParaRPr lang="en-AU"/>
          </a:p>
        </p:txBody>
      </p:sp>
      <p:sp>
        <p:nvSpPr>
          <p:cNvPr id="37" name="Text 35"/>
          <p:cNvSpPr/>
          <p:nvPr/>
        </p:nvSpPr>
        <p:spPr>
          <a:xfrm>
            <a:off x="6254496" y="749808"/>
            <a:ext cx="2688336" cy="256032"/>
          </a:xfrm>
          <a:prstGeom prst="rect">
            <a:avLst/>
          </a:prstGeom>
          <a:noFill/>
          <a:ln/>
        </p:spPr>
        <p:txBody>
          <a:bodyPr wrap="square" rtlCol="0" anchor="b"/>
          <a:lstStyle/>
          <a:p>
            <a:pPr marL="0" indent="0">
              <a:buNone/>
            </a:pPr>
            <a:r>
              <a:rPr lang="en-US" sz="1100" b="1" dirty="0">
                <a:solidFill>
                  <a:srgbClr val="FFFFFF"/>
                </a:solidFill>
                <a:latin typeface="Calibri" pitchFamily="34" charset="0"/>
                <a:ea typeface="Calibri" pitchFamily="34" charset="-122"/>
                <a:cs typeface="Calibri" pitchFamily="34" charset="-120"/>
              </a:rPr>
              <a:t>Facial Recognition Accuracy Gap</a:t>
            </a:r>
            <a:endParaRPr lang="en-US" sz="1100" dirty="0"/>
          </a:p>
        </p:txBody>
      </p:sp>
      <p:sp>
        <p:nvSpPr>
          <p:cNvPr id="38" name="Shape 36"/>
          <p:cNvSpPr/>
          <p:nvPr/>
        </p:nvSpPr>
        <p:spPr>
          <a:xfrm>
            <a:off x="6254496" y="1170432"/>
            <a:ext cx="2688336" cy="201168"/>
          </a:xfrm>
          <a:prstGeom prst="rect">
            <a:avLst/>
          </a:prstGeom>
          <a:solidFill>
            <a:srgbClr val="546E7A"/>
          </a:solidFill>
          <a:ln w="12700">
            <a:solidFill>
              <a:srgbClr val="546E7A"/>
            </a:solidFill>
            <a:prstDash val="solid"/>
          </a:ln>
        </p:spPr>
        <p:txBody>
          <a:bodyPr/>
          <a:lstStyle/>
          <a:p>
            <a:endParaRPr lang="en-AU"/>
          </a:p>
        </p:txBody>
      </p:sp>
      <p:sp>
        <p:nvSpPr>
          <p:cNvPr id="39" name="Text 37"/>
          <p:cNvSpPr/>
          <p:nvPr/>
        </p:nvSpPr>
        <p:spPr>
          <a:xfrm>
            <a:off x="6254496" y="1170432"/>
            <a:ext cx="2688336"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SAMPLING / SELECTION BIAS</a:t>
            </a:r>
            <a:endParaRPr lang="en-US" sz="750" dirty="0"/>
          </a:p>
        </p:txBody>
      </p:sp>
      <p:sp>
        <p:nvSpPr>
          <p:cNvPr id="40" name="Shape 38"/>
          <p:cNvSpPr/>
          <p:nvPr/>
        </p:nvSpPr>
        <p:spPr>
          <a:xfrm>
            <a:off x="6254496" y="1444752"/>
            <a:ext cx="50292" cy="969264"/>
          </a:xfrm>
          <a:prstGeom prst="rect">
            <a:avLst/>
          </a:prstGeom>
          <a:solidFill>
            <a:srgbClr val="E65100"/>
          </a:solidFill>
          <a:ln w="12700">
            <a:solidFill>
              <a:srgbClr val="E65100"/>
            </a:solidFill>
            <a:prstDash val="solid"/>
          </a:ln>
        </p:spPr>
        <p:txBody>
          <a:bodyPr/>
          <a:lstStyle/>
          <a:p>
            <a:endParaRPr lang="en-AU"/>
          </a:p>
        </p:txBody>
      </p:sp>
      <p:sp>
        <p:nvSpPr>
          <p:cNvPr id="41" name="Shape 39"/>
          <p:cNvSpPr/>
          <p:nvPr/>
        </p:nvSpPr>
        <p:spPr>
          <a:xfrm>
            <a:off x="6304788" y="1444752"/>
            <a:ext cx="2638044" cy="969264"/>
          </a:xfrm>
          <a:prstGeom prst="rect">
            <a:avLst/>
          </a:prstGeom>
          <a:solidFill>
            <a:srgbClr val="ECEFF1"/>
          </a:solidFill>
          <a:ln w="12700">
            <a:solidFill>
              <a:srgbClr val="ECEFF1"/>
            </a:solidFill>
            <a:prstDash val="solid"/>
          </a:ln>
        </p:spPr>
        <p:txBody>
          <a:bodyPr/>
          <a:lstStyle/>
          <a:p>
            <a:endParaRPr lang="en-AU"/>
          </a:p>
        </p:txBody>
      </p:sp>
      <p:sp>
        <p:nvSpPr>
          <p:cNvPr id="42" name="Text 40"/>
          <p:cNvSpPr/>
          <p:nvPr/>
        </p:nvSpPr>
        <p:spPr>
          <a:xfrm>
            <a:off x="6409944" y="1444752"/>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MIT researcher Joy Buolamwini's Gender Shades study (2018) found commercial facial recognition APIs from IBM, Microsoft and Amazon had error rates of less than 1% for light-skinned males, but up to 35% for darker-skinned females.</a:t>
            </a:r>
            <a:endParaRPr lang="en-US" sz="1050" dirty="0"/>
          </a:p>
        </p:txBody>
      </p:sp>
      <p:sp>
        <p:nvSpPr>
          <p:cNvPr id="43" name="Shape 41"/>
          <p:cNvSpPr/>
          <p:nvPr/>
        </p:nvSpPr>
        <p:spPr>
          <a:xfrm>
            <a:off x="6254496" y="2505456"/>
            <a:ext cx="50292" cy="969264"/>
          </a:xfrm>
          <a:prstGeom prst="rect">
            <a:avLst/>
          </a:prstGeom>
          <a:solidFill>
            <a:srgbClr val="E65100"/>
          </a:solidFill>
          <a:ln w="12700">
            <a:solidFill>
              <a:srgbClr val="E65100"/>
            </a:solidFill>
            <a:prstDash val="solid"/>
          </a:ln>
        </p:spPr>
        <p:txBody>
          <a:bodyPr/>
          <a:lstStyle/>
          <a:p>
            <a:endParaRPr lang="en-AU"/>
          </a:p>
        </p:txBody>
      </p:sp>
      <p:sp>
        <p:nvSpPr>
          <p:cNvPr id="44" name="Shape 42"/>
          <p:cNvSpPr/>
          <p:nvPr/>
        </p:nvSpPr>
        <p:spPr>
          <a:xfrm>
            <a:off x="6304788" y="2505456"/>
            <a:ext cx="2638044" cy="969264"/>
          </a:xfrm>
          <a:prstGeom prst="rect">
            <a:avLst/>
          </a:prstGeom>
          <a:solidFill>
            <a:srgbClr val="ECEFF1"/>
          </a:solidFill>
          <a:ln w="12700">
            <a:solidFill>
              <a:srgbClr val="ECEFF1"/>
            </a:solidFill>
            <a:prstDash val="solid"/>
          </a:ln>
        </p:spPr>
        <p:txBody>
          <a:bodyPr/>
          <a:lstStyle/>
          <a:p>
            <a:endParaRPr lang="en-AU"/>
          </a:p>
        </p:txBody>
      </p:sp>
      <p:sp>
        <p:nvSpPr>
          <p:cNvPr id="45" name="Text 43"/>
          <p:cNvSpPr/>
          <p:nvPr/>
        </p:nvSpPr>
        <p:spPr>
          <a:xfrm>
            <a:off x="6409944" y="2505456"/>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Training datasets were overwhelmingly drawn from light-skinned subjects, leaving underrepresented groups systematically misclassified.</a:t>
            </a:r>
            <a:endParaRPr lang="en-US" sz="1050" dirty="0"/>
          </a:p>
        </p:txBody>
      </p:sp>
      <p:sp>
        <p:nvSpPr>
          <p:cNvPr id="46" name="Shape 44"/>
          <p:cNvSpPr/>
          <p:nvPr/>
        </p:nvSpPr>
        <p:spPr>
          <a:xfrm>
            <a:off x="6254496" y="3566160"/>
            <a:ext cx="50292" cy="969264"/>
          </a:xfrm>
          <a:prstGeom prst="rect">
            <a:avLst/>
          </a:prstGeom>
          <a:solidFill>
            <a:srgbClr val="E65100"/>
          </a:solidFill>
          <a:ln w="12700">
            <a:solidFill>
              <a:srgbClr val="E65100"/>
            </a:solidFill>
            <a:prstDash val="solid"/>
          </a:ln>
        </p:spPr>
        <p:txBody>
          <a:bodyPr/>
          <a:lstStyle/>
          <a:p>
            <a:endParaRPr lang="en-AU"/>
          </a:p>
        </p:txBody>
      </p:sp>
      <p:sp>
        <p:nvSpPr>
          <p:cNvPr id="47" name="Shape 45"/>
          <p:cNvSpPr/>
          <p:nvPr/>
        </p:nvSpPr>
        <p:spPr>
          <a:xfrm>
            <a:off x="6304788" y="3566160"/>
            <a:ext cx="2638044" cy="969264"/>
          </a:xfrm>
          <a:prstGeom prst="rect">
            <a:avLst/>
          </a:prstGeom>
          <a:solidFill>
            <a:srgbClr val="ECEFF1"/>
          </a:solidFill>
          <a:ln w="12700">
            <a:solidFill>
              <a:srgbClr val="ECEFF1"/>
            </a:solidFill>
            <a:prstDash val="solid"/>
          </a:ln>
        </p:spPr>
        <p:txBody>
          <a:bodyPr/>
          <a:lstStyle/>
          <a:p>
            <a:endParaRPr lang="en-AU"/>
          </a:p>
        </p:txBody>
      </p:sp>
      <p:sp>
        <p:nvSpPr>
          <p:cNvPr id="48" name="Text 46"/>
          <p:cNvSpPr/>
          <p:nvPr/>
        </p:nvSpPr>
        <p:spPr>
          <a:xfrm>
            <a:off x="6409944" y="3566160"/>
            <a:ext cx="2487168" cy="969264"/>
          </a:xfrm>
          <a:prstGeom prst="rect">
            <a:avLst/>
          </a:prstGeom>
          <a:noFill/>
          <a:ln/>
        </p:spPr>
        <p:txBody>
          <a:bodyPr wrap="square" lIns="0" tIns="0" rIns="0" bIns="0" rtlCol="0" anchor="ctr"/>
          <a:lstStyle/>
          <a:p>
            <a:pPr marL="0" indent="0">
              <a:buNone/>
            </a:pPr>
            <a:r>
              <a:rPr lang="en-US" sz="1050" dirty="0">
                <a:solidFill>
                  <a:srgbClr val="37474F"/>
                </a:solidFill>
                <a:latin typeface="Calibri" pitchFamily="34" charset="0"/>
                <a:ea typeface="Calibri" pitchFamily="34" charset="-122"/>
                <a:cs typeface="Calibri" pitchFamily="34" charset="-120"/>
              </a:rPr>
              <a:t>This has direct implications for law enforcement use of facial recognition — a biased system used for identification can lead to false arrests.</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20" grpId="0" animBg="1"/>
      <p:bldP spid="28" grpId="0" animBg="1"/>
      <p:bldP spid="31" grpId="0" animBg="1"/>
      <p:bldP spid="34" grpId="0" animBg="1"/>
      <p:bldP spid="42" grpId="0" animBg="1"/>
      <p:bldP spid="44" grpId="0" animBg="1"/>
      <p:bldP spid="45"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Mitigating Bias in ML and AI Development</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Bias in ML and AI — SE-12-05</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7" name="Text 5"/>
          <p:cNvSpPr/>
          <p:nvPr/>
        </p:nvSpPr>
        <p:spPr>
          <a:xfrm>
            <a:off x="201168" y="694944"/>
            <a:ext cx="8741664" cy="420624"/>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Identifying and mitigating bias is an active engineering responsibility — not merely an ethical aspiration. The following strategies apply at different stages of the development lifecycle.</a:t>
            </a:r>
            <a:endParaRPr lang="en-US" sz="1100" dirty="0"/>
          </a:p>
        </p:txBody>
      </p:sp>
      <p:sp>
        <p:nvSpPr>
          <p:cNvPr id="8" name="Shape 6"/>
          <p:cNvSpPr/>
          <p:nvPr/>
        </p:nvSpPr>
        <p:spPr>
          <a:xfrm>
            <a:off x="201168" y="1207008"/>
            <a:ext cx="2871216" cy="3566160"/>
          </a:xfrm>
          <a:prstGeom prst="rect">
            <a:avLst/>
          </a:prstGeom>
          <a:solidFill>
            <a:srgbClr val="FFFFFF"/>
          </a:solidFill>
          <a:ln w="15240">
            <a:solidFill>
              <a:srgbClr val="028090"/>
            </a:solidFill>
            <a:prstDash val="solid"/>
          </a:ln>
          <a:effectLst>
            <a:outerShdw blurRad="63500" dist="25400" dir="8100000" algn="bl" rotWithShape="0">
              <a:srgbClr val="000000">
                <a:alpha val="12000"/>
              </a:srgbClr>
            </a:outerShdw>
          </a:effectLst>
        </p:spPr>
        <p:txBody>
          <a:bodyPr/>
          <a:lstStyle/>
          <a:p>
            <a:endParaRPr lang="en-AU"/>
          </a:p>
        </p:txBody>
      </p:sp>
      <p:sp>
        <p:nvSpPr>
          <p:cNvPr id="9" name="Shape 7"/>
          <p:cNvSpPr/>
          <p:nvPr/>
        </p:nvSpPr>
        <p:spPr>
          <a:xfrm>
            <a:off x="201168" y="1207008"/>
            <a:ext cx="2871216" cy="384048"/>
          </a:xfrm>
          <a:prstGeom prst="rect">
            <a:avLst/>
          </a:prstGeom>
          <a:solidFill>
            <a:srgbClr val="028090"/>
          </a:solidFill>
          <a:ln w="12700">
            <a:solidFill>
              <a:srgbClr val="028090"/>
            </a:solidFill>
            <a:prstDash val="solid"/>
          </a:ln>
        </p:spPr>
        <p:txBody>
          <a:bodyPr/>
          <a:lstStyle/>
          <a:p>
            <a:endParaRPr lang="en-AU"/>
          </a:p>
        </p:txBody>
      </p:sp>
      <p:sp>
        <p:nvSpPr>
          <p:cNvPr id="10" name="Text 8"/>
          <p:cNvSpPr/>
          <p:nvPr/>
        </p:nvSpPr>
        <p:spPr>
          <a:xfrm>
            <a:off x="310896" y="1207008"/>
            <a:ext cx="265176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Collection</a:t>
            </a:r>
            <a:endParaRPr lang="en-US" sz="1300" dirty="0"/>
          </a:p>
        </p:txBody>
      </p:sp>
      <p:sp>
        <p:nvSpPr>
          <p:cNvPr id="11" name="Shape 9"/>
          <p:cNvSpPr/>
          <p:nvPr/>
        </p:nvSpPr>
        <p:spPr>
          <a:xfrm>
            <a:off x="292608" y="1673352"/>
            <a:ext cx="201168" cy="201168"/>
          </a:xfrm>
          <a:prstGeom prst="rect">
            <a:avLst/>
          </a:prstGeom>
          <a:solidFill>
            <a:srgbClr val="028090"/>
          </a:solidFill>
          <a:ln w="12700">
            <a:solidFill>
              <a:srgbClr val="028090"/>
            </a:solidFill>
            <a:prstDash val="solid"/>
          </a:ln>
        </p:spPr>
        <p:txBody>
          <a:bodyPr/>
          <a:lstStyle/>
          <a:p>
            <a:endParaRPr lang="en-AU"/>
          </a:p>
        </p:txBody>
      </p:sp>
      <p:sp>
        <p:nvSpPr>
          <p:cNvPr id="12" name="Text 10"/>
          <p:cNvSpPr/>
          <p:nvPr/>
        </p:nvSpPr>
        <p:spPr>
          <a:xfrm>
            <a:off x="292608" y="1673352"/>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3" name="Text 11"/>
          <p:cNvSpPr/>
          <p:nvPr/>
        </p:nvSpPr>
        <p:spPr>
          <a:xfrm>
            <a:off x="548640" y="1673352"/>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Audit training datasets for demographic representativeness before model training begins</a:t>
            </a:r>
            <a:endParaRPr lang="en-US" sz="950" dirty="0"/>
          </a:p>
        </p:txBody>
      </p:sp>
      <p:sp>
        <p:nvSpPr>
          <p:cNvPr id="14" name="Shape 12"/>
          <p:cNvSpPr/>
          <p:nvPr/>
        </p:nvSpPr>
        <p:spPr>
          <a:xfrm>
            <a:off x="292608" y="2423160"/>
            <a:ext cx="201168" cy="201168"/>
          </a:xfrm>
          <a:prstGeom prst="rect">
            <a:avLst/>
          </a:prstGeom>
          <a:solidFill>
            <a:srgbClr val="028090"/>
          </a:solidFill>
          <a:ln w="12700">
            <a:solidFill>
              <a:srgbClr val="028090"/>
            </a:solidFill>
            <a:prstDash val="solid"/>
          </a:ln>
        </p:spPr>
        <p:txBody>
          <a:bodyPr/>
          <a:lstStyle/>
          <a:p>
            <a:endParaRPr lang="en-AU"/>
          </a:p>
        </p:txBody>
      </p:sp>
      <p:sp>
        <p:nvSpPr>
          <p:cNvPr id="15" name="Text 13"/>
          <p:cNvSpPr/>
          <p:nvPr/>
        </p:nvSpPr>
        <p:spPr>
          <a:xfrm>
            <a:off x="292608" y="2423160"/>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6" name="Text 14"/>
          <p:cNvSpPr/>
          <p:nvPr/>
        </p:nvSpPr>
        <p:spPr>
          <a:xfrm>
            <a:off x="548640" y="2423160"/>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Use stratified sampling to ensure all population groups are proportionally represented</a:t>
            </a:r>
            <a:endParaRPr lang="en-US" sz="950" dirty="0"/>
          </a:p>
        </p:txBody>
      </p:sp>
      <p:sp>
        <p:nvSpPr>
          <p:cNvPr id="17" name="Shape 15"/>
          <p:cNvSpPr/>
          <p:nvPr/>
        </p:nvSpPr>
        <p:spPr>
          <a:xfrm>
            <a:off x="292608" y="3172968"/>
            <a:ext cx="201168" cy="201168"/>
          </a:xfrm>
          <a:prstGeom prst="rect">
            <a:avLst/>
          </a:prstGeom>
          <a:solidFill>
            <a:srgbClr val="028090"/>
          </a:solidFill>
          <a:ln w="12700">
            <a:solidFill>
              <a:srgbClr val="028090"/>
            </a:solidFill>
            <a:prstDash val="solid"/>
          </a:ln>
        </p:spPr>
        <p:txBody>
          <a:bodyPr/>
          <a:lstStyle/>
          <a:p>
            <a:endParaRPr lang="en-AU"/>
          </a:p>
        </p:txBody>
      </p:sp>
      <p:sp>
        <p:nvSpPr>
          <p:cNvPr id="18" name="Text 16"/>
          <p:cNvSpPr/>
          <p:nvPr/>
        </p:nvSpPr>
        <p:spPr>
          <a:xfrm>
            <a:off x="292608" y="3172968"/>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9" name="Text 17"/>
          <p:cNvSpPr/>
          <p:nvPr/>
        </p:nvSpPr>
        <p:spPr>
          <a:xfrm>
            <a:off x="548640" y="3172968"/>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Apply the CARE Principles for Indigenous data governance (Collective Benefit, Authority to Control, Responsibility, Ethics)</a:t>
            </a:r>
            <a:endParaRPr lang="en-US" sz="950" dirty="0"/>
          </a:p>
        </p:txBody>
      </p:sp>
      <p:sp>
        <p:nvSpPr>
          <p:cNvPr id="20" name="Shape 18"/>
          <p:cNvSpPr/>
          <p:nvPr/>
        </p:nvSpPr>
        <p:spPr>
          <a:xfrm>
            <a:off x="292608" y="3922776"/>
            <a:ext cx="201168" cy="201168"/>
          </a:xfrm>
          <a:prstGeom prst="rect">
            <a:avLst/>
          </a:prstGeom>
          <a:solidFill>
            <a:srgbClr val="028090"/>
          </a:solidFill>
          <a:ln w="12700">
            <a:solidFill>
              <a:srgbClr val="028090"/>
            </a:solidFill>
            <a:prstDash val="solid"/>
          </a:ln>
        </p:spPr>
        <p:txBody>
          <a:bodyPr/>
          <a:lstStyle/>
          <a:p>
            <a:endParaRPr lang="en-AU"/>
          </a:p>
        </p:txBody>
      </p:sp>
      <p:sp>
        <p:nvSpPr>
          <p:cNvPr id="21" name="Text 19"/>
          <p:cNvSpPr/>
          <p:nvPr/>
        </p:nvSpPr>
        <p:spPr>
          <a:xfrm>
            <a:off x="292608" y="3922776"/>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2" name="Text 20"/>
          <p:cNvSpPr/>
          <p:nvPr/>
        </p:nvSpPr>
        <p:spPr>
          <a:xfrm>
            <a:off x="548640" y="3922776"/>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Document data provenance — record where data came from and who collected it</a:t>
            </a:r>
            <a:endParaRPr lang="en-US" sz="950" dirty="0"/>
          </a:p>
        </p:txBody>
      </p:sp>
      <p:sp>
        <p:nvSpPr>
          <p:cNvPr id="23" name="Shape 21"/>
          <p:cNvSpPr/>
          <p:nvPr/>
        </p:nvSpPr>
        <p:spPr>
          <a:xfrm>
            <a:off x="3182112" y="1207008"/>
            <a:ext cx="2871216" cy="3566160"/>
          </a:xfrm>
          <a:prstGeom prst="rect">
            <a:avLst/>
          </a:prstGeom>
          <a:solidFill>
            <a:srgbClr val="FFFFFF"/>
          </a:solidFill>
          <a:ln w="15240">
            <a:solidFill>
              <a:srgbClr val="1B3A6B"/>
            </a:solidFill>
            <a:prstDash val="solid"/>
          </a:ln>
          <a:effectLst>
            <a:outerShdw blurRad="63500" dist="25400" dir="8100000" algn="bl" rotWithShape="0">
              <a:srgbClr val="000000">
                <a:alpha val="12000"/>
              </a:srgbClr>
            </a:outerShdw>
          </a:effectLst>
        </p:spPr>
        <p:txBody>
          <a:bodyPr/>
          <a:lstStyle/>
          <a:p>
            <a:endParaRPr lang="en-AU"/>
          </a:p>
        </p:txBody>
      </p:sp>
      <p:sp>
        <p:nvSpPr>
          <p:cNvPr id="24" name="Shape 22"/>
          <p:cNvSpPr/>
          <p:nvPr/>
        </p:nvSpPr>
        <p:spPr>
          <a:xfrm>
            <a:off x="3182112" y="1207008"/>
            <a:ext cx="2871216" cy="384048"/>
          </a:xfrm>
          <a:prstGeom prst="rect">
            <a:avLst/>
          </a:prstGeom>
          <a:solidFill>
            <a:srgbClr val="1B3A6B"/>
          </a:solidFill>
          <a:ln w="12700">
            <a:solidFill>
              <a:srgbClr val="1B3A6B"/>
            </a:solidFill>
            <a:prstDash val="solid"/>
          </a:ln>
        </p:spPr>
        <p:txBody>
          <a:bodyPr/>
          <a:lstStyle/>
          <a:p>
            <a:endParaRPr lang="en-AU"/>
          </a:p>
        </p:txBody>
      </p:sp>
      <p:sp>
        <p:nvSpPr>
          <p:cNvPr id="25" name="Text 23"/>
          <p:cNvSpPr/>
          <p:nvPr/>
        </p:nvSpPr>
        <p:spPr>
          <a:xfrm>
            <a:off x="3291840" y="1207008"/>
            <a:ext cx="265176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Model Development</a:t>
            </a:r>
            <a:endParaRPr lang="en-US" sz="1300" dirty="0"/>
          </a:p>
        </p:txBody>
      </p:sp>
      <p:sp>
        <p:nvSpPr>
          <p:cNvPr id="26" name="Shape 24"/>
          <p:cNvSpPr/>
          <p:nvPr/>
        </p:nvSpPr>
        <p:spPr>
          <a:xfrm>
            <a:off x="3273552" y="1673352"/>
            <a:ext cx="201168" cy="201168"/>
          </a:xfrm>
          <a:prstGeom prst="rect">
            <a:avLst/>
          </a:prstGeom>
          <a:solidFill>
            <a:srgbClr val="1B3A6B"/>
          </a:solidFill>
          <a:ln w="12700">
            <a:solidFill>
              <a:srgbClr val="1B3A6B"/>
            </a:solidFill>
            <a:prstDash val="solid"/>
          </a:ln>
        </p:spPr>
        <p:txBody>
          <a:bodyPr/>
          <a:lstStyle/>
          <a:p>
            <a:endParaRPr lang="en-AU"/>
          </a:p>
        </p:txBody>
      </p:sp>
      <p:sp>
        <p:nvSpPr>
          <p:cNvPr id="27" name="Text 25"/>
          <p:cNvSpPr/>
          <p:nvPr/>
        </p:nvSpPr>
        <p:spPr>
          <a:xfrm>
            <a:off x="3273552" y="1673352"/>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8" name="Text 26"/>
          <p:cNvSpPr/>
          <p:nvPr/>
        </p:nvSpPr>
        <p:spPr>
          <a:xfrm>
            <a:off x="3529584" y="1673352"/>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Apply fairness constraints during training to penalise disparate error rates across demographic groups</a:t>
            </a:r>
            <a:endParaRPr lang="en-US" sz="950" dirty="0"/>
          </a:p>
        </p:txBody>
      </p:sp>
      <p:sp>
        <p:nvSpPr>
          <p:cNvPr id="29" name="Shape 27"/>
          <p:cNvSpPr/>
          <p:nvPr/>
        </p:nvSpPr>
        <p:spPr>
          <a:xfrm>
            <a:off x="3273552" y="2423160"/>
            <a:ext cx="201168" cy="201168"/>
          </a:xfrm>
          <a:prstGeom prst="rect">
            <a:avLst/>
          </a:prstGeom>
          <a:solidFill>
            <a:srgbClr val="1B3A6B"/>
          </a:solidFill>
          <a:ln w="12700">
            <a:solidFill>
              <a:srgbClr val="1B3A6B"/>
            </a:solidFill>
            <a:prstDash val="solid"/>
          </a:ln>
        </p:spPr>
        <p:txBody>
          <a:bodyPr/>
          <a:lstStyle/>
          <a:p>
            <a:endParaRPr lang="en-AU"/>
          </a:p>
        </p:txBody>
      </p:sp>
      <p:sp>
        <p:nvSpPr>
          <p:cNvPr id="30" name="Text 28"/>
          <p:cNvSpPr/>
          <p:nvPr/>
        </p:nvSpPr>
        <p:spPr>
          <a:xfrm>
            <a:off x="3273552" y="2423160"/>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1" name="Text 29"/>
          <p:cNvSpPr/>
          <p:nvPr/>
        </p:nvSpPr>
        <p:spPr>
          <a:xfrm>
            <a:off x="3529584" y="2423160"/>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Use adversarial debiasing techniques to train models that cannot predict protected attributes</a:t>
            </a:r>
            <a:endParaRPr lang="en-US" sz="950" dirty="0"/>
          </a:p>
        </p:txBody>
      </p:sp>
      <p:sp>
        <p:nvSpPr>
          <p:cNvPr id="32" name="Shape 30"/>
          <p:cNvSpPr/>
          <p:nvPr/>
        </p:nvSpPr>
        <p:spPr>
          <a:xfrm>
            <a:off x="3273552" y="3172968"/>
            <a:ext cx="201168" cy="201168"/>
          </a:xfrm>
          <a:prstGeom prst="rect">
            <a:avLst/>
          </a:prstGeom>
          <a:solidFill>
            <a:srgbClr val="1B3A6B"/>
          </a:solidFill>
          <a:ln w="12700">
            <a:solidFill>
              <a:srgbClr val="1B3A6B"/>
            </a:solidFill>
            <a:prstDash val="solid"/>
          </a:ln>
        </p:spPr>
        <p:txBody>
          <a:bodyPr/>
          <a:lstStyle/>
          <a:p>
            <a:endParaRPr lang="en-AU"/>
          </a:p>
        </p:txBody>
      </p:sp>
      <p:sp>
        <p:nvSpPr>
          <p:cNvPr id="33" name="Text 31"/>
          <p:cNvSpPr/>
          <p:nvPr/>
        </p:nvSpPr>
        <p:spPr>
          <a:xfrm>
            <a:off x="3273552" y="3172968"/>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4" name="Text 32"/>
          <p:cNvSpPr/>
          <p:nvPr/>
        </p:nvSpPr>
        <p:spPr>
          <a:xfrm>
            <a:off x="3529584" y="3172968"/>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Separate validation datasets by demographic group to surface differential performance</a:t>
            </a:r>
            <a:endParaRPr lang="en-US" sz="950" dirty="0"/>
          </a:p>
        </p:txBody>
      </p:sp>
      <p:sp>
        <p:nvSpPr>
          <p:cNvPr id="35" name="Shape 33"/>
          <p:cNvSpPr/>
          <p:nvPr/>
        </p:nvSpPr>
        <p:spPr>
          <a:xfrm>
            <a:off x="3273552" y="3922776"/>
            <a:ext cx="201168" cy="201168"/>
          </a:xfrm>
          <a:prstGeom prst="rect">
            <a:avLst/>
          </a:prstGeom>
          <a:solidFill>
            <a:srgbClr val="1B3A6B"/>
          </a:solidFill>
          <a:ln w="12700">
            <a:solidFill>
              <a:srgbClr val="1B3A6B"/>
            </a:solidFill>
            <a:prstDash val="solid"/>
          </a:ln>
        </p:spPr>
        <p:txBody>
          <a:bodyPr/>
          <a:lstStyle/>
          <a:p>
            <a:endParaRPr lang="en-AU"/>
          </a:p>
        </p:txBody>
      </p:sp>
      <p:sp>
        <p:nvSpPr>
          <p:cNvPr id="36" name="Text 34"/>
          <p:cNvSpPr/>
          <p:nvPr/>
        </p:nvSpPr>
        <p:spPr>
          <a:xfrm>
            <a:off x="3273552" y="3922776"/>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7" name="Text 35"/>
          <p:cNvSpPr/>
          <p:nvPr/>
        </p:nvSpPr>
        <p:spPr>
          <a:xfrm>
            <a:off x="3529584" y="3922776"/>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Apply interpretability tools (SHAP, LIME) to understand which features drive predictions</a:t>
            </a:r>
            <a:endParaRPr lang="en-US" sz="950" dirty="0"/>
          </a:p>
        </p:txBody>
      </p:sp>
      <p:sp>
        <p:nvSpPr>
          <p:cNvPr id="38" name="Shape 36"/>
          <p:cNvSpPr/>
          <p:nvPr/>
        </p:nvSpPr>
        <p:spPr>
          <a:xfrm>
            <a:off x="6163056" y="1207008"/>
            <a:ext cx="2871216" cy="3566160"/>
          </a:xfrm>
          <a:prstGeom prst="rect">
            <a:avLst/>
          </a:prstGeom>
          <a:solidFill>
            <a:srgbClr val="FFFFFF"/>
          </a:solidFill>
          <a:ln w="15240">
            <a:solidFill>
              <a:srgbClr val="B71C1C"/>
            </a:solidFill>
            <a:prstDash val="solid"/>
          </a:ln>
          <a:effectLst>
            <a:outerShdw blurRad="63500" dist="25400" dir="8100000" algn="bl" rotWithShape="0">
              <a:srgbClr val="000000">
                <a:alpha val="12000"/>
              </a:srgbClr>
            </a:outerShdw>
          </a:effectLst>
        </p:spPr>
        <p:txBody>
          <a:bodyPr/>
          <a:lstStyle/>
          <a:p>
            <a:endParaRPr lang="en-AU"/>
          </a:p>
        </p:txBody>
      </p:sp>
      <p:sp>
        <p:nvSpPr>
          <p:cNvPr id="39" name="Shape 37"/>
          <p:cNvSpPr/>
          <p:nvPr/>
        </p:nvSpPr>
        <p:spPr>
          <a:xfrm>
            <a:off x="6163056" y="1207008"/>
            <a:ext cx="2871216" cy="384048"/>
          </a:xfrm>
          <a:prstGeom prst="rect">
            <a:avLst/>
          </a:prstGeom>
          <a:solidFill>
            <a:srgbClr val="B71C1C"/>
          </a:solidFill>
          <a:ln w="12700">
            <a:solidFill>
              <a:srgbClr val="B71C1C"/>
            </a:solidFill>
            <a:prstDash val="solid"/>
          </a:ln>
        </p:spPr>
        <p:txBody>
          <a:bodyPr/>
          <a:lstStyle/>
          <a:p>
            <a:endParaRPr lang="en-AU"/>
          </a:p>
        </p:txBody>
      </p:sp>
      <p:sp>
        <p:nvSpPr>
          <p:cNvPr id="40" name="Text 38"/>
          <p:cNvSpPr/>
          <p:nvPr/>
        </p:nvSpPr>
        <p:spPr>
          <a:xfrm>
            <a:off x="6272784" y="1207008"/>
            <a:ext cx="265176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Deployment and Review</a:t>
            </a:r>
            <a:endParaRPr lang="en-US" sz="1300" dirty="0"/>
          </a:p>
        </p:txBody>
      </p:sp>
      <p:sp>
        <p:nvSpPr>
          <p:cNvPr id="41" name="Shape 39"/>
          <p:cNvSpPr/>
          <p:nvPr/>
        </p:nvSpPr>
        <p:spPr>
          <a:xfrm>
            <a:off x="6254496" y="1673352"/>
            <a:ext cx="201168" cy="201168"/>
          </a:xfrm>
          <a:prstGeom prst="rect">
            <a:avLst/>
          </a:prstGeom>
          <a:solidFill>
            <a:srgbClr val="B71C1C"/>
          </a:solidFill>
          <a:ln w="12700">
            <a:solidFill>
              <a:srgbClr val="B71C1C"/>
            </a:solidFill>
            <a:prstDash val="solid"/>
          </a:ln>
        </p:spPr>
        <p:txBody>
          <a:bodyPr/>
          <a:lstStyle/>
          <a:p>
            <a:endParaRPr lang="en-AU"/>
          </a:p>
        </p:txBody>
      </p:sp>
      <p:sp>
        <p:nvSpPr>
          <p:cNvPr id="42" name="Text 40"/>
          <p:cNvSpPr/>
          <p:nvPr/>
        </p:nvSpPr>
        <p:spPr>
          <a:xfrm>
            <a:off x="6254496" y="1673352"/>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43" name="Text 41"/>
          <p:cNvSpPr/>
          <p:nvPr/>
        </p:nvSpPr>
        <p:spPr>
          <a:xfrm>
            <a:off x="6510528" y="1673352"/>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Establish ongoing bias monitoring pipelines that measure model fairness metrics post-deployment</a:t>
            </a:r>
            <a:endParaRPr lang="en-US" sz="950" dirty="0"/>
          </a:p>
        </p:txBody>
      </p:sp>
      <p:sp>
        <p:nvSpPr>
          <p:cNvPr id="44" name="Shape 42"/>
          <p:cNvSpPr/>
          <p:nvPr/>
        </p:nvSpPr>
        <p:spPr>
          <a:xfrm>
            <a:off x="6254496" y="2423160"/>
            <a:ext cx="201168" cy="201168"/>
          </a:xfrm>
          <a:prstGeom prst="rect">
            <a:avLst/>
          </a:prstGeom>
          <a:solidFill>
            <a:srgbClr val="B71C1C"/>
          </a:solidFill>
          <a:ln w="12700">
            <a:solidFill>
              <a:srgbClr val="B71C1C"/>
            </a:solidFill>
            <a:prstDash val="solid"/>
          </a:ln>
        </p:spPr>
        <p:txBody>
          <a:bodyPr/>
          <a:lstStyle/>
          <a:p>
            <a:endParaRPr lang="en-AU"/>
          </a:p>
        </p:txBody>
      </p:sp>
      <p:sp>
        <p:nvSpPr>
          <p:cNvPr id="45" name="Text 43"/>
          <p:cNvSpPr/>
          <p:nvPr/>
        </p:nvSpPr>
        <p:spPr>
          <a:xfrm>
            <a:off x="6254496" y="2423160"/>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46" name="Text 44"/>
          <p:cNvSpPr/>
          <p:nvPr/>
        </p:nvSpPr>
        <p:spPr>
          <a:xfrm>
            <a:off x="6510528" y="2423160"/>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Implement human-in-the-loop review for high-stakes automated decisions (credit, healthcare, justice)</a:t>
            </a:r>
            <a:endParaRPr lang="en-US" sz="950" dirty="0"/>
          </a:p>
        </p:txBody>
      </p:sp>
      <p:sp>
        <p:nvSpPr>
          <p:cNvPr id="47" name="Shape 45"/>
          <p:cNvSpPr/>
          <p:nvPr/>
        </p:nvSpPr>
        <p:spPr>
          <a:xfrm>
            <a:off x="6254496" y="3172968"/>
            <a:ext cx="201168" cy="201168"/>
          </a:xfrm>
          <a:prstGeom prst="rect">
            <a:avLst/>
          </a:prstGeom>
          <a:solidFill>
            <a:srgbClr val="B71C1C"/>
          </a:solidFill>
          <a:ln w="12700">
            <a:solidFill>
              <a:srgbClr val="B71C1C"/>
            </a:solidFill>
            <a:prstDash val="solid"/>
          </a:ln>
        </p:spPr>
        <p:txBody>
          <a:bodyPr/>
          <a:lstStyle/>
          <a:p>
            <a:endParaRPr lang="en-AU"/>
          </a:p>
        </p:txBody>
      </p:sp>
      <p:sp>
        <p:nvSpPr>
          <p:cNvPr id="48" name="Text 46"/>
          <p:cNvSpPr/>
          <p:nvPr/>
        </p:nvSpPr>
        <p:spPr>
          <a:xfrm>
            <a:off x="6254496" y="3172968"/>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9" name="Text 47"/>
          <p:cNvSpPr/>
          <p:nvPr/>
        </p:nvSpPr>
        <p:spPr>
          <a:xfrm>
            <a:off x="6510528" y="3172968"/>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Create feedback mechanisms that allow affected users to report apparent bias</a:t>
            </a:r>
            <a:endParaRPr lang="en-US" sz="950" dirty="0"/>
          </a:p>
        </p:txBody>
      </p:sp>
      <p:sp>
        <p:nvSpPr>
          <p:cNvPr id="50" name="Shape 48"/>
          <p:cNvSpPr/>
          <p:nvPr/>
        </p:nvSpPr>
        <p:spPr>
          <a:xfrm>
            <a:off x="6254496" y="3922776"/>
            <a:ext cx="201168" cy="201168"/>
          </a:xfrm>
          <a:prstGeom prst="rect">
            <a:avLst/>
          </a:prstGeom>
          <a:solidFill>
            <a:srgbClr val="B71C1C"/>
          </a:solidFill>
          <a:ln w="12700">
            <a:solidFill>
              <a:srgbClr val="B71C1C"/>
            </a:solidFill>
            <a:prstDash val="solid"/>
          </a:ln>
        </p:spPr>
        <p:txBody>
          <a:bodyPr/>
          <a:lstStyle/>
          <a:p>
            <a:endParaRPr lang="en-AU"/>
          </a:p>
        </p:txBody>
      </p:sp>
      <p:sp>
        <p:nvSpPr>
          <p:cNvPr id="51" name="Text 49"/>
          <p:cNvSpPr/>
          <p:nvPr/>
        </p:nvSpPr>
        <p:spPr>
          <a:xfrm>
            <a:off x="6254496" y="3922776"/>
            <a:ext cx="20116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52" name="Text 50"/>
          <p:cNvSpPr/>
          <p:nvPr/>
        </p:nvSpPr>
        <p:spPr>
          <a:xfrm>
            <a:off x="6510528" y="3922776"/>
            <a:ext cx="2468880" cy="640080"/>
          </a:xfrm>
          <a:prstGeom prst="rect">
            <a:avLst/>
          </a:prstGeom>
          <a:noFill/>
          <a:ln/>
        </p:spPr>
        <p:txBody>
          <a:bodyPr wrap="square" rtlCol="0" anchor="t"/>
          <a:lstStyle/>
          <a:p>
            <a:pPr marL="0" indent="0">
              <a:buNone/>
            </a:pPr>
            <a:r>
              <a:rPr lang="en-US" sz="950" dirty="0">
                <a:solidFill>
                  <a:srgbClr val="37474F"/>
                </a:solidFill>
                <a:latin typeface="Calibri" pitchFamily="34" charset="0"/>
                <a:ea typeface="Calibri" pitchFamily="34" charset="-122"/>
                <a:cs typeface="Calibri" pitchFamily="34" charset="-120"/>
              </a:rPr>
              <a:t>Conduct regular third-party audits with diverse technical and community stakeholders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A84C"/>
          </a:solidFill>
          <a:ln w="12700">
            <a:solidFill>
              <a:srgbClr val="C9A84C"/>
            </a:solidFill>
            <a:prstDash val="solid"/>
          </a:ln>
        </p:spPr>
        <p:txBody>
          <a:bodyPr/>
          <a:lstStyle/>
          <a:p>
            <a:endParaRPr lang="en-AU"/>
          </a:p>
        </p:txBody>
      </p:sp>
      <p:sp>
        <p:nvSpPr>
          <p:cNvPr id="3" name="Shape 1"/>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4" name="Text 2"/>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HSC Exam Preparation</a:t>
            </a:r>
            <a:endParaRPr lang="en-US" sz="800" dirty="0"/>
          </a:p>
        </p:txBody>
      </p:sp>
      <p:sp>
        <p:nvSpPr>
          <p:cNvPr id="5" name="Text 3"/>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sp>
        <p:nvSpPr>
          <p:cNvPr id="6" name="Text 4"/>
          <p:cNvSpPr/>
          <p:nvPr/>
        </p:nvSpPr>
        <p:spPr>
          <a:xfrm>
            <a:off x="347472" y="109728"/>
            <a:ext cx="859536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HSC Model Response — 8-Mark Question</a:t>
            </a:r>
            <a:endParaRPr lang="en-US" sz="1600" dirty="0"/>
          </a:p>
        </p:txBody>
      </p:sp>
      <p:sp>
        <p:nvSpPr>
          <p:cNvPr id="7" name="Shape 5"/>
          <p:cNvSpPr/>
          <p:nvPr/>
        </p:nvSpPr>
        <p:spPr>
          <a:xfrm>
            <a:off x="274320" y="548640"/>
            <a:ext cx="8595360" cy="621792"/>
          </a:xfrm>
          <a:prstGeom prst="rect">
            <a:avLst/>
          </a:prstGeom>
          <a:solidFill>
            <a:srgbClr val="028090"/>
          </a:solidFill>
          <a:ln w="12700">
            <a:solidFill>
              <a:srgbClr val="028090"/>
            </a:solidFill>
            <a:prstDash val="solid"/>
          </a:ln>
        </p:spPr>
        <p:txBody>
          <a:bodyPr/>
          <a:lstStyle/>
          <a:p>
            <a:endParaRPr lang="en-AU"/>
          </a:p>
        </p:txBody>
      </p:sp>
      <p:sp>
        <p:nvSpPr>
          <p:cNvPr id="8" name="Text 6"/>
          <p:cNvSpPr/>
          <p:nvPr/>
        </p:nvSpPr>
        <p:spPr>
          <a:xfrm>
            <a:off x="420624" y="576072"/>
            <a:ext cx="8321040" cy="566928"/>
          </a:xfrm>
          <a:prstGeom prst="rect">
            <a:avLst/>
          </a:prstGeom>
          <a:noFill/>
          <a:ln/>
        </p:spPr>
        <p:txBody>
          <a:bodyPr wrap="square"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Assess the impact of automation on society and the environment. In your answer refer to the impact on workers and discuss the role of bias in ML and AI development. (8 marks)</a:t>
            </a:r>
            <a:endParaRPr lang="en-US" sz="1050" dirty="0"/>
          </a:p>
        </p:txBody>
      </p:sp>
      <p:sp>
        <p:nvSpPr>
          <p:cNvPr id="9" name="Shape 7"/>
          <p:cNvSpPr/>
          <p:nvPr/>
        </p:nvSpPr>
        <p:spPr>
          <a:xfrm>
            <a:off x="274320" y="1243584"/>
            <a:ext cx="8595360" cy="1133856"/>
          </a:xfrm>
          <a:prstGeom prst="rect">
            <a:avLst/>
          </a:prstGeom>
          <a:solidFill>
            <a:srgbClr val="0D2E5A"/>
          </a:solidFill>
          <a:ln w="7620">
            <a:solidFill>
              <a:srgbClr val="C9A84C"/>
            </a:solidFill>
            <a:prstDash val="solid"/>
          </a:ln>
        </p:spPr>
        <p:txBody>
          <a:bodyPr/>
          <a:lstStyle/>
          <a:p>
            <a:endParaRPr lang="en-AU"/>
          </a:p>
        </p:txBody>
      </p:sp>
      <p:sp>
        <p:nvSpPr>
          <p:cNvPr id="10" name="Shape 8"/>
          <p:cNvSpPr/>
          <p:nvPr/>
        </p:nvSpPr>
        <p:spPr>
          <a:xfrm>
            <a:off x="274320" y="1243584"/>
            <a:ext cx="64008" cy="1133856"/>
          </a:xfrm>
          <a:prstGeom prst="rect">
            <a:avLst/>
          </a:prstGeom>
          <a:solidFill>
            <a:srgbClr val="C9A84C"/>
          </a:solidFill>
          <a:ln w="12700">
            <a:solidFill>
              <a:srgbClr val="C9A84C"/>
            </a:solidFill>
            <a:prstDash val="solid"/>
          </a:ln>
        </p:spPr>
        <p:txBody>
          <a:bodyPr/>
          <a:lstStyle/>
          <a:p>
            <a:endParaRPr lang="en-AU"/>
          </a:p>
        </p:txBody>
      </p:sp>
      <p:sp>
        <p:nvSpPr>
          <p:cNvPr id="11" name="Text 9"/>
          <p:cNvSpPr/>
          <p:nvPr/>
        </p:nvSpPr>
        <p:spPr>
          <a:xfrm>
            <a:off x="457200" y="1280160"/>
            <a:ext cx="8302752" cy="201168"/>
          </a:xfrm>
          <a:prstGeom prst="rect">
            <a:avLst/>
          </a:prstGeom>
          <a:noFill/>
          <a:ln/>
        </p:spPr>
        <p:txBody>
          <a:bodyPr wrap="square"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Para 1 — Impact on Workers (Benefits + Concerns)</a:t>
            </a:r>
            <a:endParaRPr lang="en-US" sz="900" dirty="0"/>
          </a:p>
        </p:txBody>
      </p:sp>
      <p:sp>
        <p:nvSpPr>
          <p:cNvPr id="12" name="Text 10"/>
          <p:cNvSpPr/>
          <p:nvPr/>
        </p:nvSpPr>
        <p:spPr>
          <a:xfrm>
            <a:off x="457200" y="1490472"/>
            <a:ext cx="8302752" cy="850392"/>
          </a:xfrm>
          <a:prstGeom prst="rect">
            <a:avLst/>
          </a:prstGeom>
          <a:noFill/>
          <a:ln/>
        </p:spPr>
        <p:txBody>
          <a:bodyPr wrap="square" rtlCol="0" anchor="t"/>
          <a:lstStyle/>
          <a:p>
            <a:pPr marL="0" indent="0">
              <a:buNone/>
            </a:pPr>
            <a:r>
              <a:rPr lang="en-US" sz="850" dirty="0">
                <a:solidFill>
                  <a:srgbClr val="FFFFFF"/>
                </a:solidFill>
                <a:latin typeface="Calibri" pitchFamily="34" charset="0"/>
                <a:ea typeface="Calibri" pitchFamily="34" charset="-122"/>
                <a:cs typeface="Calibri" pitchFamily="34" charset="-120"/>
              </a:rPr>
              <a:t>The deployment of ML and AI-driven automation has significantly altered both the safety and composition of the workforce. In high-risk industries such as mining and chemical processing, autonomous ML-guided systems operate in environments that would be life-threatening for human workers, reducing occupational injury and fatality rates. Simultaneously, however, automation displaces workers performing routine and repetitive tasks — including data entry, basic logistics and assembly — creating structural unemployment in communities dependent on these roles. Without substantial government investment in retraining programs aligned to emerging technical skills, this displacement risks widening socioeconomic inequality rather than distributing the productivity gains of automation equitably across society.</a:t>
            </a:r>
            <a:endParaRPr lang="en-US" sz="850" dirty="0"/>
          </a:p>
        </p:txBody>
      </p:sp>
      <p:sp>
        <p:nvSpPr>
          <p:cNvPr id="13" name="Shape 11"/>
          <p:cNvSpPr/>
          <p:nvPr/>
        </p:nvSpPr>
        <p:spPr>
          <a:xfrm>
            <a:off x="274320" y="2468880"/>
            <a:ext cx="8595360" cy="1133856"/>
          </a:xfrm>
          <a:prstGeom prst="rect">
            <a:avLst/>
          </a:prstGeom>
          <a:solidFill>
            <a:srgbClr val="0A3D52"/>
          </a:solidFill>
          <a:ln w="7620">
            <a:solidFill>
              <a:srgbClr val="C9A84C"/>
            </a:solidFill>
            <a:prstDash val="solid"/>
          </a:ln>
        </p:spPr>
        <p:txBody>
          <a:bodyPr/>
          <a:lstStyle/>
          <a:p>
            <a:endParaRPr lang="en-AU"/>
          </a:p>
        </p:txBody>
      </p:sp>
      <p:sp>
        <p:nvSpPr>
          <p:cNvPr id="14" name="Shape 12"/>
          <p:cNvSpPr/>
          <p:nvPr/>
        </p:nvSpPr>
        <p:spPr>
          <a:xfrm>
            <a:off x="274320" y="2468880"/>
            <a:ext cx="64008" cy="1133856"/>
          </a:xfrm>
          <a:prstGeom prst="rect">
            <a:avLst/>
          </a:prstGeom>
          <a:solidFill>
            <a:srgbClr val="C9A84C"/>
          </a:solidFill>
          <a:ln w="12700">
            <a:solidFill>
              <a:srgbClr val="C9A84C"/>
            </a:solidFill>
            <a:prstDash val="solid"/>
          </a:ln>
        </p:spPr>
        <p:txBody>
          <a:bodyPr/>
          <a:lstStyle/>
          <a:p>
            <a:endParaRPr lang="en-AU"/>
          </a:p>
        </p:txBody>
      </p:sp>
      <p:sp>
        <p:nvSpPr>
          <p:cNvPr id="15" name="Text 13"/>
          <p:cNvSpPr/>
          <p:nvPr/>
        </p:nvSpPr>
        <p:spPr>
          <a:xfrm>
            <a:off x="457200" y="2505456"/>
            <a:ext cx="8302752" cy="201168"/>
          </a:xfrm>
          <a:prstGeom prst="rect">
            <a:avLst/>
          </a:prstGeom>
          <a:noFill/>
          <a:ln/>
        </p:spPr>
        <p:txBody>
          <a:bodyPr wrap="square"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Para 2 — Environmental Dimension</a:t>
            </a:r>
            <a:endParaRPr lang="en-US" sz="900" dirty="0"/>
          </a:p>
        </p:txBody>
      </p:sp>
      <p:sp>
        <p:nvSpPr>
          <p:cNvPr id="16" name="Text 14"/>
          <p:cNvSpPr/>
          <p:nvPr/>
        </p:nvSpPr>
        <p:spPr>
          <a:xfrm>
            <a:off x="457200" y="2715768"/>
            <a:ext cx="8302752" cy="731520"/>
          </a:xfrm>
          <a:prstGeom prst="rect">
            <a:avLst/>
          </a:prstGeom>
          <a:noFill/>
          <a:ln/>
        </p:spPr>
        <p:txBody>
          <a:bodyPr wrap="square" rtlCol="0" anchor="t"/>
          <a:lstStyle/>
          <a:p>
            <a:pPr marL="0" indent="0">
              <a:buNone/>
            </a:pPr>
            <a:r>
              <a:rPr lang="en-US" sz="850" dirty="0">
                <a:solidFill>
                  <a:srgbClr val="FFFFFF"/>
                </a:solidFill>
                <a:latin typeface="Calibri" pitchFamily="34" charset="0"/>
                <a:ea typeface="Calibri" pitchFamily="34" charset="-122"/>
                <a:cs typeface="Calibri" pitchFamily="34" charset="-120"/>
              </a:rPr>
              <a:t>The environmental impact of automation is similarly double-edged. ML systems optimising supply chains and energy distribution have measurably reduced industrial waste, food spoilage and grid energy losses. However, the computational infrastructure underpinning these gains — particularly the training of large ML models and the continuous operation of data centres — consumes significant electrical energy and contributes to carbon emissions and growing volumes of electronic waste. A balanced assessment must weigh localised industrial savings against the global environmental cost of the digital infrastructure on which automation depends.</a:t>
            </a:r>
            <a:endParaRPr lang="en-US" sz="850" dirty="0"/>
          </a:p>
        </p:txBody>
      </p:sp>
      <p:sp>
        <p:nvSpPr>
          <p:cNvPr id="17" name="Shape 15"/>
          <p:cNvSpPr/>
          <p:nvPr/>
        </p:nvSpPr>
        <p:spPr>
          <a:xfrm>
            <a:off x="274320" y="3694176"/>
            <a:ext cx="8595360" cy="1133856"/>
          </a:xfrm>
          <a:prstGeom prst="rect">
            <a:avLst/>
          </a:prstGeom>
          <a:solidFill>
            <a:srgbClr val="0D4040"/>
          </a:solidFill>
          <a:ln w="7620">
            <a:solidFill>
              <a:srgbClr val="C9A84C"/>
            </a:solidFill>
            <a:prstDash val="solid"/>
          </a:ln>
        </p:spPr>
        <p:txBody>
          <a:bodyPr/>
          <a:lstStyle/>
          <a:p>
            <a:endParaRPr lang="en-AU"/>
          </a:p>
        </p:txBody>
      </p:sp>
      <p:sp>
        <p:nvSpPr>
          <p:cNvPr id="18" name="Shape 16"/>
          <p:cNvSpPr/>
          <p:nvPr/>
        </p:nvSpPr>
        <p:spPr>
          <a:xfrm>
            <a:off x="274320" y="3694176"/>
            <a:ext cx="64008" cy="1133856"/>
          </a:xfrm>
          <a:prstGeom prst="rect">
            <a:avLst/>
          </a:prstGeom>
          <a:solidFill>
            <a:srgbClr val="C9A84C"/>
          </a:solidFill>
          <a:ln w="12700">
            <a:solidFill>
              <a:srgbClr val="C9A84C"/>
            </a:solidFill>
            <a:prstDash val="solid"/>
          </a:ln>
        </p:spPr>
        <p:txBody>
          <a:bodyPr/>
          <a:lstStyle/>
          <a:p>
            <a:endParaRPr lang="en-AU"/>
          </a:p>
        </p:txBody>
      </p:sp>
      <p:sp>
        <p:nvSpPr>
          <p:cNvPr id="19" name="Text 17"/>
          <p:cNvSpPr/>
          <p:nvPr/>
        </p:nvSpPr>
        <p:spPr>
          <a:xfrm>
            <a:off x="457200" y="3730752"/>
            <a:ext cx="8302752" cy="201168"/>
          </a:xfrm>
          <a:prstGeom prst="rect">
            <a:avLst/>
          </a:prstGeom>
          <a:noFill/>
          <a:ln/>
        </p:spPr>
        <p:txBody>
          <a:bodyPr wrap="square"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Para 3 — Bias in ML/AI</a:t>
            </a:r>
            <a:endParaRPr lang="en-US" sz="900" dirty="0"/>
          </a:p>
        </p:txBody>
      </p:sp>
      <p:sp>
        <p:nvSpPr>
          <p:cNvPr id="20" name="Text 18"/>
          <p:cNvSpPr/>
          <p:nvPr/>
        </p:nvSpPr>
        <p:spPr>
          <a:xfrm>
            <a:off x="457200" y="3886200"/>
            <a:ext cx="8302752" cy="850392"/>
          </a:xfrm>
          <a:prstGeom prst="rect">
            <a:avLst/>
          </a:prstGeom>
          <a:noFill/>
          <a:ln/>
        </p:spPr>
        <p:txBody>
          <a:bodyPr wrap="square" rtlCol="0" anchor="t"/>
          <a:lstStyle/>
          <a:p>
            <a:pPr marL="0" indent="0">
              <a:buNone/>
            </a:pPr>
            <a:r>
              <a:rPr lang="en-US" sz="850" dirty="0">
                <a:solidFill>
                  <a:srgbClr val="FFFFFF"/>
                </a:solidFill>
                <a:latin typeface="Calibri" pitchFamily="34" charset="0"/>
                <a:ea typeface="Calibri" pitchFamily="34" charset="-122"/>
                <a:cs typeface="Calibri" pitchFamily="34" charset="-120"/>
              </a:rPr>
              <a:t>The integrity of ML and AI solutions is fundamentally dependent on the quality and representativeness of training data. Dataset source bias occurs when training data fails to reflect the diversity of the population the model will serve, causing systematic disparities in model performance. The Gender Shades study demonstrated that commercial facial recognition systems achieved error rates of up to 35% for darker-skinned females compared to under 1% for light-skinned males — a direct consequence of non-representative training datasets. Human bias introduced during data labelling and feature selection further compounds these effects, as documented in Amazon's automated hiring tool, which reproduced historical gender inequity from its training data. Developers must therefore apply representativeness audits, fairness constraints and ongoing post-deployment monitoring to identify and mitigate bias throughout the ML development lifecycle.</a:t>
            </a:r>
            <a:endParaRPr lang="en-US" sz="850" dirty="0"/>
          </a:p>
        </p:txBody>
      </p:sp>
      <p:sp>
        <p:nvSpPr>
          <p:cNvPr id="21" name="Shape 19"/>
          <p:cNvSpPr/>
          <p:nvPr/>
        </p:nvSpPr>
        <p:spPr>
          <a:xfrm>
            <a:off x="274320" y="4800600"/>
            <a:ext cx="8595360" cy="201168"/>
          </a:xfrm>
          <a:prstGeom prst="rect">
            <a:avLst/>
          </a:prstGeom>
          <a:solidFill>
            <a:srgbClr val="C9A84C"/>
          </a:solidFill>
          <a:ln w="12700">
            <a:solidFill>
              <a:srgbClr val="C9A84C"/>
            </a:solidFill>
            <a:prstDash val="solid"/>
          </a:ln>
        </p:spPr>
        <p:txBody>
          <a:bodyPr/>
          <a:lstStyle/>
          <a:p>
            <a:endParaRPr lang="en-AU"/>
          </a:p>
        </p:txBody>
      </p:sp>
      <p:sp>
        <p:nvSpPr>
          <p:cNvPr id="22" name="Text 20"/>
          <p:cNvSpPr/>
          <p:nvPr/>
        </p:nvSpPr>
        <p:spPr>
          <a:xfrm>
            <a:off x="347472" y="4809744"/>
            <a:ext cx="8449056" cy="182880"/>
          </a:xfrm>
          <a:prstGeom prst="rect">
            <a:avLst/>
          </a:prstGeom>
          <a:noFill/>
          <a:ln/>
        </p:spPr>
        <p:txBody>
          <a:bodyPr wrap="square" rtlCol="0" anchor="ctr"/>
          <a:lstStyle/>
          <a:p>
            <a:pPr marL="0" indent="0" algn="ctr">
              <a:buNone/>
            </a:pPr>
            <a:r>
              <a:rPr lang="en-US" sz="800" b="1" dirty="0">
                <a:solidFill>
                  <a:srgbClr val="1B3A6B"/>
                </a:solidFill>
                <a:latin typeface="Calibri" pitchFamily="34" charset="0"/>
                <a:ea typeface="Calibri" pitchFamily="34" charset="-122"/>
                <a:cs typeface="Calibri" pitchFamily="34" charset="-120"/>
              </a:rPr>
              <a:t>Band 6 markers: balanced judgement  |  specific named examples  |  both benefits AND costs  |  technical terminology used accurately</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9A84C"/>
          </a:solidFill>
          <a:ln w="12700">
            <a:solidFill>
              <a:srgbClr val="C9A84C"/>
            </a:solidFill>
            <a:prstDash val="solid"/>
          </a:ln>
        </p:spPr>
        <p:txBody>
          <a:bodyPr/>
          <a:lstStyle/>
          <a:p>
            <a:endParaRPr lang="en-AU"/>
          </a:p>
        </p:txBody>
      </p:sp>
      <p:sp>
        <p:nvSpPr>
          <p:cNvPr id="3" name="Text 1"/>
          <p:cNvSpPr/>
          <p:nvPr/>
        </p:nvSpPr>
        <p:spPr>
          <a:xfrm>
            <a:off x="201168" y="109728"/>
            <a:ext cx="8686800" cy="457200"/>
          </a:xfrm>
          <a:prstGeom prst="rect">
            <a:avLst/>
          </a:prstGeom>
          <a:noFill/>
          <a:ln/>
        </p:spPr>
        <p:txBody>
          <a:bodyPr wrap="square" lIns="0" tIns="0" rIns="0" bIns="0" rtlCol="0" anchor="ctr"/>
          <a:lstStyle/>
          <a:p>
            <a:pPr marL="0" indent="0">
              <a:buNone/>
            </a:pPr>
            <a:r>
              <a:rPr lang="en-US" sz="2000" b="1" dirty="0">
                <a:solidFill>
                  <a:srgbClr val="1B3A6B"/>
                </a:solidFill>
                <a:latin typeface="Calibri" pitchFamily="34" charset="0"/>
                <a:ea typeface="Calibri" pitchFamily="34" charset="-122"/>
                <a:cs typeface="Calibri" pitchFamily="34" charset="-120"/>
              </a:rPr>
              <a:t>Topic Summary — Significance and Impact of ML and AI</a:t>
            </a:r>
            <a:endParaRPr lang="en-US" sz="2000" dirty="0"/>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en-AU"/>
          </a:p>
        </p:txBody>
      </p:sp>
      <p:sp>
        <p:nvSpPr>
          <p:cNvPr id="5" name="Text 3"/>
          <p:cNvSpPr/>
          <p:nvPr/>
        </p:nvSpPr>
        <p:spPr>
          <a:xfrm>
            <a:off x="182880" y="4901184"/>
            <a:ext cx="64008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NSW HSC Software Engineering  |  Software Automation  |  Revision Summary</a:t>
            </a:r>
            <a:endParaRPr lang="en-US" sz="800" dirty="0"/>
          </a:p>
        </p:txBody>
      </p:sp>
      <p:sp>
        <p:nvSpPr>
          <p:cNvPr id="6" name="Text 4"/>
          <p:cNvSpPr/>
          <p:nvPr/>
        </p:nvSpPr>
        <p:spPr>
          <a:xfrm>
            <a:off x="6583680" y="4901184"/>
            <a:ext cx="2377440" cy="228600"/>
          </a:xfrm>
          <a:prstGeom prst="rect">
            <a:avLst/>
          </a:prstGeom>
          <a:noFill/>
          <a:ln/>
        </p:spPr>
        <p:txBody>
          <a:bodyPr wrap="square" rtlCol="0" anchor="ctr"/>
          <a:lstStyle/>
          <a:p>
            <a:pPr marL="0" indent="0" algn="r">
              <a:buNone/>
            </a:pPr>
            <a:r>
              <a:rPr lang="en-US" sz="800" dirty="0">
                <a:solidFill>
                  <a:srgbClr val="C9A84C"/>
                </a:solidFill>
                <a:latin typeface="Calibri" pitchFamily="34" charset="0"/>
                <a:ea typeface="Calibri" pitchFamily="34" charset="-122"/>
                <a:cs typeface="Calibri" pitchFamily="34" charset="-120"/>
              </a:rPr>
              <a:t>SE-12-03  SE-12-05</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01168" y="694944"/>
          <a:ext cx="8741664" cy="3419856"/>
        </p:xfrm>
        <a:graphic>
          <a:graphicData uri="http://schemas.openxmlformats.org/drawingml/2006/table">
            <a:tbl>
              <a:tblPr/>
              <a:tblGrid>
                <a:gridCol w="1645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975104">
                  <a:extLst>
                    <a:ext uri="{9D8B030D-6E8A-4147-A177-3AD203B41FA5}">
                      <a16:colId xmlns:a16="http://schemas.microsoft.com/office/drawing/2014/main" val="20003"/>
                    </a:ext>
                  </a:extLst>
                </a:gridCol>
              </a:tblGrid>
              <a:tr h="34747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Key Benefit / Positive Impact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6B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Key Risk / Negative Impact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71C1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Exam Keyword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384048">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Worker Safety</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Removes humans from hazardous environments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Displacement without retraining pathways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37474F"/>
                          </a:solidFill>
                          <a:latin typeface="Calibri" pitchFamily="34" charset="0"/>
                          <a:ea typeface="Calibri" pitchFamily="34" charset="-122"/>
                          <a:cs typeface="Calibri" pitchFamily="34" charset="-120"/>
                        </a:rPr>
                        <a:t>Displacement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Disability Access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Assistive AI expands independence and employment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Biased training data excludes the group it should serve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37474F"/>
                          </a:solidFill>
                          <a:latin typeface="Calibri" pitchFamily="34" charset="0"/>
                          <a:ea typeface="Calibri" pitchFamily="34" charset="-122"/>
                          <a:cs typeface="Calibri" pitchFamily="34" charset="-120"/>
                        </a:rPr>
                        <a:t>Accessibility</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Employment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New high-skill roles: ML engineers, AI ethics officers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Structural unemployment for routine workers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37474F"/>
                          </a:solidFill>
                          <a:latin typeface="Calibri" pitchFamily="34" charset="0"/>
                          <a:ea typeface="Calibri" pitchFamily="34" charset="-122"/>
                          <a:cs typeface="Calibri" pitchFamily="34" charset="-120"/>
                        </a:rPr>
                        <a:t>Structural unemployment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Environment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Supply chain optimisation reduces waste and emissions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Training LLMs has enormous carbon footprint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37474F"/>
                          </a:solidFill>
                          <a:latin typeface="Calibri" pitchFamily="34" charset="0"/>
                          <a:ea typeface="Calibri" pitchFamily="34" charset="-122"/>
                          <a:cs typeface="Calibri" pitchFamily="34" charset="-120"/>
                        </a:rPr>
                        <a:t>Carbon footprint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Economy</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Productivity gains, new industries, global competitiveness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Wealth concentrates with capital owners, not workers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37474F"/>
                          </a:solidFill>
                          <a:latin typeface="Calibri" pitchFamily="34" charset="0"/>
                          <a:ea typeface="Calibri" pitchFamily="34" charset="-122"/>
                          <a:cs typeface="Calibri" pitchFamily="34" charset="-120"/>
                        </a:rPr>
                        <a:t>Wealth inequality</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Psychological Responses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AI designed for stress states improves accuracy in crisis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Automation bias and anchoring lead to over-reliance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37474F"/>
                          </a:solidFill>
                          <a:latin typeface="Calibri" pitchFamily="34" charset="0"/>
                          <a:ea typeface="Calibri" pitchFamily="34" charset="-122"/>
                          <a:cs typeface="Calibri" pitchFamily="34" charset="-120"/>
                        </a:rPr>
                        <a:t>Automation bias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Cultural/Belief Systems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Inclusive training data improves global AI utility</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Cultural bias in NLP produces offensive or unusable outputs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37474F"/>
                          </a:solidFill>
                          <a:latin typeface="Calibri" pitchFamily="34" charset="0"/>
                          <a:ea typeface="Calibri" pitchFamily="34" charset="-122"/>
                          <a:cs typeface="Calibri" pitchFamily="34" charset="-120"/>
                        </a:rPr>
                        <a:t>Cultural protocols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Dataset Source Bias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Bias auditing improves model fairness and reliability</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37474F"/>
                          </a:solidFill>
                          <a:latin typeface="Calibri" pitchFamily="34" charset="0"/>
                          <a:ea typeface="Calibri" pitchFamily="34" charset="-122"/>
                          <a:cs typeface="Calibri" pitchFamily="34" charset="-120"/>
                        </a:rPr>
                        <a:t>Unrepresentative data reproduces systemic inequity</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37474F"/>
                          </a:solidFill>
                          <a:latin typeface="Calibri" pitchFamily="34" charset="0"/>
                          <a:ea typeface="Calibri" pitchFamily="34" charset="-122"/>
                          <a:cs typeface="Calibri" pitchFamily="34" charset="-120"/>
                        </a:rPr>
                        <a:t>Representativeness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498F1F8388FE47BDFE6C6EBC9FBC97" ma:contentTypeVersion="12" ma:contentTypeDescription="Create a new document." ma:contentTypeScope="" ma:versionID="3427986c250e7afe9158bc5715926d56">
  <xsd:schema xmlns:xsd="http://www.w3.org/2001/XMLSchema" xmlns:xs="http://www.w3.org/2001/XMLSchema" xmlns:p="http://schemas.microsoft.com/office/2006/metadata/properties" xmlns:ns2="a18c8287-e67d-4153-9c7a-3211f93ba17c" xmlns:ns3="b184bd36-9bc1-425f-a269-985a55be00b0" targetNamespace="http://schemas.microsoft.com/office/2006/metadata/properties" ma:root="true" ma:fieldsID="35970ea7f66336c0b1829e04b3611d28" ns2:_="" ns3:_="">
    <xsd:import namespace="a18c8287-e67d-4153-9c7a-3211f93ba17c"/>
    <xsd:import namespace="b184bd36-9bc1-425f-a269-985a55be00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8c8287-e67d-4153-9c7a-3211f93ba1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03cb54f-a539-4214-b742-115fcddb040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184bd36-9bc1-425f-a269-985a55be00b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1e25aba-d57d-4f75-9c5c-87460aebaadd}" ma:internalName="TaxCatchAll" ma:showField="CatchAllData" ma:web="b184bd36-9bc1-425f-a269-985a55be00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18c8287-e67d-4153-9c7a-3211f93ba17c">
      <Terms xmlns="http://schemas.microsoft.com/office/infopath/2007/PartnerControls"/>
    </lcf76f155ced4ddcb4097134ff3c332f>
    <TaxCatchAll xmlns="b184bd36-9bc1-425f-a269-985a55be00b0" xsi:nil="true"/>
  </documentManagement>
</p:properties>
</file>

<file path=customXml/itemProps1.xml><?xml version="1.0" encoding="utf-8"?>
<ds:datastoreItem xmlns:ds="http://schemas.openxmlformats.org/officeDocument/2006/customXml" ds:itemID="{E256948E-D544-4D17-B282-3A26C48230F9}"/>
</file>

<file path=customXml/itemProps2.xml><?xml version="1.0" encoding="utf-8"?>
<ds:datastoreItem xmlns:ds="http://schemas.openxmlformats.org/officeDocument/2006/customXml" ds:itemID="{C490A357-8196-45A3-AD94-4FB6C8908400}"/>
</file>

<file path=customXml/itemProps3.xml><?xml version="1.0" encoding="utf-8"?>
<ds:datastoreItem xmlns:ds="http://schemas.openxmlformats.org/officeDocument/2006/customXml" ds:itemID="{0E9419AC-9B27-4B01-9408-D9F95332DCD6}"/>
</file>

<file path=docProps/app.xml><?xml version="1.0" encoding="utf-8"?>
<Properties xmlns="http://schemas.openxmlformats.org/officeDocument/2006/extended-properties" xmlns:vt="http://schemas.openxmlformats.org/officeDocument/2006/docPropsVTypes">
  <TotalTime>13</TotalTime>
  <Words>3291</Words>
  <Application>Microsoft Macintosh PowerPoint</Application>
  <PresentationFormat>On-screen Show (16:9)</PresentationFormat>
  <Paragraphs>313</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Significance and Impact of ML and AI</dc:title>
  <dc:subject>PptxGenJS Presentation</dc:subject>
  <dc:creator>HSC Software Engineering — Knox Grammar School</dc:creator>
  <cp:lastModifiedBy>Wenshuo Li</cp:lastModifiedBy>
  <cp:revision>4</cp:revision>
  <dcterms:created xsi:type="dcterms:W3CDTF">2026-06-04T00:28:07Z</dcterms:created>
  <dcterms:modified xsi:type="dcterms:W3CDTF">2026-06-08T22:03:31Z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0x01010071498F1F8388FE47BDFE6C6EBC9FBC97</vt:lpwstr>
  </property>
</Properties>
</file>