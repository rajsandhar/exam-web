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DF9298-9AB1-E046-A362-651E4219728F}" v="7" dt="2026-06-04T00:00:05.1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836"/>
    <p:restoredTop sz="94610"/>
  </p:normalViewPr>
  <p:slideViewPr>
    <p:cSldViewPr snapToGrid="0" snapToObjects="1">
      <p:cViewPr varScale="1">
        <p:scale>
          <a:sx n="156" d="100"/>
          <a:sy n="156" d="100"/>
        </p:scale>
        <p:origin x="544" y="1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enshuo Li" userId="3b3b8587-f8db-4b07-819a-a1dc11bcd0ea" providerId="ADAL" clId="{BF59C9FF-5E3B-5C96-8E08-0F8254AB57D1}"/>
    <pc:docChg chg="undo custSel addSld modSld">
      <pc:chgData name="Wenshuo Li" userId="3b3b8587-f8db-4b07-819a-a1dc11bcd0ea" providerId="ADAL" clId="{BF59C9FF-5E3B-5C96-8E08-0F8254AB57D1}" dt="2026-06-04T01:15:56.173" v="103" actId="13926"/>
      <pc:docMkLst>
        <pc:docMk/>
      </pc:docMkLst>
      <pc:sldChg chg="modSp mod">
        <pc:chgData name="Wenshuo Li" userId="3b3b8587-f8db-4b07-819a-a1dc11bcd0ea" providerId="ADAL" clId="{BF59C9FF-5E3B-5C96-8E08-0F8254AB57D1}" dt="2026-06-02T04:07:18.861" v="23" actId="108"/>
        <pc:sldMkLst>
          <pc:docMk/>
          <pc:sldMk cId="0" sldId="257"/>
        </pc:sldMkLst>
        <pc:spChg chg="mod">
          <ac:chgData name="Wenshuo Li" userId="3b3b8587-f8db-4b07-819a-a1dc11bcd0ea" providerId="ADAL" clId="{BF59C9FF-5E3B-5C96-8E08-0F8254AB57D1}" dt="2026-06-02T04:07:00.777" v="7" actId="403"/>
          <ac:spMkLst>
            <pc:docMk/>
            <pc:sldMk cId="0" sldId="257"/>
            <ac:spMk id="9" creationId="{00000000-0000-0000-0000-000000000000}"/>
          </ac:spMkLst>
        </pc:spChg>
        <pc:spChg chg="mod">
          <ac:chgData name="Wenshuo Li" userId="3b3b8587-f8db-4b07-819a-a1dc11bcd0ea" providerId="ADAL" clId="{BF59C9FF-5E3B-5C96-8E08-0F8254AB57D1}" dt="2026-06-02T04:07:05.211" v="13" actId="404"/>
          <ac:spMkLst>
            <pc:docMk/>
            <pc:sldMk cId="0" sldId="257"/>
            <ac:spMk id="16" creationId="{00000000-0000-0000-0000-000000000000}"/>
          </ac:spMkLst>
        </pc:spChg>
        <pc:spChg chg="mod">
          <ac:chgData name="Wenshuo Li" userId="3b3b8587-f8db-4b07-819a-a1dc11bcd0ea" providerId="ADAL" clId="{BF59C9FF-5E3B-5C96-8E08-0F8254AB57D1}" dt="2026-06-02T04:07:13.561" v="15" actId="1076"/>
          <ac:spMkLst>
            <pc:docMk/>
            <pc:sldMk cId="0" sldId="257"/>
            <ac:spMk id="20" creationId="{00000000-0000-0000-0000-000000000000}"/>
          </ac:spMkLst>
        </pc:spChg>
        <pc:spChg chg="mod">
          <ac:chgData name="Wenshuo Li" userId="3b3b8587-f8db-4b07-819a-a1dc11bcd0ea" providerId="ADAL" clId="{BF59C9FF-5E3B-5C96-8E08-0F8254AB57D1}" dt="2026-06-02T04:07:14.659" v="18" actId="108"/>
          <ac:spMkLst>
            <pc:docMk/>
            <pc:sldMk cId="0" sldId="257"/>
            <ac:spMk id="23" creationId="{00000000-0000-0000-0000-000000000000}"/>
          </ac:spMkLst>
        </pc:spChg>
        <pc:spChg chg="mod">
          <ac:chgData name="Wenshuo Li" userId="3b3b8587-f8db-4b07-819a-a1dc11bcd0ea" providerId="ADAL" clId="{BF59C9FF-5E3B-5C96-8E08-0F8254AB57D1}" dt="2026-06-02T04:07:18.861" v="23" actId="108"/>
          <ac:spMkLst>
            <pc:docMk/>
            <pc:sldMk cId="0" sldId="257"/>
            <ac:spMk id="30" creationId="{00000000-0000-0000-0000-000000000000}"/>
          </ac:spMkLst>
        </pc:spChg>
      </pc:sldChg>
      <pc:sldChg chg="addSp delSp modSp mod">
        <pc:chgData name="Wenshuo Li" userId="3b3b8587-f8db-4b07-819a-a1dc11bcd0ea" providerId="ADAL" clId="{BF59C9FF-5E3B-5C96-8E08-0F8254AB57D1}" dt="2026-06-02T04:10:15.065" v="54" actId="1076"/>
        <pc:sldMkLst>
          <pc:docMk/>
          <pc:sldMk cId="0" sldId="260"/>
        </pc:sldMkLst>
        <pc:spChg chg="mod">
          <ac:chgData name="Wenshuo Li" userId="3b3b8587-f8db-4b07-819a-a1dc11bcd0ea" providerId="ADAL" clId="{BF59C9FF-5E3B-5C96-8E08-0F8254AB57D1}" dt="2026-06-02T04:10:15.065" v="54" actId="1076"/>
          <ac:spMkLst>
            <pc:docMk/>
            <pc:sldMk cId="0" sldId="260"/>
            <ac:spMk id="40" creationId="{00000000-0000-0000-0000-000000000000}"/>
          </ac:spMkLst>
        </pc:spChg>
        <pc:picChg chg="add mod">
          <ac:chgData name="Wenshuo Li" userId="3b3b8587-f8db-4b07-819a-a1dc11bcd0ea" providerId="ADAL" clId="{BF59C9FF-5E3B-5C96-8E08-0F8254AB57D1}" dt="2026-06-02T04:10:09.899" v="52" actId="1076"/>
          <ac:picMkLst>
            <pc:docMk/>
            <pc:sldMk cId="0" sldId="260"/>
            <ac:picMk id="45" creationId="{14DB94EE-808F-5402-3FC0-D6B3257B7BD9}"/>
          </ac:picMkLst>
        </pc:picChg>
      </pc:sldChg>
      <pc:sldChg chg="modSp mod">
        <pc:chgData name="Wenshuo Li" userId="3b3b8587-f8db-4b07-819a-a1dc11bcd0ea" providerId="ADAL" clId="{BF59C9FF-5E3B-5C96-8E08-0F8254AB57D1}" dt="2026-06-04T01:15:56.173" v="103" actId="13926"/>
        <pc:sldMkLst>
          <pc:docMk/>
          <pc:sldMk cId="0" sldId="262"/>
        </pc:sldMkLst>
        <pc:spChg chg="mod">
          <ac:chgData name="Wenshuo Li" userId="3b3b8587-f8db-4b07-819a-a1dc11bcd0ea" providerId="ADAL" clId="{BF59C9FF-5E3B-5C96-8E08-0F8254AB57D1}" dt="2026-06-04T01:15:56.173" v="103" actId="13926"/>
          <ac:spMkLst>
            <pc:docMk/>
            <pc:sldMk cId="0" sldId="262"/>
            <ac:spMk id="14" creationId="{00000000-0000-0000-0000-000000000000}"/>
          </ac:spMkLst>
        </pc:spChg>
      </pc:sldChg>
      <pc:sldChg chg="modSp mod">
        <pc:chgData name="Wenshuo Li" userId="3b3b8587-f8db-4b07-819a-a1dc11bcd0ea" providerId="ADAL" clId="{BF59C9FF-5E3B-5C96-8E08-0F8254AB57D1}" dt="2026-06-04T00:18:55.253" v="102" actId="1076"/>
        <pc:sldMkLst>
          <pc:docMk/>
          <pc:sldMk cId="0" sldId="264"/>
        </pc:sldMkLst>
        <pc:spChg chg="mod">
          <ac:chgData name="Wenshuo Li" userId="3b3b8587-f8db-4b07-819a-a1dc11bcd0ea" providerId="ADAL" clId="{BF59C9FF-5E3B-5C96-8E08-0F8254AB57D1}" dt="2026-06-02T04:08:15.940" v="32" actId="1076"/>
          <ac:spMkLst>
            <pc:docMk/>
            <pc:sldMk cId="0" sldId="264"/>
            <ac:spMk id="9" creationId="{00000000-0000-0000-0000-000000000000}"/>
          </ac:spMkLst>
        </pc:spChg>
        <pc:spChg chg="mod">
          <ac:chgData name="Wenshuo Li" userId="3b3b8587-f8db-4b07-819a-a1dc11bcd0ea" providerId="ADAL" clId="{BF59C9FF-5E3B-5C96-8E08-0F8254AB57D1}" dt="2026-06-02T04:08:17.822" v="33" actId="1076"/>
          <ac:spMkLst>
            <pc:docMk/>
            <pc:sldMk cId="0" sldId="264"/>
            <ac:spMk id="10" creationId="{00000000-0000-0000-0000-000000000000}"/>
          </ac:spMkLst>
        </pc:spChg>
        <pc:spChg chg="mod">
          <ac:chgData name="Wenshuo Li" userId="3b3b8587-f8db-4b07-819a-a1dc11bcd0ea" providerId="ADAL" clId="{BF59C9FF-5E3B-5C96-8E08-0F8254AB57D1}" dt="2026-06-02T04:08:21.070" v="35" actId="1076"/>
          <ac:spMkLst>
            <pc:docMk/>
            <pc:sldMk cId="0" sldId="264"/>
            <ac:spMk id="11" creationId="{00000000-0000-0000-0000-000000000000}"/>
          </ac:spMkLst>
        </pc:spChg>
        <pc:spChg chg="mod">
          <ac:chgData name="Wenshuo Li" userId="3b3b8587-f8db-4b07-819a-a1dc11bcd0ea" providerId="ADAL" clId="{BF59C9FF-5E3B-5C96-8E08-0F8254AB57D1}" dt="2026-06-02T04:08:23.793" v="36" actId="1076"/>
          <ac:spMkLst>
            <pc:docMk/>
            <pc:sldMk cId="0" sldId="264"/>
            <ac:spMk id="13" creationId="{00000000-0000-0000-0000-000000000000}"/>
          </ac:spMkLst>
        </pc:spChg>
        <pc:spChg chg="mod">
          <ac:chgData name="Wenshuo Li" userId="3b3b8587-f8db-4b07-819a-a1dc11bcd0ea" providerId="ADAL" clId="{BF59C9FF-5E3B-5C96-8E08-0F8254AB57D1}" dt="2026-06-02T04:08:27.305" v="37" actId="1076"/>
          <ac:spMkLst>
            <pc:docMk/>
            <pc:sldMk cId="0" sldId="264"/>
            <ac:spMk id="14" creationId="{00000000-0000-0000-0000-000000000000}"/>
          </ac:spMkLst>
        </pc:spChg>
        <pc:spChg chg="mod">
          <ac:chgData name="Wenshuo Li" userId="3b3b8587-f8db-4b07-819a-a1dc11bcd0ea" providerId="ADAL" clId="{BF59C9FF-5E3B-5C96-8E08-0F8254AB57D1}" dt="2026-06-04T00:18:23.306" v="97" actId="1076"/>
          <ac:spMkLst>
            <pc:docMk/>
            <pc:sldMk cId="0" sldId="264"/>
            <ac:spMk id="21" creationId="{00000000-0000-0000-0000-000000000000}"/>
          </ac:spMkLst>
        </pc:spChg>
        <pc:spChg chg="mod">
          <ac:chgData name="Wenshuo Li" userId="3b3b8587-f8db-4b07-819a-a1dc11bcd0ea" providerId="ADAL" clId="{BF59C9FF-5E3B-5C96-8E08-0F8254AB57D1}" dt="2026-06-04T00:18:23.306" v="97" actId="1076"/>
          <ac:spMkLst>
            <pc:docMk/>
            <pc:sldMk cId="0" sldId="264"/>
            <ac:spMk id="22" creationId="{00000000-0000-0000-0000-000000000000}"/>
          </ac:spMkLst>
        </pc:spChg>
        <pc:spChg chg="mod">
          <ac:chgData name="Wenshuo Li" userId="3b3b8587-f8db-4b07-819a-a1dc11bcd0ea" providerId="ADAL" clId="{BF59C9FF-5E3B-5C96-8E08-0F8254AB57D1}" dt="2026-06-04T00:18:23.306" v="97" actId="1076"/>
          <ac:spMkLst>
            <pc:docMk/>
            <pc:sldMk cId="0" sldId="264"/>
            <ac:spMk id="23" creationId="{00000000-0000-0000-0000-000000000000}"/>
          </ac:spMkLst>
        </pc:spChg>
        <pc:spChg chg="mod">
          <ac:chgData name="Wenshuo Li" userId="3b3b8587-f8db-4b07-819a-a1dc11bcd0ea" providerId="ADAL" clId="{BF59C9FF-5E3B-5C96-8E08-0F8254AB57D1}" dt="2026-06-04T00:18:23.306" v="97" actId="1076"/>
          <ac:spMkLst>
            <pc:docMk/>
            <pc:sldMk cId="0" sldId="264"/>
            <ac:spMk id="24" creationId="{00000000-0000-0000-0000-000000000000}"/>
          </ac:spMkLst>
        </pc:spChg>
        <pc:spChg chg="mod">
          <ac:chgData name="Wenshuo Li" userId="3b3b8587-f8db-4b07-819a-a1dc11bcd0ea" providerId="ADAL" clId="{BF59C9FF-5E3B-5C96-8E08-0F8254AB57D1}" dt="2026-06-04T00:18:23.306" v="97" actId="1076"/>
          <ac:spMkLst>
            <pc:docMk/>
            <pc:sldMk cId="0" sldId="264"/>
            <ac:spMk id="25" creationId="{00000000-0000-0000-0000-000000000000}"/>
          </ac:spMkLst>
        </pc:spChg>
        <pc:spChg chg="mod">
          <ac:chgData name="Wenshuo Li" userId="3b3b8587-f8db-4b07-819a-a1dc11bcd0ea" providerId="ADAL" clId="{BF59C9FF-5E3B-5C96-8E08-0F8254AB57D1}" dt="2026-06-04T00:18:23.306" v="97" actId="1076"/>
          <ac:spMkLst>
            <pc:docMk/>
            <pc:sldMk cId="0" sldId="264"/>
            <ac:spMk id="26" creationId="{00000000-0000-0000-0000-000000000000}"/>
          </ac:spMkLst>
        </pc:spChg>
        <pc:spChg chg="mod">
          <ac:chgData name="Wenshuo Li" userId="3b3b8587-f8db-4b07-819a-a1dc11bcd0ea" providerId="ADAL" clId="{BF59C9FF-5E3B-5C96-8E08-0F8254AB57D1}" dt="2026-06-04T00:18:23.306" v="97" actId="1076"/>
          <ac:spMkLst>
            <pc:docMk/>
            <pc:sldMk cId="0" sldId="264"/>
            <ac:spMk id="27" creationId="{00000000-0000-0000-0000-000000000000}"/>
          </ac:spMkLst>
        </pc:spChg>
        <pc:spChg chg="mod">
          <ac:chgData name="Wenshuo Li" userId="3b3b8587-f8db-4b07-819a-a1dc11bcd0ea" providerId="ADAL" clId="{BF59C9FF-5E3B-5C96-8E08-0F8254AB57D1}" dt="2026-06-04T00:18:23.306" v="97" actId="1076"/>
          <ac:spMkLst>
            <pc:docMk/>
            <pc:sldMk cId="0" sldId="264"/>
            <ac:spMk id="28" creationId="{00000000-0000-0000-0000-000000000000}"/>
          </ac:spMkLst>
        </pc:spChg>
        <pc:spChg chg="mod">
          <ac:chgData name="Wenshuo Li" userId="3b3b8587-f8db-4b07-819a-a1dc11bcd0ea" providerId="ADAL" clId="{BF59C9FF-5E3B-5C96-8E08-0F8254AB57D1}" dt="2026-06-04T00:18:23.306" v="97" actId="1076"/>
          <ac:spMkLst>
            <pc:docMk/>
            <pc:sldMk cId="0" sldId="264"/>
            <ac:spMk id="29" creationId="{00000000-0000-0000-0000-000000000000}"/>
          </ac:spMkLst>
        </pc:spChg>
        <pc:spChg chg="mod">
          <ac:chgData name="Wenshuo Li" userId="3b3b8587-f8db-4b07-819a-a1dc11bcd0ea" providerId="ADAL" clId="{BF59C9FF-5E3B-5C96-8E08-0F8254AB57D1}" dt="2026-06-04T00:18:23.306" v="97" actId="1076"/>
          <ac:spMkLst>
            <pc:docMk/>
            <pc:sldMk cId="0" sldId="264"/>
            <ac:spMk id="30" creationId="{00000000-0000-0000-0000-000000000000}"/>
          </ac:spMkLst>
        </pc:spChg>
        <pc:spChg chg="mod">
          <ac:chgData name="Wenshuo Li" userId="3b3b8587-f8db-4b07-819a-a1dc11bcd0ea" providerId="ADAL" clId="{BF59C9FF-5E3B-5C96-8E08-0F8254AB57D1}" dt="2026-06-04T00:18:55.253" v="102" actId="1076"/>
          <ac:spMkLst>
            <pc:docMk/>
            <pc:sldMk cId="0" sldId="264"/>
            <ac:spMk id="34" creationId="{00000000-0000-0000-0000-000000000000}"/>
          </ac:spMkLst>
        </pc:spChg>
      </pc:sldChg>
      <pc:sldChg chg="modSp mod">
        <pc:chgData name="Wenshuo Li" userId="3b3b8587-f8db-4b07-819a-a1dc11bcd0ea" providerId="ADAL" clId="{BF59C9FF-5E3B-5C96-8E08-0F8254AB57D1}" dt="2026-06-03T23:56:25.207" v="56" actId="20577"/>
        <pc:sldMkLst>
          <pc:docMk/>
          <pc:sldMk cId="0" sldId="265"/>
        </pc:sldMkLst>
        <pc:spChg chg="mod">
          <ac:chgData name="Wenshuo Li" userId="3b3b8587-f8db-4b07-819a-a1dc11bcd0ea" providerId="ADAL" clId="{BF59C9FF-5E3B-5C96-8E08-0F8254AB57D1}" dt="2026-06-03T23:56:21.827" v="55" actId="20577"/>
          <ac:spMkLst>
            <pc:docMk/>
            <pc:sldMk cId="0" sldId="265"/>
            <ac:spMk id="6" creationId="{00000000-0000-0000-0000-000000000000}"/>
          </ac:spMkLst>
        </pc:spChg>
        <pc:spChg chg="mod">
          <ac:chgData name="Wenshuo Li" userId="3b3b8587-f8db-4b07-819a-a1dc11bcd0ea" providerId="ADAL" clId="{BF59C9FF-5E3B-5C96-8E08-0F8254AB57D1}" dt="2026-06-02T04:08:34.090" v="40" actId="403"/>
          <ac:spMkLst>
            <pc:docMk/>
            <pc:sldMk cId="0" sldId="265"/>
            <ac:spMk id="7" creationId="{00000000-0000-0000-0000-000000000000}"/>
          </ac:spMkLst>
        </pc:spChg>
        <pc:spChg chg="mod">
          <ac:chgData name="Wenshuo Li" userId="3b3b8587-f8db-4b07-819a-a1dc11bcd0ea" providerId="ADAL" clId="{BF59C9FF-5E3B-5C96-8E08-0F8254AB57D1}" dt="2026-06-03T23:56:25.207" v="56" actId="20577"/>
          <ac:spMkLst>
            <pc:docMk/>
            <pc:sldMk cId="0" sldId="265"/>
            <ac:spMk id="10" creationId="{00000000-0000-0000-0000-000000000000}"/>
          </ac:spMkLst>
        </pc:spChg>
        <pc:spChg chg="mod">
          <ac:chgData name="Wenshuo Li" userId="3b3b8587-f8db-4b07-819a-a1dc11bcd0ea" providerId="ADAL" clId="{BF59C9FF-5E3B-5C96-8E08-0F8254AB57D1}" dt="2026-06-02T04:08:41.290" v="45" actId="404"/>
          <ac:spMkLst>
            <pc:docMk/>
            <pc:sldMk cId="0" sldId="265"/>
            <ac:spMk id="11" creationId="{00000000-0000-0000-0000-000000000000}"/>
          </ac:spMkLst>
        </pc:spChg>
      </pc:sldChg>
      <pc:sldChg chg="addSp modSp new mod setBg">
        <pc:chgData name="Wenshuo Li" userId="3b3b8587-f8db-4b07-819a-a1dc11bcd0ea" providerId="ADAL" clId="{BF59C9FF-5E3B-5C96-8E08-0F8254AB57D1}" dt="2026-06-03T23:59:42.186" v="86" actId="1076"/>
        <pc:sldMkLst>
          <pc:docMk/>
          <pc:sldMk cId="1632150781" sldId="266"/>
        </pc:sldMkLst>
        <pc:spChg chg="add mod">
          <ac:chgData name="Wenshuo Li" userId="3b3b8587-f8db-4b07-819a-a1dc11bcd0ea" providerId="ADAL" clId="{BF59C9FF-5E3B-5C96-8E08-0F8254AB57D1}" dt="2026-06-03T23:59:21.789" v="76" actId="26606"/>
          <ac:spMkLst>
            <pc:docMk/>
            <pc:sldMk cId="1632150781" sldId="266"/>
            <ac:spMk id="2" creationId="{96AF5CFD-E765-2F32-85F9-2C42604B8D70}"/>
          </ac:spMkLst>
        </pc:spChg>
        <pc:spChg chg="add mod">
          <ac:chgData name="Wenshuo Li" userId="3b3b8587-f8db-4b07-819a-a1dc11bcd0ea" providerId="ADAL" clId="{BF59C9FF-5E3B-5C96-8E08-0F8254AB57D1}" dt="2026-06-03T23:59:42.186" v="86" actId="1076"/>
          <ac:spMkLst>
            <pc:docMk/>
            <pc:sldMk cId="1632150781" sldId="266"/>
            <ac:spMk id="3" creationId="{DEB0261D-5EF7-1998-0A2E-475CD08B2AD3}"/>
          </ac:spMkLst>
        </pc:spChg>
        <pc:spChg chg="add">
          <ac:chgData name="Wenshuo Li" userId="3b3b8587-f8db-4b07-819a-a1dc11bcd0ea" providerId="ADAL" clId="{BF59C9FF-5E3B-5C96-8E08-0F8254AB57D1}" dt="2026-06-03T23:59:21.789" v="76" actId="26606"/>
          <ac:spMkLst>
            <pc:docMk/>
            <pc:sldMk cId="1632150781" sldId="266"/>
            <ac:spMk id="8" creationId="{1BB867FF-FC45-48F7-8104-F89BE54909F1}"/>
          </ac:spMkLst>
        </pc:spChg>
        <pc:spChg chg="add">
          <ac:chgData name="Wenshuo Li" userId="3b3b8587-f8db-4b07-819a-a1dc11bcd0ea" providerId="ADAL" clId="{BF59C9FF-5E3B-5C96-8E08-0F8254AB57D1}" dt="2026-06-03T23:59:21.789" v="76" actId="26606"/>
          <ac:spMkLst>
            <pc:docMk/>
            <pc:sldMk cId="1632150781" sldId="266"/>
            <ac:spMk id="10" creationId="{8BB56887-D0D5-4F0C-9E19-7247EB83C8B7}"/>
          </ac:spMkLst>
        </pc:spChg>
        <pc:spChg chg="add">
          <ac:chgData name="Wenshuo Li" userId="3b3b8587-f8db-4b07-819a-a1dc11bcd0ea" providerId="ADAL" clId="{BF59C9FF-5E3B-5C96-8E08-0F8254AB57D1}" dt="2026-06-03T23:59:21.789" v="76" actId="26606"/>
          <ac:spMkLst>
            <pc:docMk/>
            <pc:sldMk cId="1632150781" sldId="266"/>
            <ac:spMk id="12" creationId="{081E4A58-353D-44AE-B2FC-2A74E2E400F7}"/>
          </ac:spMkLst>
        </pc:spChg>
      </pc:sldChg>
      <pc:sldChg chg="addSp delSp modSp new mod">
        <pc:chgData name="Wenshuo Li" userId="3b3b8587-f8db-4b07-819a-a1dc11bcd0ea" providerId="ADAL" clId="{BF59C9FF-5E3B-5C96-8E08-0F8254AB57D1}" dt="2026-06-04T00:00:05.188" v="88" actId="123"/>
        <pc:sldMkLst>
          <pc:docMk/>
          <pc:sldMk cId="1682779782" sldId="267"/>
        </pc:sldMkLst>
        <pc:spChg chg="add del">
          <ac:chgData name="Wenshuo Li" userId="3b3b8587-f8db-4b07-819a-a1dc11bcd0ea" providerId="ADAL" clId="{BF59C9FF-5E3B-5C96-8E08-0F8254AB57D1}" dt="2026-06-03T23:59:11.086" v="75" actId="26606"/>
          <ac:spMkLst>
            <pc:docMk/>
            <pc:sldMk cId="1682779782" sldId="267"/>
            <ac:spMk id="3" creationId="{84DBF6E6-BC5D-27BD-B1F2-9D2355B333D0}"/>
          </ac:spMkLst>
        </pc:spChg>
        <pc:graphicFrameChg chg="add mod">
          <ac:chgData name="Wenshuo Li" userId="3b3b8587-f8db-4b07-819a-a1dc11bcd0ea" providerId="ADAL" clId="{BF59C9FF-5E3B-5C96-8E08-0F8254AB57D1}" dt="2026-06-04T00:00:05.188" v="88" actId="123"/>
          <ac:graphicFrameMkLst>
            <pc:docMk/>
            <pc:sldMk cId="1682779782" sldId="267"/>
            <ac:graphicFrameMk id="5" creationId="{259D1CE7-9E54-8965-7ECE-C8EFBE94403F}"/>
          </ac:graphicFrameMkLst>
        </pc:graphicFrameChg>
      </pc:sldChg>
      <pc:sldChg chg="addSp delSp modSp new mod setBg">
        <pc:chgData name="Wenshuo Li" userId="3b3b8587-f8db-4b07-819a-a1dc11bcd0ea" providerId="ADAL" clId="{BF59C9FF-5E3B-5C96-8E08-0F8254AB57D1}" dt="2026-06-03T23:59:00.016" v="74" actId="26606"/>
        <pc:sldMkLst>
          <pc:docMk/>
          <pc:sldMk cId="1790798073" sldId="268"/>
        </pc:sldMkLst>
        <pc:spChg chg="add del">
          <ac:chgData name="Wenshuo Li" userId="3b3b8587-f8db-4b07-819a-a1dc11bcd0ea" providerId="ADAL" clId="{BF59C9FF-5E3B-5C96-8E08-0F8254AB57D1}" dt="2026-06-03T23:58:59.992" v="73" actId="26606"/>
          <ac:spMkLst>
            <pc:docMk/>
            <pc:sldMk cId="1790798073" sldId="268"/>
            <ac:spMk id="7" creationId="{F3060C83-F051-4F0E-ABAD-AA0DFC48B218}"/>
          </ac:spMkLst>
        </pc:spChg>
        <pc:spChg chg="add del">
          <ac:chgData name="Wenshuo Li" userId="3b3b8587-f8db-4b07-819a-a1dc11bcd0ea" providerId="ADAL" clId="{BF59C9FF-5E3B-5C96-8E08-0F8254AB57D1}" dt="2026-06-03T23:58:59.992" v="73" actId="26606"/>
          <ac:spMkLst>
            <pc:docMk/>
            <pc:sldMk cId="1790798073" sldId="268"/>
            <ac:spMk id="9" creationId="{83C98ABE-055B-441F-B07E-44F97F083C39}"/>
          </ac:spMkLst>
        </pc:spChg>
        <pc:spChg chg="add del">
          <ac:chgData name="Wenshuo Li" userId="3b3b8587-f8db-4b07-819a-a1dc11bcd0ea" providerId="ADAL" clId="{BF59C9FF-5E3B-5C96-8E08-0F8254AB57D1}" dt="2026-06-03T23:58:59.992" v="73" actId="26606"/>
          <ac:spMkLst>
            <pc:docMk/>
            <pc:sldMk cId="1790798073" sldId="268"/>
            <ac:spMk id="11" creationId="{29FDB030-9B49-4CED-8CCD-4D99382388AC}"/>
          </ac:spMkLst>
        </pc:spChg>
        <pc:spChg chg="add del">
          <ac:chgData name="Wenshuo Li" userId="3b3b8587-f8db-4b07-819a-a1dc11bcd0ea" providerId="ADAL" clId="{BF59C9FF-5E3B-5C96-8E08-0F8254AB57D1}" dt="2026-06-03T23:58:59.992" v="73" actId="26606"/>
          <ac:spMkLst>
            <pc:docMk/>
            <pc:sldMk cId="1790798073" sldId="268"/>
            <ac:spMk id="13" creationId="{3783CA14-24A1-485C-8B30-D6A5D87987AD}"/>
          </ac:spMkLst>
        </pc:spChg>
        <pc:spChg chg="add del">
          <ac:chgData name="Wenshuo Li" userId="3b3b8587-f8db-4b07-819a-a1dc11bcd0ea" providerId="ADAL" clId="{BF59C9FF-5E3B-5C96-8E08-0F8254AB57D1}" dt="2026-06-03T23:58:59.992" v="73" actId="26606"/>
          <ac:spMkLst>
            <pc:docMk/>
            <pc:sldMk cId="1790798073" sldId="268"/>
            <ac:spMk id="15" creationId="{9A97C86A-04D6-40F7-AE84-31AB43E6A846}"/>
          </ac:spMkLst>
        </pc:spChg>
        <pc:spChg chg="add del">
          <ac:chgData name="Wenshuo Li" userId="3b3b8587-f8db-4b07-819a-a1dc11bcd0ea" providerId="ADAL" clId="{BF59C9FF-5E3B-5C96-8E08-0F8254AB57D1}" dt="2026-06-03T23:58:59.992" v="73" actId="26606"/>
          <ac:spMkLst>
            <pc:docMk/>
            <pc:sldMk cId="1790798073" sldId="268"/>
            <ac:spMk id="17" creationId="{FF9F2414-84E8-453E-B1F3-389FDE8192D9}"/>
          </ac:spMkLst>
        </pc:spChg>
        <pc:spChg chg="add del">
          <ac:chgData name="Wenshuo Li" userId="3b3b8587-f8db-4b07-819a-a1dc11bcd0ea" providerId="ADAL" clId="{BF59C9FF-5E3B-5C96-8E08-0F8254AB57D1}" dt="2026-06-03T23:58:59.992" v="73" actId="26606"/>
          <ac:spMkLst>
            <pc:docMk/>
            <pc:sldMk cId="1790798073" sldId="268"/>
            <ac:spMk id="19" creationId="{3ECA69A1-7536-43AC-85EF-C7106179F5ED}"/>
          </ac:spMkLst>
        </pc:spChg>
        <pc:spChg chg="add">
          <ac:chgData name="Wenshuo Li" userId="3b3b8587-f8db-4b07-819a-a1dc11bcd0ea" providerId="ADAL" clId="{BF59C9FF-5E3B-5C96-8E08-0F8254AB57D1}" dt="2026-06-03T23:59:00.016" v="74" actId="26606"/>
          <ac:spMkLst>
            <pc:docMk/>
            <pc:sldMk cId="1790798073" sldId="268"/>
            <ac:spMk id="21" creationId="{86FF76B9-219D-4469-AF87-0236D29032F1}"/>
          </ac:spMkLst>
        </pc:spChg>
        <pc:spChg chg="add">
          <ac:chgData name="Wenshuo Li" userId="3b3b8587-f8db-4b07-819a-a1dc11bcd0ea" providerId="ADAL" clId="{BF59C9FF-5E3B-5C96-8E08-0F8254AB57D1}" dt="2026-06-03T23:59:00.016" v="74" actId="26606"/>
          <ac:spMkLst>
            <pc:docMk/>
            <pc:sldMk cId="1790798073" sldId="268"/>
            <ac:spMk id="24" creationId="{2E80C965-DB6D-4F81-9E9E-B027384D0BD6}"/>
          </ac:spMkLst>
        </pc:spChg>
        <pc:spChg chg="add">
          <ac:chgData name="Wenshuo Li" userId="3b3b8587-f8db-4b07-819a-a1dc11bcd0ea" providerId="ADAL" clId="{BF59C9FF-5E3B-5C96-8E08-0F8254AB57D1}" dt="2026-06-03T23:59:00.016" v="74" actId="26606"/>
          <ac:spMkLst>
            <pc:docMk/>
            <pc:sldMk cId="1790798073" sldId="268"/>
            <ac:spMk id="25" creationId="{633C5E46-DAC5-4661-9C87-22B08E2A512F}"/>
          </ac:spMkLst>
        </pc:spChg>
        <pc:grpChg chg="add">
          <ac:chgData name="Wenshuo Li" userId="3b3b8587-f8db-4b07-819a-a1dc11bcd0ea" providerId="ADAL" clId="{BF59C9FF-5E3B-5C96-8E08-0F8254AB57D1}" dt="2026-06-03T23:59:00.016" v="74" actId="26606"/>
          <ac:grpSpMkLst>
            <pc:docMk/>
            <pc:sldMk cId="1790798073" sldId="268"/>
            <ac:grpSpMk id="22" creationId="{DB88BD78-87E1-424D-B479-C37D8E41B12E}"/>
          </ac:grpSpMkLst>
        </pc:grpChg>
        <pc:graphicFrameChg chg="add mod modGraphic">
          <ac:chgData name="Wenshuo Li" userId="3b3b8587-f8db-4b07-819a-a1dc11bcd0ea" providerId="ADAL" clId="{BF59C9FF-5E3B-5C96-8E08-0F8254AB57D1}" dt="2026-06-03T23:59:00.016" v="74" actId="26606"/>
          <ac:graphicFrameMkLst>
            <pc:docMk/>
            <pc:sldMk cId="1790798073" sldId="268"/>
            <ac:graphicFrameMk id="2" creationId="{55E6D86F-E69F-CEC6-6EE1-3B708A192E18}"/>
          </ac:graphicFrameMkLst>
        </pc:graphicFrameChg>
      </pc:sldChg>
    </pc:docChg>
  </pc:docChgLst>
</pc:chgInfo>
</file>

<file path=ppt/diagrams/_rels/data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image" Target="../media/image2.svg"/></Relationships>
</file>

<file path=ppt/diagrams/_rels/drawing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image" Target="../media/image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14D3384-A30A-4131-B32D-6C7FF6B202A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36E66540-20C8-4573-8F9C-137A7A8E4BDA}">
      <dgm:prSet/>
      <dgm:spPr/>
      <dgm:t>
        <a:bodyPr/>
        <a:lstStyle/>
        <a:p>
          <a:pPr algn="just">
            <a:lnSpc>
              <a:spcPct val="100000"/>
            </a:lnSpc>
          </a:pPr>
          <a:r>
            <a:rPr lang="en-AU" dirty="0"/>
            <a:t>Logistic regression, despite its name, operates fundamentally differently; rather than predicting a continuous value, it is used for classification problems and outputs a probability between 0 and 1, which is then mapped to a discrete category. A common application is binary classification, such as predicting whether a patient's test result is positive or negative. </a:t>
          </a:r>
          <a:endParaRPr lang="en-US" dirty="0"/>
        </a:p>
      </dgm:t>
    </dgm:pt>
    <dgm:pt modelId="{308ED135-72B7-4A3D-A843-AA2F7D93A63A}" type="parTrans" cxnId="{BD88D5D5-EE38-4429-B06B-1BC956040E72}">
      <dgm:prSet/>
      <dgm:spPr/>
      <dgm:t>
        <a:bodyPr/>
        <a:lstStyle/>
        <a:p>
          <a:endParaRPr lang="en-US"/>
        </a:p>
      </dgm:t>
    </dgm:pt>
    <dgm:pt modelId="{82219CF8-E6B3-4B0F-93AC-F6814AB9E58C}" type="sibTrans" cxnId="{BD88D5D5-EE38-4429-B06B-1BC956040E72}">
      <dgm:prSet/>
      <dgm:spPr/>
      <dgm:t>
        <a:bodyPr/>
        <a:lstStyle/>
        <a:p>
          <a:endParaRPr lang="en-US"/>
        </a:p>
      </dgm:t>
    </dgm:pt>
    <dgm:pt modelId="{74D5E4B2-4419-4A3D-83C7-10DABEF09976}">
      <dgm:prSet/>
      <dgm:spPr/>
      <dgm:t>
        <a:bodyPr/>
        <a:lstStyle/>
        <a:p>
          <a:pPr algn="just">
            <a:lnSpc>
              <a:spcPct val="100000"/>
            </a:lnSpc>
          </a:pPr>
          <a:r>
            <a:rPr lang="en-AU" dirty="0"/>
            <a:t>Consequently, the choice between these algorithms depends entirely on the nature of the problem: if the target variable is a continuous number, linear or polynomial regression is appropriate, with polynomial selected when the data exhibits a curved trend; if the target is a categorical outcome, logistic regression is the correct tool.</a:t>
          </a:r>
          <a:endParaRPr lang="en-US" dirty="0"/>
        </a:p>
      </dgm:t>
    </dgm:pt>
    <dgm:pt modelId="{DC2FB884-BB79-41FC-9432-20F846EEF928}" type="parTrans" cxnId="{665800C7-360F-4D34-A1F7-57024571518B}">
      <dgm:prSet/>
      <dgm:spPr/>
      <dgm:t>
        <a:bodyPr/>
        <a:lstStyle/>
        <a:p>
          <a:endParaRPr lang="en-US"/>
        </a:p>
      </dgm:t>
    </dgm:pt>
    <dgm:pt modelId="{F625B934-971B-4F54-92BF-6735205EE8AB}" type="sibTrans" cxnId="{665800C7-360F-4D34-A1F7-57024571518B}">
      <dgm:prSet/>
      <dgm:spPr/>
      <dgm:t>
        <a:bodyPr/>
        <a:lstStyle/>
        <a:p>
          <a:endParaRPr lang="en-US"/>
        </a:p>
      </dgm:t>
    </dgm:pt>
    <dgm:pt modelId="{5B599EA6-EFB3-4459-9C9E-6B7629F9EEF1}" type="pres">
      <dgm:prSet presAssocID="{B14D3384-A30A-4131-B32D-6C7FF6B202AC}" presName="root" presStyleCnt="0">
        <dgm:presLayoutVars>
          <dgm:dir/>
          <dgm:resizeHandles val="exact"/>
        </dgm:presLayoutVars>
      </dgm:prSet>
      <dgm:spPr/>
    </dgm:pt>
    <dgm:pt modelId="{40CC680C-A605-4813-A154-65CB623A5224}" type="pres">
      <dgm:prSet presAssocID="{36E66540-20C8-4573-8F9C-137A7A8E4BDA}" presName="compNode" presStyleCnt="0"/>
      <dgm:spPr/>
    </dgm:pt>
    <dgm:pt modelId="{0F9639DC-3F9A-4BA2-9643-3AC8B3554615}" type="pres">
      <dgm:prSet presAssocID="{36E66540-20C8-4573-8F9C-137A7A8E4BDA}" presName="bgRect" presStyleLbl="bgShp" presStyleIdx="0" presStyleCnt="2"/>
      <dgm:spPr/>
    </dgm:pt>
    <dgm:pt modelId="{B942485E-89E6-477A-A63B-4C2626498AA2}" type="pres">
      <dgm:prSet presAssocID="{36E66540-20C8-4573-8F9C-137A7A8E4BDA}"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Light Bulb and Gear"/>
        </a:ext>
      </dgm:extLst>
    </dgm:pt>
    <dgm:pt modelId="{E5770786-E470-4FA3-9E75-5ED2FB61C6C8}" type="pres">
      <dgm:prSet presAssocID="{36E66540-20C8-4573-8F9C-137A7A8E4BDA}" presName="spaceRect" presStyleCnt="0"/>
      <dgm:spPr/>
    </dgm:pt>
    <dgm:pt modelId="{2C4D2CF8-2814-449F-9C40-00E2A249A7F3}" type="pres">
      <dgm:prSet presAssocID="{36E66540-20C8-4573-8F9C-137A7A8E4BDA}" presName="parTx" presStyleLbl="revTx" presStyleIdx="0" presStyleCnt="2">
        <dgm:presLayoutVars>
          <dgm:chMax val="0"/>
          <dgm:chPref val="0"/>
        </dgm:presLayoutVars>
      </dgm:prSet>
      <dgm:spPr/>
    </dgm:pt>
    <dgm:pt modelId="{27CD1CC1-0312-4E14-B33D-A1CCB57B371A}" type="pres">
      <dgm:prSet presAssocID="{82219CF8-E6B3-4B0F-93AC-F6814AB9E58C}" presName="sibTrans" presStyleCnt="0"/>
      <dgm:spPr/>
    </dgm:pt>
    <dgm:pt modelId="{4468D31E-A864-442F-A0C7-BEF974A9F058}" type="pres">
      <dgm:prSet presAssocID="{74D5E4B2-4419-4A3D-83C7-10DABEF09976}" presName="compNode" presStyleCnt="0"/>
      <dgm:spPr/>
    </dgm:pt>
    <dgm:pt modelId="{48BC64DA-4290-4E63-BDE6-5B69C0F9DA30}" type="pres">
      <dgm:prSet presAssocID="{74D5E4B2-4419-4A3D-83C7-10DABEF09976}" presName="bgRect" presStyleLbl="bgShp" presStyleIdx="1" presStyleCnt="2"/>
      <dgm:spPr/>
    </dgm:pt>
    <dgm:pt modelId="{2A0D49C2-F601-4B82-80A9-E40CE6F58F85}" type="pres">
      <dgm:prSet presAssocID="{74D5E4B2-4419-4A3D-83C7-10DABEF09976}"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aze"/>
        </a:ext>
      </dgm:extLst>
    </dgm:pt>
    <dgm:pt modelId="{E5CB55E7-5547-4C9D-8F25-539E63C6853D}" type="pres">
      <dgm:prSet presAssocID="{74D5E4B2-4419-4A3D-83C7-10DABEF09976}" presName="spaceRect" presStyleCnt="0"/>
      <dgm:spPr/>
    </dgm:pt>
    <dgm:pt modelId="{ABA022B9-97E2-470E-A6B6-43FE7AAB9318}" type="pres">
      <dgm:prSet presAssocID="{74D5E4B2-4419-4A3D-83C7-10DABEF09976}" presName="parTx" presStyleLbl="revTx" presStyleIdx="1" presStyleCnt="2">
        <dgm:presLayoutVars>
          <dgm:chMax val="0"/>
          <dgm:chPref val="0"/>
        </dgm:presLayoutVars>
      </dgm:prSet>
      <dgm:spPr/>
    </dgm:pt>
  </dgm:ptLst>
  <dgm:cxnLst>
    <dgm:cxn modelId="{4943D159-D888-49C7-8F78-310F9A29526B}" type="presOf" srcId="{36E66540-20C8-4573-8F9C-137A7A8E4BDA}" destId="{2C4D2CF8-2814-449F-9C40-00E2A249A7F3}" srcOrd="0" destOrd="0" presId="urn:microsoft.com/office/officeart/2018/2/layout/IconVerticalSolidList"/>
    <dgm:cxn modelId="{665800C7-360F-4D34-A1F7-57024571518B}" srcId="{B14D3384-A30A-4131-B32D-6C7FF6B202AC}" destId="{74D5E4B2-4419-4A3D-83C7-10DABEF09976}" srcOrd="1" destOrd="0" parTransId="{DC2FB884-BB79-41FC-9432-20F846EEF928}" sibTransId="{F625B934-971B-4F54-92BF-6735205EE8AB}"/>
    <dgm:cxn modelId="{BD88D5D5-EE38-4429-B06B-1BC956040E72}" srcId="{B14D3384-A30A-4131-B32D-6C7FF6B202AC}" destId="{36E66540-20C8-4573-8F9C-137A7A8E4BDA}" srcOrd="0" destOrd="0" parTransId="{308ED135-72B7-4A3D-A843-AA2F7D93A63A}" sibTransId="{82219CF8-E6B3-4B0F-93AC-F6814AB9E58C}"/>
    <dgm:cxn modelId="{5F5877DE-F525-41EB-B67B-C009AE26CB3F}" type="presOf" srcId="{74D5E4B2-4419-4A3D-83C7-10DABEF09976}" destId="{ABA022B9-97E2-470E-A6B6-43FE7AAB9318}" srcOrd="0" destOrd="0" presId="urn:microsoft.com/office/officeart/2018/2/layout/IconVerticalSolidList"/>
    <dgm:cxn modelId="{AA7BB0E7-207C-4558-9ACA-73367759F321}" type="presOf" srcId="{B14D3384-A30A-4131-B32D-6C7FF6B202AC}" destId="{5B599EA6-EFB3-4459-9C9E-6B7629F9EEF1}" srcOrd="0" destOrd="0" presId="urn:microsoft.com/office/officeart/2018/2/layout/IconVerticalSolidList"/>
    <dgm:cxn modelId="{B5F5001A-DC5B-435C-B301-A97782B9E93A}" type="presParOf" srcId="{5B599EA6-EFB3-4459-9C9E-6B7629F9EEF1}" destId="{40CC680C-A605-4813-A154-65CB623A5224}" srcOrd="0" destOrd="0" presId="urn:microsoft.com/office/officeart/2018/2/layout/IconVerticalSolidList"/>
    <dgm:cxn modelId="{B1348E0B-8544-4A5D-8CD7-6890B29734F2}" type="presParOf" srcId="{40CC680C-A605-4813-A154-65CB623A5224}" destId="{0F9639DC-3F9A-4BA2-9643-3AC8B3554615}" srcOrd="0" destOrd="0" presId="urn:microsoft.com/office/officeart/2018/2/layout/IconVerticalSolidList"/>
    <dgm:cxn modelId="{12134B07-570E-494D-BF8A-C008F7B7AC17}" type="presParOf" srcId="{40CC680C-A605-4813-A154-65CB623A5224}" destId="{B942485E-89E6-477A-A63B-4C2626498AA2}" srcOrd="1" destOrd="0" presId="urn:microsoft.com/office/officeart/2018/2/layout/IconVerticalSolidList"/>
    <dgm:cxn modelId="{FFD9B667-17E4-438C-B786-693E2ECAB77D}" type="presParOf" srcId="{40CC680C-A605-4813-A154-65CB623A5224}" destId="{E5770786-E470-4FA3-9E75-5ED2FB61C6C8}" srcOrd="2" destOrd="0" presId="urn:microsoft.com/office/officeart/2018/2/layout/IconVerticalSolidList"/>
    <dgm:cxn modelId="{5F8FC2AB-2785-4364-8DAA-177555048122}" type="presParOf" srcId="{40CC680C-A605-4813-A154-65CB623A5224}" destId="{2C4D2CF8-2814-449F-9C40-00E2A249A7F3}" srcOrd="3" destOrd="0" presId="urn:microsoft.com/office/officeart/2018/2/layout/IconVerticalSolidList"/>
    <dgm:cxn modelId="{90E24C3E-3651-448F-A93B-2A0AE395B9B7}" type="presParOf" srcId="{5B599EA6-EFB3-4459-9C9E-6B7629F9EEF1}" destId="{27CD1CC1-0312-4E14-B33D-A1CCB57B371A}" srcOrd="1" destOrd="0" presId="urn:microsoft.com/office/officeart/2018/2/layout/IconVerticalSolidList"/>
    <dgm:cxn modelId="{119D7962-714B-4716-A8AF-410748B13927}" type="presParOf" srcId="{5B599EA6-EFB3-4459-9C9E-6B7629F9EEF1}" destId="{4468D31E-A864-442F-A0C7-BEF974A9F058}" srcOrd="2" destOrd="0" presId="urn:microsoft.com/office/officeart/2018/2/layout/IconVerticalSolidList"/>
    <dgm:cxn modelId="{A7D42545-B7AE-438C-AD0A-8DBFC3F916FD}" type="presParOf" srcId="{4468D31E-A864-442F-A0C7-BEF974A9F058}" destId="{48BC64DA-4290-4E63-BDE6-5B69C0F9DA30}" srcOrd="0" destOrd="0" presId="urn:microsoft.com/office/officeart/2018/2/layout/IconVerticalSolidList"/>
    <dgm:cxn modelId="{A7CDD278-6C0B-4CDE-95D5-1234D033FDD8}" type="presParOf" srcId="{4468D31E-A864-442F-A0C7-BEF974A9F058}" destId="{2A0D49C2-F601-4B82-80A9-E40CE6F58F85}" srcOrd="1" destOrd="0" presId="urn:microsoft.com/office/officeart/2018/2/layout/IconVerticalSolidList"/>
    <dgm:cxn modelId="{7391B22C-2792-4E43-B3C4-531449A464FB}" type="presParOf" srcId="{4468D31E-A864-442F-A0C7-BEF974A9F058}" destId="{E5CB55E7-5547-4C9D-8F25-539E63C6853D}" srcOrd="2" destOrd="0" presId="urn:microsoft.com/office/officeart/2018/2/layout/IconVerticalSolidList"/>
    <dgm:cxn modelId="{546F2E7C-5216-40F6-9365-6C87C2AD2987}" type="presParOf" srcId="{4468D31E-A864-442F-A0C7-BEF974A9F058}" destId="{ABA022B9-97E2-470E-A6B6-43FE7AAB931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9639DC-3F9A-4BA2-9643-3AC8B3554615}">
      <dsp:nvSpPr>
        <dsp:cNvPr id="0" name=""/>
        <dsp:cNvSpPr/>
      </dsp:nvSpPr>
      <dsp:spPr>
        <a:xfrm>
          <a:off x="0" y="95182"/>
          <a:ext cx="4572000" cy="10938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42485E-89E6-477A-A63B-4C2626498AA2}">
      <dsp:nvSpPr>
        <dsp:cNvPr id="0" name=""/>
        <dsp:cNvSpPr/>
      </dsp:nvSpPr>
      <dsp:spPr>
        <a:xfrm>
          <a:off x="33088" y="119793"/>
          <a:ext cx="60160" cy="6016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4D2CF8-2814-449F-9C40-00E2A249A7F3}">
      <dsp:nvSpPr>
        <dsp:cNvPr id="0" name=""/>
        <dsp:cNvSpPr/>
      </dsp:nvSpPr>
      <dsp:spPr>
        <a:xfrm>
          <a:off x="126336" y="95182"/>
          <a:ext cx="4141520" cy="22056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3426" tIns="233426" rIns="233426" bIns="233426" numCol="1" spcCol="1270" anchor="ctr" anchorCtr="0">
          <a:noAutofit/>
        </a:bodyPr>
        <a:lstStyle/>
        <a:p>
          <a:pPr marL="0" lvl="0" indent="0" algn="just" defTabSz="622300">
            <a:lnSpc>
              <a:spcPct val="100000"/>
            </a:lnSpc>
            <a:spcBef>
              <a:spcPct val="0"/>
            </a:spcBef>
            <a:spcAft>
              <a:spcPct val="35000"/>
            </a:spcAft>
            <a:buNone/>
          </a:pPr>
          <a:r>
            <a:rPr lang="en-AU" sz="1400" kern="1200" dirty="0"/>
            <a:t>Logistic regression, despite its name, operates fundamentally differently; rather than predicting a continuous value, it is used for classification problems and outputs a probability between 0 and 1, which is then mapped to a discrete category. A common application is binary classification, such as predicting whether a patient's test result is positive or negative. </a:t>
          </a:r>
          <a:endParaRPr lang="en-US" sz="1400" kern="1200" dirty="0"/>
        </a:p>
      </dsp:txBody>
      <dsp:txXfrm>
        <a:off x="126336" y="95182"/>
        <a:ext cx="4141520" cy="2205603"/>
      </dsp:txXfrm>
    </dsp:sp>
    <dsp:sp modelId="{48BC64DA-4290-4E63-BDE6-5B69C0F9DA30}">
      <dsp:nvSpPr>
        <dsp:cNvPr id="0" name=""/>
        <dsp:cNvSpPr/>
      </dsp:nvSpPr>
      <dsp:spPr>
        <a:xfrm>
          <a:off x="0" y="2500528"/>
          <a:ext cx="4572000" cy="10938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0D49C2-F601-4B82-80A9-E40CE6F58F85}">
      <dsp:nvSpPr>
        <dsp:cNvPr id="0" name=""/>
        <dsp:cNvSpPr/>
      </dsp:nvSpPr>
      <dsp:spPr>
        <a:xfrm>
          <a:off x="33088" y="2525139"/>
          <a:ext cx="60160" cy="6016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BA022B9-97E2-470E-A6B6-43FE7AAB9318}">
      <dsp:nvSpPr>
        <dsp:cNvPr id="0" name=""/>
        <dsp:cNvSpPr/>
      </dsp:nvSpPr>
      <dsp:spPr>
        <a:xfrm>
          <a:off x="126336" y="2500528"/>
          <a:ext cx="4141520" cy="22056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3426" tIns="233426" rIns="233426" bIns="233426" numCol="1" spcCol="1270" anchor="ctr" anchorCtr="0">
          <a:noAutofit/>
        </a:bodyPr>
        <a:lstStyle/>
        <a:p>
          <a:pPr marL="0" lvl="0" indent="0" algn="just" defTabSz="622300">
            <a:lnSpc>
              <a:spcPct val="100000"/>
            </a:lnSpc>
            <a:spcBef>
              <a:spcPct val="0"/>
            </a:spcBef>
            <a:spcAft>
              <a:spcPct val="35000"/>
            </a:spcAft>
            <a:buNone/>
          </a:pPr>
          <a:r>
            <a:rPr lang="en-AU" sz="1400" kern="1200" dirty="0"/>
            <a:t>Consequently, the choice between these algorithms depends entirely on the nature of the problem: if the target variable is a continuous number, linear or polynomial regression is appropriate, with polynomial selected when the data exhibits a curved trend; if the target is a categorical outcome, logistic regression is the correct tool.</a:t>
          </a:r>
          <a:endParaRPr lang="en-US" sz="1400" kern="1200" dirty="0"/>
        </a:p>
      </dsp:txBody>
      <dsp:txXfrm>
        <a:off x="126336" y="2500528"/>
        <a:ext cx="4141520" cy="220560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1952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a:effectLst/>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C9A227"/>
          </a:solidFill>
          <a:ln w="12700">
            <a:solidFill>
              <a:srgbClr val="C9A227"/>
            </a:solidFill>
            <a:prstDash val="solid"/>
          </a:ln>
        </p:spPr>
        <p:txBody>
          <a:bodyPr/>
          <a:lstStyle/>
          <a:p>
            <a:endParaRPr lang="en-AU"/>
          </a:p>
        </p:txBody>
      </p:sp>
      <p:sp>
        <p:nvSpPr>
          <p:cNvPr id="3" name="Shape 1"/>
          <p:cNvSpPr/>
          <p:nvPr/>
        </p:nvSpPr>
        <p:spPr>
          <a:xfrm>
            <a:off x="0" y="0"/>
            <a:ext cx="411480" cy="4663440"/>
          </a:xfrm>
          <a:prstGeom prst="rect">
            <a:avLst/>
          </a:prstGeom>
          <a:solidFill>
            <a:srgbClr val="2E75B6"/>
          </a:solidFill>
          <a:ln w="12700">
            <a:solidFill>
              <a:srgbClr val="2E75B6"/>
            </a:solidFill>
            <a:prstDash val="solid"/>
          </a:ln>
        </p:spPr>
        <p:txBody>
          <a:bodyPr/>
          <a:lstStyle/>
          <a:p>
            <a:endParaRPr lang="en-AU"/>
          </a:p>
        </p:txBody>
      </p:sp>
      <p:sp>
        <p:nvSpPr>
          <p:cNvPr id="4" name="Text 2"/>
          <p:cNvSpPr/>
          <p:nvPr/>
        </p:nvSpPr>
        <p:spPr>
          <a:xfrm>
            <a:off x="685800" y="731520"/>
            <a:ext cx="8046720" cy="1463040"/>
          </a:xfrm>
          <a:prstGeom prst="rect">
            <a:avLst/>
          </a:prstGeom>
          <a:noFill/>
          <a:ln/>
        </p:spPr>
        <p:txBody>
          <a:bodyPr wrap="square" rtlCol="0" anchor="ctr"/>
          <a:lstStyle/>
          <a:p>
            <a:pPr marL="0" indent="0" algn="l">
              <a:buNone/>
            </a:pPr>
            <a:r>
              <a:rPr lang="en-US" sz="5000" b="1" dirty="0">
                <a:solidFill>
                  <a:srgbClr val="FFFFFF"/>
                </a:solidFill>
                <a:latin typeface="Calibri" pitchFamily="34" charset="0"/>
                <a:ea typeface="Calibri" pitchFamily="34" charset="-122"/>
                <a:cs typeface="Calibri" pitchFamily="34" charset="-120"/>
              </a:rPr>
              <a:t>Machine Learning</a:t>
            </a:r>
            <a:endParaRPr lang="en-US" sz="5000" dirty="0"/>
          </a:p>
        </p:txBody>
      </p:sp>
      <p:sp>
        <p:nvSpPr>
          <p:cNvPr id="5" name="Text 3"/>
          <p:cNvSpPr/>
          <p:nvPr/>
        </p:nvSpPr>
        <p:spPr>
          <a:xfrm>
            <a:off x="685800" y="2286000"/>
            <a:ext cx="7772400" cy="640080"/>
          </a:xfrm>
          <a:prstGeom prst="rect">
            <a:avLst/>
          </a:prstGeom>
          <a:noFill/>
          <a:ln/>
        </p:spPr>
        <p:txBody>
          <a:bodyPr wrap="square" rtlCol="0" anchor="ctr"/>
          <a:lstStyle/>
          <a:p>
            <a:pPr marL="0" indent="0" algn="l">
              <a:buNone/>
            </a:pPr>
            <a:r>
              <a:rPr lang="en-US" sz="2100" dirty="0">
                <a:solidFill>
                  <a:srgbClr val="B8D4F5"/>
                </a:solidFill>
                <a:latin typeface="Calibri" pitchFamily="34" charset="0"/>
                <a:ea typeface="Calibri" pitchFamily="34" charset="-122"/>
                <a:cs typeface="Calibri" pitchFamily="34" charset="-120"/>
              </a:rPr>
              <a:t>From Supervised Learning to Applications</a:t>
            </a:r>
            <a:endParaRPr lang="en-US" sz="2100" dirty="0"/>
          </a:p>
        </p:txBody>
      </p:sp>
      <p:sp>
        <p:nvSpPr>
          <p:cNvPr id="6" name="Shape 4"/>
          <p:cNvSpPr/>
          <p:nvPr/>
        </p:nvSpPr>
        <p:spPr>
          <a:xfrm>
            <a:off x="685800" y="3063240"/>
            <a:ext cx="5943600" cy="0"/>
          </a:xfrm>
          <a:prstGeom prst="line">
            <a:avLst/>
          </a:prstGeom>
          <a:noFill/>
          <a:ln w="25400">
            <a:solidFill>
              <a:srgbClr val="C9A227"/>
            </a:solidFill>
            <a:prstDash val="solid"/>
          </a:ln>
        </p:spPr>
        <p:txBody>
          <a:bodyPr/>
          <a:lstStyle/>
          <a:p>
            <a:endParaRPr lang="en-AU"/>
          </a:p>
        </p:txBody>
      </p:sp>
      <p:sp>
        <p:nvSpPr>
          <p:cNvPr id="7" name="Text 5"/>
          <p:cNvSpPr/>
          <p:nvPr/>
        </p:nvSpPr>
        <p:spPr>
          <a:xfrm>
            <a:off x="685800" y="3246120"/>
            <a:ext cx="7772400" cy="347472"/>
          </a:xfrm>
          <a:prstGeom prst="rect">
            <a:avLst/>
          </a:prstGeom>
          <a:noFill/>
          <a:ln/>
        </p:spPr>
        <p:txBody>
          <a:bodyPr wrap="square" rtlCol="0" anchor="ctr"/>
          <a:lstStyle/>
          <a:p>
            <a:pPr marL="0" indent="0" algn="l">
              <a:buNone/>
            </a:pPr>
            <a:r>
              <a:rPr lang="en-US" sz="1100" i="1" dirty="0">
                <a:solidFill>
                  <a:srgbClr val="CADCFC"/>
                </a:solidFill>
                <a:latin typeface="Calibri" pitchFamily="34" charset="0"/>
                <a:ea typeface="Calibri" pitchFamily="34" charset="-122"/>
                <a:cs typeface="Calibri" pitchFamily="34" charset="-120"/>
              </a:rPr>
              <a:t>NSW HSC Software Engineering  |  Software Automation  |  2022 NESA Syllabus</a:t>
            </a:r>
            <a:endParaRPr lang="en-US" sz="1100" dirty="0"/>
          </a:p>
        </p:txBody>
      </p:sp>
      <p:sp>
        <p:nvSpPr>
          <p:cNvPr id="8" name="Text 6"/>
          <p:cNvSpPr/>
          <p:nvPr/>
        </p:nvSpPr>
        <p:spPr>
          <a:xfrm>
            <a:off x="685800" y="4315968"/>
            <a:ext cx="7772400" cy="274320"/>
          </a:xfrm>
          <a:prstGeom prst="rect">
            <a:avLst/>
          </a:prstGeom>
          <a:noFill/>
          <a:ln/>
        </p:spPr>
        <p:txBody>
          <a:bodyPr wrap="square" rtlCol="0" anchor="ctr"/>
          <a:lstStyle/>
          <a:p>
            <a:pPr marL="0" indent="0" algn="l">
              <a:buNone/>
            </a:pPr>
            <a:r>
              <a:rPr lang="en-US" sz="1000" dirty="0">
                <a:solidFill>
                  <a:srgbClr val="FFFFFF"/>
                </a:solidFill>
                <a:latin typeface="Calibri" pitchFamily="34" charset="0"/>
                <a:ea typeface="Calibri" pitchFamily="34" charset="-122"/>
                <a:cs typeface="Calibri" pitchFamily="34" charset="-120"/>
              </a:rPr>
              <a:t>Knox Grammar School — TAS Faculty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F3864"/>
          </a:solidFill>
          <a:ln w="12700">
            <a:solidFill>
              <a:srgbClr val="1F3864"/>
            </a:solidFill>
            <a:prstDash val="solid"/>
          </a:ln>
        </p:spPr>
        <p:txBody>
          <a:bodyPr/>
          <a:lstStyle/>
          <a:p>
            <a:endParaRPr lang="en-AU"/>
          </a:p>
        </p:txBody>
      </p:sp>
      <p:sp>
        <p:nvSpPr>
          <p:cNvPr id="3" name="Text 1"/>
          <p:cNvSpPr/>
          <p:nvPr/>
        </p:nvSpPr>
        <p:spPr>
          <a:xfrm>
            <a:off x="320040" y="0"/>
            <a:ext cx="8503920" cy="640080"/>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The Logical Chain — How the Four Concepts Connect</a:t>
            </a:r>
            <a:endParaRPr lang="en-US" sz="1900" dirty="0"/>
          </a:p>
        </p:txBody>
      </p:sp>
      <p:sp>
        <p:nvSpPr>
          <p:cNvPr id="4" name="Shape 2"/>
          <p:cNvSpPr/>
          <p:nvPr/>
        </p:nvSpPr>
        <p:spPr>
          <a:xfrm>
            <a:off x="320040" y="804672"/>
            <a:ext cx="1874520" cy="457200"/>
          </a:xfrm>
          <a:prstGeom prst="rect">
            <a:avLst/>
          </a:prstGeom>
          <a:solidFill>
            <a:srgbClr val="6C2B8F"/>
          </a:solidFill>
          <a:ln w="12700">
            <a:solidFill>
              <a:srgbClr val="6C2B8F"/>
            </a:solidFill>
            <a:prstDash val="solid"/>
          </a:ln>
        </p:spPr>
        <p:txBody>
          <a:bodyPr/>
          <a:lstStyle/>
          <a:p>
            <a:endParaRPr lang="en-AU"/>
          </a:p>
        </p:txBody>
      </p:sp>
      <p:sp>
        <p:nvSpPr>
          <p:cNvPr id="5" name="Text 3"/>
          <p:cNvSpPr/>
          <p:nvPr/>
        </p:nvSpPr>
        <p:spPr>
          <a:xfrm>
            <a:off x="320040" y="804672"/>
            <a:ext cx="1874520" cy="457200"/>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LAYER </a:t>
            </a:r>
            <a:r>
              <a:rPr lang="en-US" sz="2000" b="1" dirty="0">
                <a:solidFill>
                  <a:srgbClr val="FFFFFF"/>
                </a:solidFill>
                <a:latin typeface="Calibri" pitchFamily="34" charset="0"/>
                <a:ea typeface="Calibri" pitchFamily="34" charset="-122"/>
                <a:cs typeface="Calibri" pitchFamily="34" charset="-120"/>
              </a:rPr>
              <a:t>1</a:t>
            </a:r>
            <a:endParaRPr lang="en-US" sz="800" dirty="0"/>
          </a:p>
        </p:txBody>
      </p:sp>
      <p:sp>
        <p:nvSpPr>
          <p:cNvPr id="6" name="Shape 4"/>
          <p:cNvSpPr/>
          <p:nvPr/>
        </p:nvSpPr>
        <p:spPr>
          <a:xfrm>
            <a:off x="320040" y="1261872"/>
            <a:ext cx="1874520" cy="2999232"/>
          </a:xfrm>
          <a:prstGeom prst="rect">
            <a:avLst/>
          </a:prstGeom>
          <a:solidFill>
            <a:srgbClr val="F5EEF8"/>
          </a:solidFill>
          <a:ln w="19050">
            <a:solidFill>
              <a:srgbClr val="6C2B8F"/>
            </a:solidFill>
            <a:prstDash val="solid"/>
          </a:ln>
          <a:effectLst>
            <a:outerShdw blurRad="63500" dist="25400" dir="8100000" algn="bl" rotWithShape="0">
              <a:srgbClr val="000000">
                <a:alpha val="13000"/>
              </a:srgbClr>
            </a:outerShdw>
          </a:effectLst>
        </p:spPr>
        <p:txBody>
          <a:bodyPr/>
          <a:lstStyle/>
          <a:p>
            <a:endParaRPr lang="en-AU"/>
          </a:p>
        </p:txBody>
      </p:sp>
      <p:sp>
        <p:nvSpPr>
          <p:cNvPr id="7" name="Text 5"/>
          <p:cNvSpPr/>
          <p:nvPr/>
        </p:nvSpPr>
        <p:spPr>
          <a:xfrm>
            <a:off x="411480" y="1353312"/>
            <a:ext cx="1691640" cy="594360"/>
          </a:xfrm>
          <a:prstGeom prst="rect">
            <a:avLst/>
          </a:prstGeom>
          <a:noFill/>
          <a:ln/>
        </p:spPr>
        <p:txBody>
          <a:bodyPr wrap="square" rtlCol="0" anchor="ctr"/>
          <a:lstStyle/>
          <a:p>
            <a:pPr marL="0" indent="0" algn="ctr">
              <a:buNone/>
            </a:pPr>
            <a:r>
              <a:rPr lang="en-US" sz="1200" b="1" dirty="0">
                <a:solidFill>
                  <a:srgbClr val="6C2B8F"/>
                </a:solidFill>
                <a:latin typeface="Calibri" pitchFamily="34" charset="0"/>
                <a:ea typeface="Calibri" pitchFamily="34" charset="-122"/>
                <a:cs typeface="Calibri" pitchFamily="34" charset="-120"/>
              </a:rPr>
              <a:t>Supervised Learning</a:t>
            </a:r>
            <a:endParaRPr lang="en-US" sz="1200" dirty="0"/>
          </a:p>
        </p:txBody>
      </p:sp>
      <p:sp>
        <p:nvSpPr>
          <p:cNvPr id="8" name="Shape 6"/>
          <p:cNvSpPr/>
          <p:nvPr/>
        </p:nvSpPr>
        <p:spPr>
          <a:xfrm>
            <a:off x="457200" y="1993392"/>
            <a:ext cx="1600200" cy="0"/>
          </a:xfrm>
          <a:prstGeom prst="line">
            <a:avLst/>
          </a:prstGeom>
          <a:noFill/>
          <a:ln w="9525">
            <a:solidFill>
              <a:srgbClr val="6C2B8F"/>
            </a:solidFill>
            <a:prstDash val="solid"/>
          </a:ln>
        </p:spPr>
        <p:txBody>
          <a:bodyPr/>
          <a:lstStyle/>
          <a:p>
            <a:endParaRPr lang="en-AU"/>
          </a:p>
        </p:txBody>
      </p:sp>
      <p:sp>
        <p:nvSpPr>
          <p:cNvPr id="9" name="Text 7"/>
          <p:cNvSpPr/>
          <p:nvPr/>
        </p:nvSpPr>
        <p:spPr>
          <a:xfrm>
            <a:off x="429768" y="2084832"/>
            <a:ext cx="1673352" cy="2084832"/>
          </a:xfrm>
          <a:prstGeom prst="rect">
            <a:avLst/>
          </a:prstGeom>
          <a:noFill/>
          <a:ln/>
        </p:spPr>
        <p:txBody>
          <a:bodyPr wrap="square" rtlCol="0" anchor="t"/>
          <a:lstStyle/>
          <a:p>
            <a:pPr marL="0" indent="0" algn="l">
              <a:buNone/>
            </a:pPr>
            <a:r>
              <a:rPr lang="en-US" sz="1400" dirty="0">
                <a:solidFill>
                  <a:srgbClr val="1A1A2E"/>
                </a:solidFill>
                <a:latin typeface="Calibri" pitchFamily="34" charset="0"/>
                <a:ea typeface="Calibri" pitchFamily="34" charset="-122"/>
                <a:cs typeface="Calibri" pitchFamily="34" charset="-120"/>
              </a:rPr>
              <a:t>• Labelled training data</a:t>
            </a:r>
            <a:endParaRPr lang="en-US" sz="1400" dirty="0"/>
          </a:p>
          <a:p>
            <a:pPr marL="0" indent="0" algn="l">
              <a:buNone/>
            </a:pPr>
            <a:r>
              <a:rPr lang="en-US" sz="1400" dirty="0">
                <a:solidFill>
                  <a:srgbClr val="1A1A2E"/>
                </a:solidFill>
                <a:latin typeface="Calibri" pitchFamily="34" charset="0"/>
                <a:ea typeface="Calibri" pitchFamily="34" charset="-122"/>
                <a:cs typeface="Calibri" pitchFamily="34" charset="-120"/>
              </a:rPr>
              <a:t>• Input paired with correct output</a:t>
            </a:r>
            <a:endParaRPr lang="en-US" sz="1400" dirty="0"/>
          </a:p>
          <a:p>
            <a:pPr marL="0" indent="0" algn="l">
              <a:buNone/>
            </a:pPr>
            <a:r>
              <a:rPr lang="en-US" sz="1400" dirty="0">
                <a:solidFill>
                  <a:srgbClr val="1A1A2E"/>
                </a:solidFill>
                <a:latin typeface="Calibri" pitchFamily="34" charset="0"/>
                <a:ea typeface="Calibri" pitchFamily="34" charset="-122"/>
                <a:cs typeface="Calibri" pitchFamily="34" charset="-120"/>
              </a:rPr>
              <a:t>• Focus pathway for software</a:t>
            </a:r>
            <a:r>
              <a:rPr lang="en-US" sz="1400" dirty="0"/>
              <a:t> </a:t>
            </a:r>
            <a:r>
              <a:rPr lang="en-US" sz="1400" dirty="0">
                <a:solidFill>
                  <a:srgbClr val="1A1A2E"/>
                </a:solidFill>
                <a:latin typeface="Calibri" pitchFamily="34" charset="0"/>
                <a:ea typeface="Calibri" pitchFamily="34" charset="-122"/>
                <a:cs typeface="Calibri" pitchFamily="34" charset="-120"/>
              </a:rPr>
              <a:t>engineers</a:t>
            </a:r>
            <a:endParaRPr lang="en-US" sz="1400" dirty="0"/>
          </a:p>
        </p:txBody>
      </p:sp>
      <p:sp>
        <p:nvSpPr>
          <p:cNvPr id="10" name="Text 8"/>
          <p:cNvSpPr/>
          <p:nvPr/>
        </p:nvSpPr>
        <p:spPr>
          <a:xfrm>
            <a:off x="2231136" y="2331720"/>
            <a:ext cx="201168" cy="411480"/>
          </a:xfrm>
          <a:prstGeom prst="rect">
            <a:avLst/>
          </a:prstGeom>
          <a:noFill/>
          <a:ln/>
        </p:spPr>
        <p:txBody>
          <a:bodyPr wrap="square" rtlCol="0" anchor="ctr"/>
          <a:lstStyle/>
          <a:p>
            <a:pPr marL="0" indent="0" algn="ctr">
              <a:buNone/>
            </a:pPr>
            <a:r>
              <a:rPr lang="en-US" sz="1600" b="1" dirty="0">
                <a:solidFill>
                  <a:srgbClr val="64748B"/>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2468880" y="804672"/>
            <a:ext cx="1874520" cy="457200"/>
          </a:xfrm>
          <a:prstGeom prst="rect">
            <a:avLst/>
          </a:prstGeom>
          <a:solidFill>
            <a:srgbClr val="1A7850"/>
          </a:solidFill>
          <a:ln w="12700">
            <a:solidFill>
              <a:srgbClr val="1A7850"/>
            </a:solidFill>
            <a:prstDash val="solid"/>
          </a:ln>
        </p:spPr>
        <p:txBody>
          <a:bodyPr/>
          <a:lstStyle/>
          <a:p>
            <a:endParaRPr lang="en-AU"/>
          </a:p>
        </p:txBody>
      </p:sp>
      <p:sp>
        <p:nvSpPr>
          <p:cNvPr id="12" name="Text 10"/>
          <p:cNvSpPr/>
          <p:nvPr/>
        </p:nvSpPr>
        <p:spPr>
          <a:xfrm>
            <a:off x="2468880" y="804672"/>
            <a:ext cx="1874520" cy="457200"/>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LAYER </a:t>
            </a:r>
            <a:r>
              <a:rPr lang="en-US" sz="2000" b="1" dirty="0">
                <a:solidFill>
                  <a:srgbClr val="FFFFFF"/>
                </a:solidFill>
                <a:latin typeface="Calibri" pitchFamily="34" charset="0"/>
                <a:ea typeface="Calibri" pitchFamily="34" charset="-122"/>
                <a:cs typeface="Calibri" pitchFamily="34" charset="-120"/>
              </a:rPr>
              <a:t>2</a:t>
            </a:r>
            <a:endParaRPr lang="en-US" sz="800" dirty="0"/>
          </a:p>
        </p:txBody>
      </p:sp>
      <p:sp>
        <p:nvSpPr>
          <p:cNvPr id="13" name="Shape 11"/>
          <p:cNvSpPr/>
          <p:nvPr/>
        </p:nvSpPr>
        <p:spPr>
          <a:xfrm>
            <a:off x="2468880" y="1261872"/>
            <a:ext cx="1874520" cy="2999232"/>
          </a:xfrm>
          <a:prstGeom prst="rect">
            <a:avLst/>
          </a:prstGeom>
          <a:solidFill>
            <a:srgbClr val="E8F8F0"/>
          </a:solidFill>
          <a:ln w="19050">
            <a:solidFill>
              <a:srgbClr val="1A7850"/>
            </a:solidFill>
            <a:prstDash val="solid"/>
          </a:ln>
          <a:effectLst>
            <a:outerShdw blurRad="63500" dist="25400" dir="8100000" algn="bl" rotWithShape="0">
              <a:srgbClr val="000000">
                <a:alpha val="13000"/>
              </a:srgbClr>
            </a:outerShdw>
          </a:effectLst>
        </p:spPr>
        <p:txBody>
          <a:bodyPr/>
          <a:lstStyle/>
          <a:p>
            <a:endParaRPr lang="en-AU"/>
          </a:p>
        </p:txBody>
      </p:sp>
      <p:sp>
        <p:nvSpPr>
          <p:cNvPr id="14" name="Text 12"/>
          <p:cNvSpPr/>
          <p:nvPr/>
        </p:nvSpPr>
        <p:spPr>
          <a:xfrm>
            <a:off x="2560320" y="1353312"/>
            <a:ext cx="1691640" cy="594360"/>
          </a:xfrm>
          <a:prstGeom prst="rect">
            <a:avLst/>
          </a:prstGeom>
          <a:noFill/>
          <a:ln/>
        </p:spPr>
        <p:txBody>
          <a:bodyPr wrap="square" rtlCol="0" anchor="ctr"/>
          <a:lstStyle/>
          <a:p>
            <a:pPr marL="0" indent="0" algn="ctr">
              <a:buNone/>
            </a:pPr>
            <a:r>
              <a:rPr lang="en-US" sz="1200" b="1" dirty="0">
                <a:solidFill>
                  <a:srgbClr val="1A7850"/>
                </a:solidFill>
                <a:latin typeface="Calibri" pitchFamily="34" charset="0"/>
                <a:ea typeface="Calibri" pitchFamily="34" charset="-122"/>
                <a:cs typeface="Calibri" pitchFamily="34" charset="-120"/>
              </a:rPr>
              <a:t>Design &amp; Analyse Models</a:t>
            </a:r>
            <a:endParaRPr lang="en-US" sz="1200" dirty="0"/>
          </a:p>
        </p:txBody>
      </p:sp>
      <p:sp>
        <p:nvSpPr>
          <p:cNvPr id="15" name="Shape 13"/>
          <p:cNvSpPr/>
          <p:nvPr/>
        </p:nvSpPr>
        <p:spPr>
          <a:xfrm>
            <a:off x="2606040" y="1993392"/>
            <a:ext cx="1600200" cy="0"/>
          </a:xfrm>
          <a:prstGeom prst="line">
            <a:avLst/>
          </a:prstGeom>
          <a:noFill/>
          <a:ln w="9525">
            <a:solidFill>
              <a:srgbClr val="1A7850"/>
            </a:solidFill>
            <a:prstDash val="solid"/>
          </a:ln>
        </p:spPr>
        <p:txBody>
          <a:bodyPr/>
          <a:lstStyle/>
          <a:p>
            <a:endParaRPr lang="en-AU"/>
          </a:p>
        </p:txBody>
      </p:sp>
      <p:sp>
        <p:nvSpPr>
          <p:cNvPr id="16" name="Text 14"/>
          <p:cNvSpPr/>
          <p:nvPr/>
        </p:nvSpPr>
        <p:spPr>
          <a:xfrm>
            <a:off x="2578608" y="2084832"/>
            <a:ext cx="1673352" cy="2084832"/>
          </a:xfrm>
          <a:prstGeom prst="rect">
            <a:avLst/>
          </a:prstGeom>
          <a:noFill/>
          <a:ln/>
        </p:spPr>
        <p:txBody>
          <a:bodyPr wrap="square" rtlCol="0" anchor="t"/>
          <a:lstStyle/>
          <a:p>
            <a:pPr marL="0" indent="0" algn="l">
              <a:buNone/>
            </a:pPr>
            <a:r>
              <a:rPr lang="en-US" sz="1400" dirty="0">
                <a:solidFill>
                  <a:srgbClr val="1A1A2E"/>
                </a:solidFill>
                <a:latin typeface="Calibri" pitchFamily="34" charset="0"/>
                <a:ea typeface="Calibri" pitchFamily="34" charset="-122"/>
                <a:cs typeface="Calibri" pitchFamily="34" charset="-120"/>
              </a:rPr>
              <a:t>• Decision Trees</a:t>
            </a:r>
            <a:endParaRPr lang="en-US" sz="1400" dirty="0"/>
          </a:p>
          <a:p>
            <a:pPr marL="0" indent="0" algn="l">
              <a:buNone/>
            </a:pPr>
            <a:r>
              <a:rPr lang="en-US" sz="1400" dirty="0">
                <a:solidFill>
                  <a:srgbClr val="1A1A2E"/>
                </a:solidFill>
                <a:latin typeface="Calibri" pitchFamily="34" charset="0"/>
                <a:ea typeface="Calibri" pitchFamily="34" charset="-122"/>
                <a:cs typeface="Calibri" pitchFamily="34" charset="-120"/>
              </a:rPr>
              <a:t>  (branching rule-based)</a:t>
            </a:r>
            <a:endParaRPr lang="en-US" sz="1400" dirty="0"/>
          </a:p>
          <a:p>
            <a:pPr marL="0" indent="0" algn="l">
              <a:buNone/>
            </a:pPr>
            <a:r>
              <a:rPr lang="en-US" sz="1400" dirty="0">
                <a:solidFill>
                  <a:srgbClr val="1A1A2E"/>
                </a:solidFill>
                <a:latin typeface="Calibri" pitchFamily="34" charset="0"/>
                <a:ea typeface="Calibri" pitchFamily="34" charset="-122"/>
                <a:cs typeface="Calibri" pitchFamily="34" charset="-120"/>
              </a:rPr>
              <a:t>• Neural Networks</a:t>
            </a:r>
            <a:endParaRPr lang="en-US" sz="1400" dirty="0"/>
          </a:p>
          <a:p>
            <a:pPr marL="0" indent="0" algn="l">
              <a:buNone/>
            </a:pPr>
            <a:r>
              <a:rPr lang="en-US" sz="1400" dirty="0">
                <a:solidFill>
                  <a:srgbClr val="1A1A2E"/>
                </a:solidFill>
                <a:latin typeface="Calibri" pitchFamily="34" charset="0"/>
                <a:ea typeface="Calibri" pitchFamily="34" charset="-122"/>
                <a:cs typeface="Calibri" pitchFamily="34" charset="-120"/>
              </a:rPr>
              <a:t>  (training + execution cycle)</a:t>
            </a:r>
            <a:endParaRPr lang="en-US" sz="1400" dirty="0"/>
          </a:p>
        </p:txBody>
      </p:sp>
      <p:sp>
        <p:nvSpPr>
          <p:cNvPr id="17" name="Text 15"/>
          <p:cNvSpPr/>
          <p:nvPr/>
        </p:nvSpPr>
        <p:spPr>
          <a:xfrm>
            <a:off x="4379976" y="2331720"/>
            <a:ext cx="201168" cy="411480"/>
          </a:xfrm>
          <a:prstGeom prst="rect">
            <a:avLst/>
          </a:prstGeom>
          <a:noFill/>
          <a:ln/>
        </p:spPr>
        <p:txBody>
          <a:bodyPr wrap="square" rtlCol="0" anchor="ctr"/>
          <a:lstStyle/>
          <a:p>
            <a:pPr marL="0" indent="0" algn="ctr">
              <a:buNone/>
            </a:pPr>
            <a:r>
              <a:rPr lang="en-US" sz="1600" b="1" dirty="0">
                <a:solidFill>
                  <a:srgbClr val="64748B"/>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4617720" y="804672"/>
            <a:ext cx="1874520" cy="457200"/>
          </a:xfrm>
          <a:prstGeom prst="rect">
            <a:avLst/>
          </a:prstGeom>
          <a:solidFill>
            <a:srgbClr val="B05A0C"/>
          </a:solidFill>
          <a:ln w="12700">
            <a:solidFill>
              <a:srgbClr val="B05A0C"/>
            </a:solidFill>
            <a:prstDash val="solid"/>
          </a:ln>
        </p:spPr>
        <p:txBody>
          <a:bodyPr/>
          <a:lstStyle/>
          <a:p>
            <a:endParaRPr lang="en-AU"/>
          </a:p>
        </p:txBody>
      </p:sp>
      <p:sp>
        <p:nvSpPr>
          <p:cNvPr id="19" name="Text 17"/>
          <p:cNvSpPr/>
          <p:nvPr/>
        </p:nvSpPr>
        <p:spPr>
          <a:xfrm>
            <a:off x="4617720" y="804672"/>
            <a:ext cx="1874520" cy="457200"/>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LAYER </a:t>
            </a:r>
            <a:r>
              <a:rPr lang="en-US" sz="20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Shape 18"/>
          <p:cNvSpPr/>
          <p:nvPr/>
        </p:nvSpPr>
        <p:spPr>
          <a:xfrm>
            <a:off x="4617720" y="1261872"/>
            <a:ext cx="1874520" cy="2999232"/>
          </a:xfrm>
          <a:prstGeom prst="rect">
            <a:avLst/>
          </a:prstGeom>
          <a:solidFill>
            <a:srgbClr val="FEF5E7"/>
          </a:solidFill>
          <a:ln w="19050">
            <a:solidFill>
              <a:srgbClr val="B05A0C"/>
            </a:solidFill>
            <a:prstDash val="solid"/>
          </a:ln>
          <a:effectLst>
            <a:outerShdw blurRad="63500" dist="25400" dir="8100000" algn="bl" rotWithShape="0">
              <a:srgbClr val="000000">
                <a:alpha val="13000"/>
              </a:srgbClr>
            </a:outerShdw>
          </a:effectLst>
        </p:spPr>
        <p:txBody>
          <a:bodyPr/>
          <a:lstStyle/>
          <a:p>
            <a:endParaRPr lang="en-AU"/>
          </a:p>
        </p:txBody>
      </p:sp>
      <p:sp>
        <p:nvSpPr>
          <p:cNvPr id="21" name="Text 19"/>
          <p:cNvSpPr/>
          <p:nvPr/>
        </p:nvSpPr>
        <p:spPr>
          <a:xfrm>
            <a:off x="4709160" y="1353312"/>
            <a:ext cx="1691640" cy="594360"/>
          </a:xfrm>
          <a:prstGeom prst="rect">
            <a:avLst/>
          </a:prstGeom>
          <a:noFill/>
          <a:ln/>
        </p:spPr>
        <p:txBody>
          <a:bodyPr wrap="square" rtlCol="0" anchor="ctr"/>
          <a:lstStyle/>
          <a:p>
            <a:pPr marL="0" indent="0" algn="ctr">
              <a:buNone/>
            </a:pPr>
            <a:r>
              <a:rPr lang="en-US" sz="1200" b="1" dirty="0">
                <a:solidFill>
                  <a:srgbClr val="B05A0C"/>
                </a:solidFill>
                <a:latin typeface="Calibri" pitchFamily="34" charset="0"/>
                <a:ea typeface="Calibri" pitchFamily="34" charset="-122"/>
                <a:cs typeface="Calibri" pitchFamily="34" charset="-120"/>
              </a:rPr>
              <a:t>Algorithm Types</a:t>
            </a:r>
            <a:endParaRPr lang="en-US" sz="1200" dirty="0"/>
          </a:p>
        </p:txBody>
      </p:sp>
      <p:sp>
        <p:nvSpPr>
          <p:cNvPr id="22" name="Shape 20"/>
          <p:cNvSpPr/>
          <p:nvPr/>
        </p:nvSpPr>
        <p:spPr>
          <a:xfrm>
            <a:off x="4754880" y="1993392"/>
            <a:ext cx="1600200" cy="0"/>
          </a:xfrm>
          <a:prstGeom prst="line">
            <a:avLst/>
          </a:prstGeom>
          <a:noFill/>
          <a:ln w="9525">
            <a:solidFill>
              <a:srgbClr val="B05A0C"/>
            </a:solidFill>
            <a:prstDash val="solid"/>
          </a:ln>
        </p:spPr>
        <p:txBody>
          <a:bodyPr/>
          <a:lstStyle/>
          <a:p>
            <a:endParaRPr lang="en-AU"/>
          </a:p>
        </p:txBody>
      </p:sp>
      <p:sp>
        <p:nvSpPr>
          <p:cNvPr id="23" name="Text 21"/>
          <p:cNvSpPr/>
          <p:nvPr/>
        </p:nvSpPr>
        <p:spPr>
          <a:xfrm>
            <a:off x="4727448" y="2084832"/>
            <a:ext cx="1673352" cy="2084832"/>
          </a:xfrm>
          <a:prstGeom prst="rect">
            <a:avLst/>
          </a:prstGeom>
          <a:noFill/>
          <a:ln/>
        </p:spPr>
        <p:txBody>
          <a:bodyPr wrap="square" rtlCol="0" anchor="t"/>
          <a:lstStyle/>
          <a:p>
            <a:pPr marL="0" indent="0" algn="l">
              <a:buNone/>
            </a:pPr>
            <a:r>
              <a:rPr lang="en-US" sz="1400" dirty="0">
                <a:solidFill>
                  <a:srgbClr val="1A1A2E"/>
                </a:solidFill>
                <a:latin typeface="Calibri" pitchFamily="34" charset="0"/>
                <a:cs typeface="Calibri" pitchFamily="34" charset="-120"/>
              </a:rPr>
              <a:t>• Linear Regression
• Logistic Regression
• K-Nearest Neighbour
</a:t>
            </a:r>
          </a:p>
        </p:txBody>
      </p:sp>
      <p:sp>
        <p:nvSpPr>
          <p:cNvPr id="24" name="Text 22"/>
          <p:cNvSpPr/>
          <p:nvPr/>
        </p:nvSpPr>
        <p:spPr>
          <a:xfrm>
            <a:off x="6528816" y="2331720"/>
            <a:ext cx="201168" cy="411480"/>
          </a:xfrm>
          <a:prstGeom prst="rect">
            <a:avLst/>
          </a:prstGeom>
          <a:noFill/>
          <a:ln/>
        </p:spPr>
        <p:txBody>
          <a:bodyPr wrap="square" rtlCol="0" anchor="ctr"/>
          <a:lstStyle/>
          <a:p>
            <a:pPr marL="0" indent="0" algn="ctr">
              <a:buNone/>
            </a:pPr>
            <a:r>
              <a:rPr lang="en-US" sz="1600" b="1" dirty="0">
                <a:solidFill>
                  <a:srgbClr val="64748B"/>
                </a:solidFill>
                <a:latin typeface="Calibri" pitchFamily="34" charset="0"/>
                <a:ea typeface="Calibri" pitchFamily="34" charset="-122"/>
                <a:cs typeface="Calibri" pitchFamily="34" charset="-120"/>
              </a:rPr>
              <a:t>→</a:t>
            </a:r>
            <a:endParaRPr lang="en-US" sz="1600" dirty="0"/>
          </a:p>
        </p:txBody>
      </p:sp>
      <p:sp>
        <p:nvSpPr>
          <p:cNvPr id="25" name="Shape 23"/>
          <p:cNvSpPr/>
          <p:nvPr/>
        </p:nvSpPr>
        <p:spPr>
          <a:xfrm>
            <a:off x="6766560" y="804672"/>
            <a:ext cx="1874520" cy="457200"/>
          </a:xfrm>
          <a:prstGeom prst="rect">
            <a:avLst/>
          </a:prstGeom>
          <a:solidFill>
            <a:srgbClr val="1A5276"/>
          </a:solidFill>
          <a:ln w="12700">
            <a:solidFill>
              <a:srgbClr val="1A5276"/>
            </a:solidFill>
            <a:prstDash val="solid"/>
          </a:ln>
        </p:spPr>
        <p:txBody>
          <a:bodyPr/>
          <a:lstStyle/>
          <a:p>
            <a:endParaRPr lang="en-AU"/>
          </a:p>
        </p:txBody>
      </p:sp>
      <p:sp>
        <p:nvSpPr>
          <p:cNvPr id="26" name="Text 24"/>
          <p:cNvSpPr/>
          <p:nvPr/>
        </p:nvSpPr>
        <p:spPr>
          <a:xfrm>
            <a:off x="6766560" y="804672"/>
            <a:ext cx="1874520" cy="457200"/>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LAYER </a:t>
            </a:r>
            <a:r>
              <a:rPr lang="en-US" sz="2000" b="1" dirty="0">
                <a:solidFill>
                  <a:srgbClr val="FFFFFF"/>
                </a:solidFill>
                <a:latin typeface="Calibri" pitchFamily="34" charset="0"/>
                <a:ea typeface="Calibri" pitchFamily="34" charset="-122"/>
                <a:cs typeface="Calibri" pitchFamily="34" charset="-120"/>
              </a:rPr>
              <a:t>4</a:t>
            </a:r>
            <a:endParaRPr lang="en-US" sz="800" dirty="0"/>
          </a:p>
        </p:txBody>
      </p:sp>
      <p:sp>
        <p:nvSpPr>
          <p:cNvPr id="27" name="Shape 25"/>
          <p:cNvSpPr/>
          <p:nvPr/>
        </p:nvSpPr>
        <p:spPr>
          <a:xfrm>
            <a:off x="6766560" y="1261872"/>
            <a:ext cx="1874520" cy="2999232"/>
          </a:xfrm>
          <a:prstGeom prst="rect">
            <a:avLst/>
          </a:prstGeom>
          <a:solidFill>
            <a:srgbClr val="EBF5FB"/>
          </a:solidFill>
          <a:ln w="19050">
            <a:solidFill>
              <a:srgbClr val="1A5276"/>
            </a:solidFill>
            <a:prstDash val="solid"/>
          </a:ln>
          <a:effectLst>
            <a:outerShdw blurRad="63500" dist="25400" dir="8100000" algn="bl" rotWithShape="0">
              <a:srgbClr val="000000">
                <a:alpha val="13000"/>
              </a:srgbClr>
            </a:outerShdw>
          </a:effectLst>
        </p:spPr>
        <p:txBody>
          <a:bodyPr/>
          <a:lstStyle/>
          <a:p>
            <a:endParaRPr lang="en-AU"/>
          </a:p>
        </p:txBody>
      </p:sp>
      <p:sp>
        <p:nvSpPr>
          <p:cNvPr id="28" name="Text 26"/>
          <p:cNvSpPr/>
          <p:nvPr/>
        </p:nvSpPr>
        <p:spPr>
          <a:xfrm>
            <a:off x="6858000" y="1353312"/>
            <a:ext cx="1691640" cy="594360"/>
          </a:xfrm>
          <a:prstGeom prst="rect">
            <a:avLst/>
          </a:prstGeom>
          <a:noFill/>
          <a:ln/>
        </p:spPr>
        <p:txBody>
          <a:bodyPr wrap="square" rtlCol="0" anchor="ctr"/>
          <a:lstStyle/>
          <a:p>
            <a:pPr marL="0" indent="0" algn="ctr">
              <a:buNone/>
            </a:pPr>
            <a:r>
              <a:rPr lang="en-US" sz="1200" b="1" dirty="0">
                <a:solidFill>
                  <a:srgbClr val="1A5276"/>
                </a:solidFill>
                <a:latin typeface="Calibri" pitchFamily="34" charset="0"/>
                <a:ea typeface="Calibri" pitchFamily="34" charset="-122"/>
                <a:cs typeface="Calibri" pitchFamily="34" charset="-120"/>
              </a:rPr>
              <a:t>Common Applications</a:t>
            </a:r>
            <a:endParaRPr lang="en-US" sz="1200" dirty="0"/>
          </a:p>
        </p:txBody>
      </p:sp>
      <p:sp>
        <p:nvSpPr>
          <p:cNvPr id="29" name="Shape 27"/>
          <p:cNvSpPr/>
          <p:nvPr/>
        </p:nvSpPr>
        <p:spPr>
          <a:xfrm>
            <a:off x="6903720" y="1993392"/>
            <a:ext cx="1600200" cy="0"/>
          </a:xfrm>
          <a:prstGeom prst="line">
            <a:avLst/>
          </a:prstGeom>
          <a:noFill/>
          <a:ln w="9525">
            <a:solidFill>
              <a:srgbClr val="1A5276"/>
            </a:solidFill>
            <a:prstDash val="solid"/>
          </a:ln>
        </p:spPr>
        <p:txBody>
          <a:bodyPr/>
          <a:lstStyle/>
          <a:p>
            <a:endParaRPr lang="en-AU"/>
          </a:p>
        </p:txBody>
      </p:sp>
      <p:sp>
        <p:nvSpPr>
          <p:cNvPr id="30" name="Text 28"/>
          <p:cNvSpPr/>
          <p:nvPr/>
        </p:nvSpPr>
        <p:spPr>
          <a:xfrm>
            <a:off x="6876288" y="2084832"/>
            <a:ext cx="1673352" cy="2084832"/>
          </a:xfrm>
          <a:prstGeom prst="rect">
            <a:avLst/>
          </a:prstGeom>
          <a:noFill/>
          <a:ln/>
        </p:spPr>
        <p:txBody>
          <a:bodyPr wrap="square" rtlCol="0" anchor="t"/>
          <a:lstStyle/>
          <a:p>
            <a:pPr marL="0" indent="0" algn="l">
              <a:buNone/>
            </a:pPr>
            <a:r>
              <a:rPr lang="en-US" sz="1400" dirty="0">
                <a:solidFill>
                  <a:srgbClr val="1A1A2E"/>
                </a:solidFill>
                <a:latin typeface="Calibri" pitchFamily="34" charset="0"/>
                <a:cs typeface="Calibri" pitchFamily="34" charset="-120"/>
              </a:rPr>
              <a:t>• Data Analysis &amp;</a:t>
            </a:r>
          </a:p>
          <a:p>
            <a:pPr marL="0" indent="0" algn="l">
              <a:buNone/>
            </a:pPr>
            <a:r>
              <a:rPr lang="en-US" sz="1400" dirty="0">
                <a:solidFill>
                  <a:srgbClr val="1A1A2E"/>
                </a:solidFill>
                <a:latin typeface="Calibri" pitchFamily="34" charset="0"/>
                <a:cs typeface="Calibri" pitchFamily="34" charset="-120"/>
              </a:rPr>
              <a:t>  Forecasting</a:t>
            </a:r>
          </a:p>
          <a:p>
            <a:pPr marL="0" indent="0" algn="l">
              <a:buNone/>
            </a:pPr>
            <a:r>
              <a:rPr lang="en-US" sz="1400" dirty="0">
                <a:solidFill>
                  <a:srgbClr val="1A1A2E"/>
                </a:solidFill>
                <a:latin typeface="Calibri" pitchFamily="34" charset="0"/>
                <a:cs typeface="Calibri" pitchFamily="34" charset="-120"/>
              </a:rPr>
              <a:t>• Virtual Personal Assistants</a:t>
            </a:r>
          </a:p>
          <a:p>
            <a:pPr marL="0" indent="0" algn="l">
              <a:buNone/>
            </a:pPr>
            <a:r>
              <a:rPr lang="en-US" sz="1400" dirty="0">
                <a:solidFill>
                  <a:srgbClr val="1A1A2E"/>
                </a:solidFill>
                <a:latin typeface="Calibri" pitchFamily="34" charset="0"/>
                <a:cs typeface="Calibri" pitchFamily="34" charset="-120"/>
              </a:rPr>
              <a:t>• Image Recognition</a:t>
            </a:r>
          </a:p>
        </p:txBody>
      </p:sp>
      <p:sp>
        <p:nvSpPr>
          <p:cNvPr id="31" name="Text 29"/>
          <p:cNvSpPr/>
          <p:nvPr/>
        </p:nvSpPr>
        <p:spPr>
          <a:xfrm>
            <a:off x="320040" y="4370832"/>
            <a:ext cx="8503920" cy="32004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Read each layer in order — every layer feeds directly into the next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6C2B8F"/>
          </a:solidFill>
          <a:ln w="12700">
            <a:solidFill>
              <a:srgbClr val="6C2B8F"/>
            </a:solidFill>
            <a:prstDash val="solid"/>
          </a:ln>
        </p:spPr>
        <p:txBody>
          <a:bodyPr/>
          <a:lstStyle/>
          <a:p>
            <a:endParaRPr lang="en-AU"/>
          </a:p>
        </p:txBody>
      </p:sp>
      <p:sp>
        <p:nvSpPr>
          <p:cNvPr id="3" name="Text 1"/>
          <p:cNvSpPr/>
          <p:nvPr/>
        </p:nvSpPr>
        <p:spPr>
          <a:xfrm>
            <a:off x="320040" y="0"/>
            <a:ext cx="8503920" cy="640080"/>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Layer 1 — Supervised Learning: The Foundation</a:t>
            </a:r>
            <a:endParaRPr lang="en-US" sz="1900" dirty="0"/>
          </a:p>
        </p:txBody>
      </p:sp>
      <p:sp>
        <p:nvSpPr>
          <p:cNvPr id="4" name="Shape 2"/>
          <p:cNvSpPr/>
          <p:nvPr/>
        </p:nvSpPr>
        <p:spPr>
          <a:xfrm>
            <a:off x="274320" y="804672"/>
            <a:ext cx="4114800" cy="1874520"/>
          </a:xfrm>
          <a:prstGeom prst="rect">
            <a:avLst/>
          </a:prstGeom>
          <a:solidFill>
            <a:srgbClr val="6C2B8F"/>
          </a:solidFill>
          <a:ln w="12700">
            <a:solidFill>
              <a:srgbClr val="6C2B8F"/>
            </a:solidFill>
            <a:prstDash val="solid"/>
          </a:ln>
          <a:effectLst>
            <a:outerShdw blurRad="63500" dist="25400" dir="8100000" algn="bl" rotWithShape="0">
              <a:srgbClr val="000000">
                <a:alpha val="13000"/>
              </a:srgbClr>
            </a:outerShdw>
          </a:effectLst>
        </p:spPr>
        <p:txBody>
          <a:bodyPr/>
          <a:lstStyle/>
          <a:p>
            <a:endParaRPr lang="en-AU"/>
          </a:p>
        </p:txBody>
      </p:sp>
      <p:sp>
        <p:nvSpPr>
          <p:cNvPr id="5" name="Text 3"/>
          <p:cNvSpPr/>
          <p:nvPr/>
        </p:nvSpPr>
        <p:spPr>
          <a:xfrm>
            <a:off x="411480" y="896112"/>
            <a:ext cx="3840480" cy="292608"/>
          </a:xfrm>
          <a:prstGeom prst="rect">
            <a:avLst/>
          </a:prstGeom>
          <a:noFill/>
          <a:ln/>
        </p:spPr>
        <p:txBody>
          <a:bodyPr wrap="square" rtlCol="0" anchor="ctr"/>
          <a:lstStyle/>
          <a:p>
            <a:pPr marL="0" indent="0">
              <a:buNone/>
            </a:pPr>
            <a:r>
              <a:rPr lang="en-US" sz="1000" b="1" dirty="0">
                <a:solidFill>
                  <a:srgbClr val="DDDDFF"/>
                </a:solidFill>
                <a:latin typeface="Calibri" pitchFamily="34" charset="0"/>
                <a:ea typeface="Calibri" pitchFamily="34" charset="-122"/>
                <a:cs typeface="Calibri" pitchFamily="34" charset="-120"/>
              </a:rPr>
              <a:t>DEFINITION</a:t>
            </a:r>
            <a:endParaRPr lang="en-US" sz="1000" dirty="0"/>
          </a:p>
        </p:txBody>
      </p:sp>
      <p:sp>
        <p:nvSpPr>
          <p:cNvPr id="6" name="Text 4"/>
          <p:cNvSpPr/>
          <p:nvPr/>
        </p:nvSpPr>
        <p:spPr>
          <a:xfrm>
            <a:off x="411480" y="1188720"/>
            <a:ext cx="3840480" cy="1399032"/>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In supervised learning, the system is trained on a labelled dataset — a collection of examples where each input is paired with the correct output answer. The machine learns to map inputs to outputs by minimising the error between its predictions and the known correct answers.</a:t>
            </a:r>
            <a:endParaRPr lang="en-US" sz="1100" dirty="0"/>
          </a:p>
        </p:txBody>
      </p:sp>
      <p:sp>
        <p:nvSpPr>
          <p:cNvPr id="7" name="Shape 5"/>
          <p:cNvSpPr/>
          <p:nvPr/>
        </p:nvSpPr>
        <p:spPr>
          <a:xfrm>
            <a:off x="274320" y="2770632"/>
            <a:ext cx="4114800" cy="2194560"/>
          </a:xfrm>
          <a:prstGeom prst="rect">
            <a:avLst/>
          </a:prstGeom>
          <a:solidFill>
            <a:srgbClr val="F5EEF8"/>
          </a:solidFill>
          <a:ln w="19050">
            <a:solidFill>
              <a:srgbClr val="6C2B8F"/>
            </a:solidFill>
            <a:prstDash val="solid"/>
          </a:ln>
          <a:effectLst>
            <a:outerShdw blurRad="63500" dist="25400" dir="8100000" algn="bl" rotWithShape="0">
              <a:srgbClr val="000000">
                <a:alpha val="13000"/>
              </a:srgbClr>
            </a:outerShdw>
          </a:effectLst>
        </p:spPr>
        <p:txBody>
          <a:bodyPr/>
          <a:lstStyle/>
          <a:p>
            <a:endParaRPr lang="en-AU"/>
          </a:p>
        </p:txBody>
      </p:sp>
      <p:sp>
        <p:nvSpPr>
          <p:cNvPr id="8" name="Shape 6"/>
          <p:cNvSpPr/>
          <p:nvPr/>
        </p:nvSpPr>
        <p:spPr>
          <a:xfrm>
            <a:off x="274320" y="2770632"/>
            <a:ext cx="109728" cy="2194560"/>
          </a:xfrm>
          <a:prstGeom prst="rect">
            <a:avLst/>
          </a:prstGeom>
          <a:solidFill>
            <a:srgbClr val="6C2B8F"/>
          </a:solidFill>
          <a:ln w="12700">
            <a:solidFill>
              <a:srgbClr val="6C2B8F"/>
            </a:solidFill>
            <a:prstDash val="solid"/>
          </a:ln>
        </p:spPr>
        <p:txBody>
          <a:bodyPr/>
          <a:lstStyle/>
          <a:p>
            <a:endParaRPr lang="en-AU"/>
          </a:p>
        </p:txBody>
      </p:sp>
      <p:sp>
        <p:nvSpPr>
          <p:cNvPr id="9" name="Text 7"/>
          <p:cNvSpPr/>
          <p:nvPr/>
        </p:nvSpPr>
        <p:spPr>
          <a:xfrm>
            <a:off x="475488" y="2852928"/>
            <a:ext cx="3822192" cy="320040"/>
          </a:xfrm>
          <a:prstGeom prst="rect">
            <a:avLst/>
          </a:prstGeom>
          <a:noFill/>
          <a:ln/>
        </p:spPr>
        <p:txBody>
          <a:bodyPr wrap="square" rtlCol="0" anchor="ctr"/>
          <a:lstStyle/>
          <a:p>
            <a:pPr marL="0" indent="0">
              <a:buNone/>
            </a:pPr>
            <a:r>
              <a:rPr lang="en-US" sz="1150" b="1" dirty="0">
                <a:solidFill>
                  <a:srgbClr val="6C2B8F"/>
                </a:solidFill>
                <a:latin typeface="Calibri" pitchFamily="34" charset="0"/>
                <a:ea typeface="Calibri" pitchFamily="34" charset="-122"/>
                <a:cs typeface="Calibri" pitchFamily="34" charset="-120"/>
              </a:rPr>
              <a:t>Why Supervised Learning is the Focus Pathway for SEs</a:t>
            </a:r>
            <a:endParaRPr lang="en-US" sz="1150" dirty="0"/>
          </a:p>
        </p:txBody>
      </p:sp>
      <p:sp>
        <p:nvSpPr>
          <p:cNvPr id="10" name="Text 8"/>
          <p:cNvSpPr/>
          <p:nvPr/>
        </p:nvSpPr>
        <p:spPr>
          <a:xfrm>
            <a:off x="475488" y="3172968"/>
            <a:ext cx="3822192" cy="1700784"/>
          </a:xfrm>
          <a:prstGeom prst="rect">
            <a:avLst/>
          </a:prstGeom>
          <a:noFill/>
          <a:ln/>
        </p:spPr>
        <p:txBody>
          <a:bodyPr wrap="square" rtlCol="0" anchor="t"/>
          <a:lstStyle/>
          <a:p>
            <a:pPr marL="0" indent="0">
              <a:buNone/>
            </a:pPr>
            <a:r>
              <a:rPr lang="en-US" sz="1100" dirty="0">
                <a:solidFill>
                  <a:srgbClr val="1A1A2E"/>
                </a:solidFill>
                <a:latin typeface="Calibri" pitchFamily="34" charset="0"/>
                <a:ea typeface="Calibri" pitchFamily="34" charset="-122"/>
                <a:cs typeface="Calibri" pitchFamily="34" charset="-120"/>
              </a:rPr>
              <a:t>Decision trees and neural networks (Layer 2) are both supervised model architectures.</a:t>
            </a:r>
            <a:endParaRPr lang="en-US" sz="1100" dirty="0"/>
          </a:p>
          <a:p>
            <a:pPr marL="0" indent="0">
              <a:buNone/>
            </a:pP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Linear regression, logistic regression, and KNN (Layer 3) are all supervised algorithms.</a:t>
            </a:r>
            <a:endParaRPr lang="en-US" sz="1100" dirty="0"/>
          </a:p>
          <a:p>
            <a:pPr marL="0" indent="0">
              <a:buNone/>
            </a:pP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All three applications (Layer 4) are deployed supervised learning systems.</a:t>
            </a:r>
            <a:endParaRPr lang="en-US" sz="1100" dirty="0"/>
          </a:p>
        </p:txBody>
      </p:sp>
      <p:sp>
        <p:nvSpPr>
          <p:cNvPr id="11" name="Shape 9"/>
          <p:cNvSpPr/>
          <p:nvPr/>
        </p:nvSpPr>
        <p:spPr>
          <a:xfrm>
            <a:off x="4617720" y="804672"/>
            <a:ext cx="4251960" cy="1143000"/>
          </a:xfrm>
          <a:prstGeom prst="rect">
            <a:avLst/>
          </a:prstGeom>
          <a:solidFill>
            <a:srgbClr val="F5EEF8"/>
          </a:solidFill>
          <a:ln w="19050">
            <a:solidFill>
              <a:srgbClr val="6C2B8F"/>
            </a:solidFill>
            <a:prstDash val="solid"/>
          </a:ln>
          <a:effectLst>
            <a:outerShdw blurRad="63500" dist="25400" dir="8100000" algn="bl" rotWithShape="0">
              <a:srgbClr val="000000">
                <a:alpha val="13000"/>
              </a:srgbClr>
            </a:outerShdw>
          </a:effectLst>
        </p:spPr>
        <p:txBody>
          <a:bodyPr/>
          <a:lstStyle/>
          <a:p>
            <a:endParaRPr lang="en-AU"/>
          </a:p>
        </p:txBody>
      </p:sp>
      <p:sp>
        <p:nvSpPr>
          <p:cNvPr id="12" name="Shape 10"/>
          <p:cNvSpPr/>
          <p:nvPr/>
        </p:nvSpPr>
        <p:spPr>
          <a:xfrm>
            <a:off x="4617720" y="804672"/>
            <a:ext cx="109728" cy="1143000"/>
          </a:xfrm>
          <a:prstGeom prst="rect">
            <a:avLst/>
          </a:prstGeom>
          <a:solidFill>
            <a:srgbClr val="6C2B8F"/>
          </a:solidFill>
          <a:ln w="12700">
            <a:solidFill>
              <a:srgbClr val="6C2B8F"/>
            </a:solidFill>
            <a:prstDash val="solid"/>
          </a:ln>
        </p:spPr>
        <p:txBody>
          <a:bodyPr/>
          <a:lstStyle/>
          <a:p>
            <a:endParaRPr lang="en-AU"/>
          </a:p>
        </p:txBody>
      </p:sp>
      <p:sp>
        <p:nvSpPr>
          <p:cNvPr id="13" name="Text 11"/>
          <p:cNvSpPr/>
          <p:nvPr/>
        </p:nvSpPr>
        <p:spPr>
          <a:xfrm>
            <a:off x="4818888" y="886968"/>
            <a:ext cx="3959352" cy="320040"/>
          </a:xfrm>
          <a:prstGeom prst="rect">
            <a:avLst/>
          </a:prstGeom>
          <a:noFill/>
          <a:ln/>
        </p:spPr>
        <p:txBody>
          <a:bodyPr wrap="square" rtlCol="0" anchor="ctr"/>
          <a:lstStyle/>
          <a:p>
            <a:pPr marL="0" indent="0">
              <a:buNone/>
            </a:pPr>
            <a:r>
              <a:rPr lang="en-US" sz="1150" b="1" dirty="0">
                <a:solidFill>
                  <a:srgbClr val="6C2B8F"/>
                </a:solidFill>
                <a:latin typeface="Calibri" pitchFamily="34" charset="0"/>
                <a:ea typeface="Calibri" pitchFamily="34" charset="-122"/>
                <a:cs typeface="Calibri" pitchFamily="34" charset="-120"/>
              </a:rPr>
              <a:t>Labelled Data Required</a:t>
            </a:r>
            <a:endParaRPr lang="en-US" sz="1150" dirty="0"/>
          </a:p>
        </p:txBody>
      </p:sp>
      <p:sp>
        <p:nvSpPr>
          <p:cNvPr id="14" name="Text 12"/>
          <p:cNvSpPr/>
          <p:nvPr/>
        </p:nvSpPr>
        <p:spPr>
          <a:xfrm>
            <a:off x="4818888" y="1207008"/>
            <a:ext cx="3959352" cy="649224"/>
          </a:xfrm>
          <a:prstGeom prst="rect">
            <a:avLst/>
          </a:prstGeom>
          <a:noFill/>
          <a:ln/>
        </p:spPr>
        <p:txBody>
          <a:bodyPr wrap="square" rtlCol="0" anchor="t"/>
          <a:lstStyle/>
          <a:p>
            <a:pPr marL="0" indent="0">
              <a:buNone/>
            </a:pPr>
            <a:r>
              <a:rPr lang="en-US" sz="1100" dirty="0">
                <a:solidFill>
                  <a:srgbClr val="1A1A2E"/>
                </a:solidFill>
                <a:latin typeface="Calibri" pitchFamily="34" charset="0"/>
                <a:ea typeface="Calibri" pitchFamily="34" charset="-122"/>
                <a:cs typeface="Calibri" pitchFamily="34" charset="-120"/>
              </a:rPr>
              <a:t>Each training example has an input (features or measurements) and a correct output (the label). Example: a house listing + its sale price.</a:t>
            </a:r>
            <a:endParaRPr lang="en-US" sz="1100" dirty="0"/>
          </a:p>
        </p:txBody>
      </p:sp>
      <p:sp>
        <p:nvSpPr>
          <p:cNvPr id="15" name="Shape 13"/>
          <p:cNvSpPr/>
          <p:nvPr/>
        </p:nvSpPr>
        <p:spPr>
          <a:xfrm>
            <a:off x="4617720" y="2084832"/>
            <a:ext cx="4251960" cy="1143000"/>
          </a:xfrm>
          <a:prstGeom prst="rect">
            <a:avLst/>
          </a:prstGeom>
          <a:solidFill>
            <a:srgbClr val="F5EEF8"/>
          </a:solidFill>
          <a:ln w="19050">
            <a:solidFill>
              <a:srgbClr val="6C2B8F"/>
            </a:solidFill>
            <a:prstDash val="solid"/>
          </a:ln>
          <a:effectLst>
            <a:outerShdw blurRad="63500" dist="25400" dir="8100000" algn="bl" rotWithShape="0">
              <a:srgbClr val="000000">
                <a:alpha val="13000"/>
              </a:srgbClr>
            </a:outerShdw>
          </a:effectLst>
        </p:spPr>
        <p:txBody>
          <a:bodyPr/>
          <a:lstStyle/>
          <a:p>
            <a:endParaRPr lang="en-AU"/>
          </a:p>
        </p:txBody>
      </p:sp>
      <p:sp>
        <p:nvSpPr>
          <p:cNvPr id="16" name="Shape 14"/>
          <p:cNvSpPr/>
          <p:nvPr/>
        </p:nvSpPr>
        <p:spPr>
          <a:xfrm>
            <a:off x="4617720" y="2084832"/>
            <a:ext cx="109728" cy="1143000"/>
          </a:xfrm>
          <a:prstGeom prst="rect">
            <a:avLst/>
          </a:prstGeom>
          <a:solidFill>
            <a:srgbClr val="6C2B8F"/>
          </a:solidFill>
          <a:ln w="12700">
            <a:solidFill>
              <a:srgbClr val="6C2B8F"/>
            </a:solidFill>
            <a:prstDash val="solid"/>
          </a:ln>
        </p:spPr>
        <p:txBody>
          <a:bodyPr/>
          <a:lstStyle/>
          <a:p>
            <a:endParaRPr lang="en-AU"/>
          </a:p>
        </p:txBody>
      </p:sp>
      <p:sp>
        <p:nvSpPr>
          <p:cNvPr id="17" name="Text 15"/>
          <p:cNvSpPr/>
          <p:nvPr/>
        </p:nvSpPr>
        <p:spPr>
          <a:xfrm>
            <a:off x="4818888" y="2167128"/>
            <a:ext cx="3959352" cy="320040"/>
          </a:xfrm>
          <a:prstGeom prst="rect">
            <a:avLst/>
          </a:prstGeom>
          <a:noFill/>
          <a:ln/>
        </p:spPr>
        <p:txBody>
          <a:bodyPr wrap="square" rtlCol="0" anchor="ctr"/>
          <a:lstStyle/>
          <a:p>
            <a:pPr marL="0" indent="0">
              <a:buNone/>
            </a:pPr>
            <a:r>
              <a:rPr lang="en-US" sz="1150" b="1" dirty="0">
                <a:solidFill>
                  <a:srgbClr val="6C2B8F"/>
                </a:solidFill>
                <a:latin typeface="Calibri" pitchFamily="34" charset="0"/>
                <a:ea typeface="Calibri" pitchFamily="34" charset="-122"/>
                <a:cs typeface="Calibri" pitchFamily="34" charset="-120"/>
              </a:rPr>
              <a:t>The Machine Learns a Mapping</a:t>
            </a:r>
            <a:endParaRPr lang="en-US" sz="1150" dirty="0"/>
          </a:p>
        </p:txBody>
      </p:sp>
      <p:sp>
        <p:nvSpPr>
          <p:cNvPr id="18" name="Text 16"/>
          <p:cNvSpPr/>
          <p:nvPr/>
        </p:nvSpPr>
        <p:spPr>
          <a:xfrm>
            <a:off x="4818888" y="2487168"/>
            <a:ext cx="3959352" cy="649224"/>
          </a:xfrm>
          <a:prstGeom prst="rect">
            <a:avLst/>
          </a:prstGeom>
          <a:noFill/>
          <a:ln/>
        </p:spPr>
        <p:txBody>
          <a:bodyPr wrap="square" rtlCol="0" anchor="t"/>
          <a:lstStyle/>
          <a:p>
            <a:pPr marL="0" indent="0">
              <a:buNone/>
            </a:pPr>
            <a:r>
              <a:rPr lang="en-US" sz="1100" dirty="0">
                <a:solidFill>
                  <a:srgbClr val="1A1A2E"/>
                </a:solidFill>
                <a:latin typeface="Calibri" pitchFamily="34" charset="0"/>
                <a:ea typeface="Calibri" pitchFamily="34" charset="-122"/>
                <a:cs typeface="Calibri" pitchFamily="34" charset="-120"/>
              </a:rPr>
              <a:t>The system repeatedly adjusts its internal parameters to minimise the gap between its prediction and the correct answer.</a:t>
            </a:r>
            <a:endParaRPr lang="en-US" sz="1100" dirty="0"/>
          </a:p>
        </p:txBody>
      </p:sp>
      <p:sp>
        <p:nvSpPr>
          <p:cNvPr id="19" name="Shape 17"/>
          <p:cNvSpPr/>
          <p:nvPr/>
        </p:nvSpPr>
        <p:spPr>
          <a:xfrm>
            <a:off x="4617720" y="3364992"/>
            <a:ext cx="4251960" cy="1143000"/>
          </a:xfrm>
          <a:prstGeom prst="rect">
            <a:avLst/>
          </a:prstGeom>
          <a:solidFill>
            <a:srgbClr val="F5EEF8"/>
          </a:solidFill>
          <a:ln w="19050">
            <a:solidFill>
              <a:srgbClr val="6C2B8F"/>
            </a:solidFill>
            <a:prstDash val="solid"/>
          </a:ln>
          <a:effectLst>
            <a:outerShdw blurRad="63500" dist="25400" dir="8100000" algn="bl" rotWithShape="0">
              <a:srgbClr val="000000">
                <a:alpha val="13000"/>
              </a:srgbClr>
            </a:outerShdw>
          </a:effectLst>
        </p:spPr>
        <p:txBody>
          <a:bodyPr/>
          <a:lstStyle/>
          <a:p>
            <a:endParaRPr lang="en-AU"/>
          </a:p>
        </p:txBody>
      </p:sp>
      <p:sp>
        <p:nvSpPr>
          <p:cNvPr id="20" name="Shape 18"/>
          <p:cNvSpPr/>
          <p:nvPr/>
        </p:nvSpPr>
        <p:spPr>
          <a:xfrm>
            <a:off x="4617720" y="3364992"/>
            <a:ext cx="109728" cy="1143000"/>
          </a:xfrm>
          <a:prstGeom prst="rect">
            <a:avLst/>
          </a:prstGeom>
          <a:solidFill>
            <a:srgbClr val="6C2B8F"/>
          </a:solidFill>
          <a:ln w="12700">
            <a:solidFill>
              <a:srgbClr val="6C2B8F"/>
            </a:solidFill>
            <a:prstDash val="solid"/>
          </a:ln>
        </p:spPr>
        <p:txBody>
          <a:bodyPr/>
          <a:lstStyle/>
          <a:p>
            <a:endParaRPr lang="en-AU"/>
          </a:p>
        </p:txBody>
      </p:sp>
      <p:sp>
        <p:nvSpPr>
          <p:cNvPr id="21" name="Text 19"/>
          <p:cNvSpPr/>
          <p:nvPr/>
        </p:nvSpPr>
        <p:spPr>
          <a:xfrm>
            <a:off x="4818888" y="3447288"/>
            <a:ext cx="3959352" cy="320040"/>
          </a:xfrm>
          <a:prstGeom prst="rect">
            <a:avLst/>
          </a:prstGeom>
          <a:noFill/>
          <a:ln/>
        </p:spPr>
        <p:txBody>
          <a:bodyPr wrap="square" rtlCol="0" anchor="ctr"/>
          <a:lstStyle/>
          <a:p>
            <a:pPr marL="0" indent="0">
              <a:buNone/>
            </a:pPr>
            <a:r>
              <a:rPr lang="en-US" sz="1150" b="1" dirty="0">
                <a:solidFill>
                  <a:srgbClr val="6C2B8F"/>
                </a:solidFill>
                <a:latin typeface="Calibri" pitchFamily="34" charset="0"/>
                <a:ea typeface="Calibri" pitchFamily="34" charset="-122"/>
                <a:cs typeface="Calibri" pitchFamily="34" charset="-120"/>
              </a:rPr>
              <a:t>Generalises to New Data</a:t>
            </a:r>
            <a:endParaRPr lang="en-US" sz="1150" dirty="0"/>
          </a:p>
        </p:txBody>
      </p:sp>
      <p:sp>
        <p:nvSpPr>
          <p:cNvPr id="22" name="Text 20"/>
          <p:cNvSpPr/>
          <p:nvPr/>
        </p:nvSpPr>
        <p:spPr>
          <a:xfrm>
            <a:off x="4818888" y="3767328"/>
            <a:ext cx="3959352" cy="649224"/>
          </a:xfrm>
          <a:prstGeom prst="rect">
            <a:avLst/>
          </a:prstGeom>
          <a:noFill/>
          <a:ln/>
        </p:spPr>
        <p:txBody>
          <a:bodyPr wrap="square" rtlCol="0" anchor="t"/>
          <a:lstStyle/>
          <a:p>
            <a:pPr marL="0" indent="0">
              <a:buNone/>
            </a:pPr>
            <a:r>
              <a:rPr lang="en-US" sz="1100" dirty="0">
                <a:solidFill>
                  <a:srgbClr val="1A1A2E"/>
                </a:solidFill>
                <a:latin typeface="Calibri" pitchFamily="34" charset="0"/>
                <a:ea typeface="Calibri" pitchFamily="34" charset="-122"/>
                <a:cs typeface="Calibri" pitchFamily="34" charset="-120"/>
              </a:rPr>
              <a:t>Once trained, the model predicts outputs for new, unseen inputs it has never encountered. This is the system in deployment.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7850"/>
          </a:solidFill>
          <a:ln w="12700">
            <a:solidFill>
              <a:srgbClr val="1A7850"/>
            </a:solidFill>
            <a:prstDash val="solid"/>
          </a:ln>
        </p:spPr>
        <p:txBody>
          <a:bodyPr/>
          <a:lstStyle/>
          <a:p>
            <a:endParaRPr lang="en-AU"/>
          </a:p>
        </p:txBody>
      </p:sp>
      <p:sp>
        <p:nvSpPr>
          <p:cNvPr id="3" name="Text 1"/>
          <p:cNvSpPr/>
          <p:nvPr/>
        </p:nvSpPr>
        <p:spPr>
          <a:xfrm>
            <a:off x="320040" y="0"/>
            <a:ext cx="8503920" cy="640080"/>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Layer 2 — Model: Decision Trees</a:t>
            </a:r>
            <a:endParaRPr lang="en-US" sz="1900" dirty="0"/>
          </a:p>
        </p:txBody>
      </p:sp>
      <p:sp>
        <p:nvSpPr>
          <p:cNvPr id="4" name="Shape 2"/>
          <p:cNvSpPr/>
          <p:nvPr/>
        </p:nvSpPr>
        <p:spPr>
          <a:xfrm>
            <a:off x="274320" y="804672"/>
            <a:ext cx="4114800" cy="1737360"/>
          </a:xfrm>
          <a:prstGeom prst="rect">
            <a:avLst/>
          </a:prstGeom>
          <a:solidFill>
            <a:srgbClr val="1A7850"/>
          </a:solidFill>
          <a:ln w="12700">
            <a:solidFill>
              <a:srgbClr val="1A7850"/>
            </a:solidFill>
            <a:prstDash val="solid"/>
          </a:ln>
          <a:effectLst>
            <a:outerShdw blurRad="63500" dist="25400" dir="8100000" algn="bl" rotWithShape="0">
              <a:srgbClr val="000000">
                <a:alpha val="13000"/>
              </a:srgbClr>
            </a:outerShdw>
          </a:effectLst>
        </p:spPr>
        <p:txBody>
          <a:bodyPr/>
          <a:lstStyle/>
          <a:p>
            <a:endParaRPr lang="en-AU"/>
          </a:p>
        </p:txBody>
      </p:sp>
      <p:sp>
        <p:nvSpPr>
          <p:cNvPr id="5" name="Text 3"/>
          <p:cNvSpPr/>
          <p:nvPr/>
        </p:nvSpPr>
        <p:spPr>
          <a:xfrm>
            <a:off x="411480" y="896112"/>
            <a:ext cx="3840480" cy="292608"/>
          </a:xfrm>
          <a:prstGeom prst="rect">
            <a:avLst/>
          </a:prstGeom>
          <a:noFill/>
          <a:ln/>
        </p:spPr>
        <p:txBody>
          <a:bodyPr wrap="square" rtlCol="0" anchor="ctr"/>
          <a:lstStyle/>
          <a:p>
            <a:pPr marL="0" indent="0">
              <a:buNone/>
            </a:pPr>
            <a:r>
              <a:rPr lang="en-US" sz="1000" b="1" dirty="0">
                <a:solidFill>
                  <a:srgbClr val="DDDDFF"/>
                </a:solidFill>
                <a:latin typeface="Calibri" pitchFamily="34" charset="0"/>
                <a:ea typeface="Calibri" pitchFamily="34" charset="-122"/>
                <a:cs typeface="Calibri" pitchFamily="34" charset="-120"/>
              </a:rPr>
              <a:t>DEFINITION</a:t>
            </a:r>
            <a:endParaRPr lang="en-US" sz="1000" dirty="0"/>
          </a:p>
        </p:txBody>
      </p:sp>
      <p:sp>
        <p:nvSpPr>
          <p:cNvPr id="6" name="Text 4"/>
          <p:cNvSpPr/>
          <p:nvPr/>
        </p:nvSpPr>
        <p:spPr>
          <a:xfrm>
            <a:off x="411480" y="1188720"/>
            <a:ext cx="3840480" cy="1261872"/>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A decision tree represents all possible combinations of decisions as a branching structure. Each internal node tests an input feature, each branch represents the outcome of that test, and each leaf node produces a final classification or predicted value.</a:t>
            </a:r>
            <a:endParaRPr lang="en-US" sz="1100" dirty="0"/>
          </a:p>
        </p:txBody>
      </p:sp>
      <p:sp>
        <p:nvSpPr>
          <p:cNvPr id="7" name="Shape 5"/>
          <p:cNvSpPr/>
          <p:nvPr/>
        </p:nvSpPr>
        <p:spPr>
          <a:xfrm>
            <a:off x="274320" y="2633472"/>
            <a:ext cx="4114800" cy="2331720"/>
          </a:xfrm>
          <a:prstGeom prst="rect">
            <a:avLst/>
          </a:prstGeom>
          <a:solidFill>
            <a:srgbClr val="E8F8F0"/>
          </a:solidFill>
          <a:ln w="19050">
            <a:solidFill>
              <a:srgbClr val="1A7850"/>
            </a:solidFill>
            <a:prstDash val="solid"/>
          </a:ln>
          <a:effectLst>
            <a:outerShdw blurRad="63500" dist="25400" dir="8100000" algn="bl" rotWithShape="0">
              <a:srgbClr val="000000">
                <a:alpha val="13000"/>
              </a:srgbClr>
            </a:outerShdw>
          </a:effectLst>
        </p:spPr>
        <p:txBody>
          <a:bodyPr/>
          <a:lstStyle/>
          <a:p>
            <a:endParaRPr lang="en-AU"/>
          </a:p>
        </p:txBody>
      </p:sp>
      <p:sp>
        <p:nvSpPr>
          <p:cNvPr id="8" name="Shape 6"/>
          <p:cNvSpPr/>
          <p:nvPr/>
        </p:nvSpPr>
        <p:spPr>
          <a:xfrm>
            <a:off x="274320" y="2633472"/>
            <a:ext cx="109728" cy="2331720"/>
          </a:xfrm>
          <a:prstGeom prst="rect">
            <a:avLst/>
          </a:prstGeom>
          <a:solidFill>
            <a:srgbClr val="1A7850"/>
          </a:solidFill>
          <a:ln w="12700">
            <a:solidFill>
              <a:srgbClr val="1A7850"/>
            </a:solidFill>
            <a:prstDash val="solid"/>
          </a:ln>
        </p:spPr>
        <p:txBody>
          <a:bodyPr/>
          <a:lstStyle/>
          <a:p>
            <a:endParaRPr lang="en-AU"/>
          </a:p>
        </p:txBody>
      </p:sp>
      <p:sp>
        <p:nvSpPr>
          <p:cNvPr id="9" name="Text 7"/>
          <p:cNvSpPr/>
          <p:nvPr/>
        </p:nvSpPr>
        <p:spPr>
          <a:xfrm>
            <a:off x="475488" y="2715768"/>
            <a:ext cx="3822192" cy="320040"/>
          </a:xfrm>
          <a:prstGeom prst="rect">
            <a:avLst/>
          </a:prstGeom>
          <a:noFill/>
          <a:ln/>
        </p:spPr>
        <p:txBody>
          <a:bodyPr wrap="square" rtlCol="0" anchor="ctr"/>
          <a:lstStyle/>
          <a:p>
            <a:pPr marL="0" indent="0">
              <a:buNone/>
            </a:pPr>
            <a:r>
              <a:rPr lang="en-US" sz="1150" b="1" dirty="0">
                <a:solidFill>
                  <a:srgbClr val="1A7850"/>
                </a:solidFill>
                <a:latin typeface="Calibri" pitchFamily="34" charset="0"/>
                <a:ea typeface="Calibri" pitchFamily="34" charset="-122"/>
                <a:cs typeface="Calibri" pitchFamily="34" charset="-120"/>
              </a:rPr>
              <a:t>How a Software Engineer Uses a Decision Tree</a:t>
            </a:r>
            <a:endParaRPr lang="en-US" sz="1150" dirty="0"/>
          </a:p>
        </p:txBody>
      </p:sp>
      <p:sp>
        <p:nvSpPr>
          <p:cNvPr id="10" name="Text 8"/>
          <p:cNvSpPr/>
          <p:nvPr/>
        </p:nvSpPr>
        <p:spPr>
          <a:xfrm>
            <a:off x="475488" y="3035808"/>
            <a:ext cx="3822192" cy="1837944"/>
          </a:xfrm>
          <a:prstGeom prst="rect">
            <a:avLst/>
          </a:prstGeom>
          <a:noFill/>
          <a:ln/>
        </p:spPr>
        <p:txBody>
          <a:bodyPr wrap="square" rtlCol="0" anchor="t"/>
          <a:lstStyle/>
          <a:p>
            <a:pPr marL="0" indent="0">
              <a:buNone/>
            </a:pPr>
            <a:r>
              <a:rPr lang="en-US" sz="1100" dirty="0">
                <a:solidFill>
                  <a:srgbClr val="1A1A2E"/>
                </a:solidFill>
                <a:latin typeface="Calibri" pitchFamily="34" charset="0"/>
                <a:ea typeface="Calibri" pitchFamily="34" charset="-122"/>
                <a:cs typeface="Calibri" pitchFamily="34" charset="-120"/>
              </a:rPr>
              <a:t>The SE determines:</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 Which features to test at each node</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 The condition for branching (e.g. score &gt; 70)</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 How deep the tree runs</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 What classification each leaf outputs</a:t>
            </a:r>
            <a:endParaRPr lang="en-US" sz="1100" dirty="0"/>
          </a:p>
          <a:p>
            <a:pPr marL="0" indent="0">
              <a:buNone/>
            </a:pP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Once designed, logistic regression or KNN (Layer 3) determines the optimal split condition during training.</a:t>
            </a:r>
            <a:endParaRPr lang="en-US" sz="1100" dirty="0"/>
          </a:p>
        </p:txBody>
      </p:sp>
      <p:sp>
        <p:nvSpPr>
          <p:cNvPr id="11" name="Shape 9"/>
          <p:cNvSpPr/>
          <p:nvPr/>
        </p:nvSpPr>
        <p:spPr>
          <a:xfrm>
            <a:off x="6286500" y="868680"/>
            <a:ext cx="914400" cy="347472"/>
          </a:xfrm>
          <a:prstGeom prst="rect">
            <a:avLst/>
          </a:prstGeom>
          <a:solidFill>
            <a:srgbClr val="FFFFFF"/>
          </a:solidFill>
          <a:ln w="19050">
            <a:solidFill>
              <a:srgbClr val="1A7850"/>
            </a:solidFill>
            <a:prstDash val="solid"/>
          </a:ln>
        </p:spPr>
        <p:txBody>
          <a:bodyPr/>
          <a:lstStyle/>
          <a:p>
            <a:endParaRPr lang="en-AU"/>
          </a:p>
        </p:txBody>
      </p:sp>
      <p:sp>
        <p:nvSpPr>
          <p:cNvPr id="12" name="Text 10"/>
          <p:cNvSpPr/>
          <p:nvPr/>
        </p:nvSpPr>
        <p:spPr>
          <a:xfrm>
            <a:off x="6341364" y="868680"/>
            <a:ext cx="804672" cy="347472"/>
          </a:xfrm>
          <a:prstGeom prst="rect">
            <a:avLst/>
          </a:prstGeom>
          <a:noFill/>
          <a:ln/>
        </p:spPr>
        <p:txBody>
          <a:bodyPr wrap="square" rtlCol="0" anchor="ctr"/>
          <a:lstStyle/>
          <a:p>
            <a:pPr marL="0" indent="0" algn="ctr">
              <a:buNone/>
            </a:pPr>
            <a:r>
              <a:rPr lang="en-US" sz="900" dirty="0">
                <a:solidFill>
                  <a:srgbClr val="1A7850"/>
                </a:solidFill>
                <a:latin typeface="Calibri" pitchFamily="34" charset="0"/>
                <a:ea typeface="Calibri" pitchFamily="34" charset="-122"/>
                <a:cs typeface="Calibri" pitchFamily="34" charset="-120"/>
              </a:rPr>
              <a:t>Credit &gt; 700?</a:t>
            </a:r>
            <a:endParaRPr lang="en-US" sz="900" dirty="0"/>
          </a:p>
        </p:txBody>
      </p:sp>
      <p:sp>
        <p:nvSpPr>
          <p:cNvPr id="13" name="Shape 11"/>
          <p:cNvSpPr/>
          <p:nvPr/>
        </p:nvSpPr>
        <p:spPr>
          <a:xfrm flipH="1">
            <a:off x="5719572" y="1216152"/>
            <a:ext cx="1024128" cy="438912"/>
          </a:xfrm>
          <a:prstGeom prst="line">
            <a:avLst/>
          </a:prstGeom>
          <a:noFill/>
          <a:ln w="12700">
            <a:solidFill>
              <a:srgbClr val="1A7850"/>
            </a:solidFill>
            <a:prstDash val="solid"/>
          </a:ln>
        </p:spPr>
        <p:txBody>
          <a:bodyPr/>
          <a:lstStyle/>
          <a:p>
            <a:endParaRPr lang="en-AU"/>
          </a:p>
        </p:txBody>
      </p:sp>
      <p:sp>
        <p:nvSpPr>
          <p:cNvPr id="14" name="Shape 12"/>
          <p:cNvSpPr/>
          <p:nvPr/>
        </p:nvSpPr>
        <p:spPr>
          <a:xfrm>
            <a:off x="6743700" y="1216152"/>
            <a:ext cx="1024128" cy="438912"/>
          </a:xfrm>
          <a:prstGeom prst="line">
            <a:avLst/>
          </a:prstGeom>
          <a:noFill/>
          <a:ln w="12700">
            <a:solidFill>
              <a:srgbClr val="1A7850"/>
            </a:solidFill>
            <a:prstDash val="solid"/>
          </a:ln>
        </p:spPr>
        <p:txBody>
          <a:bodyPr/>
          <a:lstStyle/>
          <a:p>
            <a:endParaRPr lang="en-AU"/>
          </a:p>
        </p:txBody>
      </p:sp>
      <p:sp>
        <p:nvSpPr>
          <p:cNvPr id="15" name="Text 13"/>
          <p:cNvSpPr/>
          <p:nvPr/>
        </p:nvSpPr>
        <p:spPr>
          <a:xfrm>
            <a:off x="5875020" y="1289304"/>
            <a:ext cx="320040" cy="201168"/>
          </a:xfrm>
          <a:prstGeom prst="rect">
            <a:avLst/>
          </a:prstGeom>
          <a:noFill/>
          <a:ln/>
        </p:spPr>
        <p:txBody>
          <a:bodyPr wrap="square" rtlCol="0" anchor="ctr"/>
          <a:lstStyle/>
          <a:p>
            <a:pPr marL="0" indent="0" algn="ctr">
              <a:buNone/>
            </a:pPr>
            <a:r>
              <a:rPr lang="en-US" sz="850" b="1" dirty="0">
                <a:solidFill>
                  <a:srgbClr val="1A7850"/>
                </a:solidFill>
                <a:latin typeface="Calibri" pitchFamily="34" charset="0"/>
                <a:ea typeface="Calibri" pitchFamily="34" charset="-122"/>
                <a:cs typeface="Calibri" pitchFamily="34" charset="-120"/>
              </a:rPr>
              <a:t>Yes</a:t>
            </a:r>
            <a:endParaRPr lang="en-US" sz="850" dirty="0"/>
          </a:p>
        </p:txBody>
      </p:sp>
      <p:sp>
        <p:nvSpPr>
          <p:cNvPr id="16" name="Text 14"/>
          <p:cNvSpPr/>
          <p:nvPr/>
        </p:nvSpPr>
        <p:spPr>
          <a:xfrm>
            <a:off x="7310628" y="1289304"/>
            <a:ext cx="320040" cy="201168"/>
          </a:xfrm>
          <a:prstGeom prst="rect">
            <a:avLst/>
          </a:prstGeom>
          <a:noFill/>
          <a:ln/>
        </p:spPr>
        <p:txBody>
          <a:bodyPr wrap="square" rtlCol="0" anchor="ctr"/>
          <a:lstStyle/>
          <a:p>
            <a:pPr marL="0" indent="0" algn="ctr">
              <a:buNone/>
            </a:pPr>
            <a:r>
              <a:rPr lang="en-US" sz="850" b="1" dirty="0">
                <a:solidFill>
                  <a:srgbClr val="1A7850"/>
                </a:solidFill>
                <a:latin typeface="Calibri" pitchFamily="34" charset="0"/>
                <a:ea typeface="Calibri" pitchFamily="34" charset="-122"/>
                <a:cs typeface="Calibri" pitchFamily="34" charset="-120"/>
              </a:rPr>
              <a:t>No</a:t>
            </a:r>
            <a:endParaRPr lang="en-US" sz="850" dirty="0"/>
          </a:p>
        </p:txBody>
      </p:sp>
      <p:sp>
        <p:nvSpPr>
          <p:cNvPr id="17" name="Shape 15"/>
          <p:cNvSpPr/>
          <p:nvPr/>
        </p:nvSpPr>
        <p:spPr>
          <a:xfrm>
            <a:off x="5262372" y="1655064"/>
            <a:ext cx="914400" cy="347472"/>
          </a:xfrm>
          <a:prstGeom prst="rect">
            <a:avLst/>
          </a:prstGeom>
          <a:solidFill>
            <a:srgbClr val="FFFFFF"/>
          </a:solidFill>
          <a:ln w="19050">
            <a:solidFill>
              <a:srgbClr val="1A7850"/>
            </a:solidFill>
            <a:prstDash val="solid"/>
          </a:ln>
        </p:spPr>
        <p:txBody>
          <a:bodyPr/>
          <a:lstStyle/>
          <a:p>
            <a:endParaRPr lang="en-AU"/>
          </a:p>
        </p:txBody>
      </p:sp>
      <p:sp>
        <p:nvSpPr>
          <p:cNvPr id="18" name="Text 16"/>
          <p:cNvSpPr/>
          <p:nvPr/>
        </p:nvSpPr>
        <p:spPr>
          <a:xfrm>
            <a:off x="5317236" y="1655064"/>
            <a:ext cx="804672" cy="347472"/>
          </a:xfrm>
          <a:prstGeom prst="rect">
            <a:avLst/>
          </a:prstGeom>
          <a:noFill/>
          <a:ln/>
        </p:spPr>
        <p:txBody>
          <a:bodyPr wrap="square" rtlCol="0" anchor="ctr"/>
          <a:lstStyle/>
          <a:p>
            <a:pPr marL="0" indent="0" algn="ctr">
              <a:buNone/>
            </a:pPr>
            <a:r>
              <a:rPr lang="en-US" sz="900" dirty="0">
                <a:solidFill>
                  <a:srgbClr val="1A7850"/>
                </a:solidFill>
                <a:latin typeface="Calibri" pitchFamily="34" charset="0"/>
                <a:ea typeface="Calibri" pitchFamily="34" charset="-122"/>
                <a:cs typeface="Calibri" pitchFamily="34" charset="-120"/>
              </a:rPr>
              <a:t>Income &gt; $60k?</a:t>
            </a:r>
            <a:endParaRPr lang="en-US" sz="900" dirty="0"/>
          </a:p>
        </p:txBody>
      </p:sp>
      <p:sp>
        <p:nvSpPr>
          <p:cNvPr id="19" name="Shape 17"/>
          <p:cNvSpPr/>
          <p:nvPr/>
        </p:nvSpPr>
        <p:spPr>
          <a:xfrm>
            <a:off x="7310628" y="1655064"/>
            <a:ext cx="914400" cy="347472"/>
          </a:xfrm>
          <a:prstGeom prst="rect">
            <a:avLst/>
          </a:prstGeom>
          <a:solidFill>
            <a:srgbClr val="FFFFFF"/>
          </a:solidFill>
          <a:ln w="19050">
            <a:solidFill>
              <a:srgbClr val="1A7850"/>
            </a:solidFill>
            <a:prstDash val="solid"/>
          </a:ln>
        </p:spPr>
        <p:txBody>
          <a:bodyPr/>
          <a:lstStyle/>
          <a:p>
            <a:endParaRPr lang="en-AU"/>
          </a:p>
        </p:txBody>
      </p:sp>
      <p:sp>
        <p:nvSpPr>
          <p:cNvPr id="20" name="Text 18"/>
          <p:cNvSpPr/>
          <p:nvPr/>
        </p:nvSpPr>
        <p:spPr>
          <a:xfrm>
            <a:off x="7365492" y="1655064"/>
            <a:ext cx="804672" cy="347472"/>
          </a:xfrm>
          <a:prstGeom prst="rect">
            <a:avLst/>
          </a:prstGeom>
          <a:noFill/>
          <a:ln/>
        </p:spPr>
        <p:txBody>
          <a:bodyPr wrap="square" rtlCol="0" anchor="ctr"/>
          <a:lstStyle/>
          <a:p>
            <a:pPr marL="0" indent="0" algn="ctr">
              <a:buNone/>
            </a:pPr>
            <a:r>
              <a:rPr lang="en-US" sz="900" dirty="0">
                <a:solidFill>
                  <a:srgbClr val="1A7850"/>
                </a:solidFill>
                <a:latin typeface="Calibri" pitchFamily="34" charset="0"/>
                <a:ea typeface="Calibri" pitchFamily="34" charset="-122"/>
                <a:cs typeface="Calibri" pitchFamily="34" charset="-120"/>
              </a:rPr>
              <a:t>Employed?</a:t>
            </a:r>
            <a:endParaRPr lang="en-US" sz="900" dirty="0"/>
          </a:p>
        </p:txBody>
      </p:sp>
      <p:sp>
        <p:nvSpPr>
          <p:cNvPr id="21" name="Shape 19"/>
          <p:cNvSpPr/>
          <p:nvPr/>
        </p:nvSpPr>
        <p:spPr>
          <a:xfrm flipH="1">
            <a:off x="5207508" y="2002536"/>
            <a:ext cx="512064" cy="402336"/>
          </a:xfrm>
          <a:prstGeom prst="line">
            <a:avLst/>
          </a:prstGeom>
          <a:noFill/>
          <a:ln w="12700">
            <a:solidFill>
              <a:srgbClr val="1A7850"/>
            </a:solidFill>
            <a:prstDash val="solid"/>
          </a:ln>
        </p:spPr>
        <p:txBody>
          <a:bodyPr/>
          <a:lstStyle/>
          <a:p>
            <a:endParaRPr lang="en-AU"/>
          </a:p>
        </p:txBody>
      </p:sp>
      <p:sp>
        <p:nvSpPr>
          <p:cNvPr id="22" name="Shape 20"/>
          <p:cNvSpPr/>
          <p:nvPr/>
        </p:nvSpPr>
        <p:spPr>
          <a:xfrm>
            <a:off x="5719572" y="2002536"/>
            <a:ext cx="512064" cy="402336"/>
          </a:xfrm>
          <a:prstGeom prst="line">
            <a:avLst/>
          </a:prstGeom>
          <a:noFill/>
          <a:ln w="12700">
            <a:solidFill>
              <a:srgbClr val="1A7850"/>
            </a:solidFill>
            <a:prstDash val="solid"/>
          </a:ln>
        </p:spPr>
        <p:txBody>
          <a:bodyPr/>
          <a:lstStyle/>
          <a:p>
            <a:endParaRPr lang="en-AU"/>
          </a:p>
        </p:txBody>
      </p:sp>
      <p:sp>
        <p:nvSpPr>
          <p:cNvPr id="23" name="Shape 21"/>
          <p:cNvSpPr/>
          <p:nvPr/>
        </p:nvSpPr>
        <p:spPr>
          <a:xfrm flipH="1">
            <a:off x="7255764" y="2002536"/>
            <a:ext cx="512064" cy="402336"/>
          </a:xfrm>
          <a:prstGeom prst="line">
            <a:avLst/>
          </a:prstGeom>
          <a:noFill/>
          <a:ln w="12700">
            <a:solidFill>
              <a:srgbClr val="1A7850"/>
            </a:solidFill>
            <a:prstDash val="solid"/>
          </a:ln>
        </p:spPr>
        <p:txBody>
          <a:bodyPr/>
          <a:lstStyle/>
          <a:p>
            <a:endParaRPr lang="en-AU"/>
          </a:p>
        </p:txBody>
      </p:sp>
      <p:sp>
        <p:nvSpPr>
          <p:cNvPr id="24" name="Shape 22"/>
          <p:cNvSpPr/>
          <p:nvPr/>
        </p:nvSpPr>
        <p:spPr>
          <a:xfrm>
            <a:off x="7767828" y="2002536"/>
            <a:ext cx="512064" cy="402336"/>
          </a:xfrm>
          <a:prstGeom prst="line">
            <a:avLst/>
          </a:prstGeom>
          <a:noFill/>
          <a:ln w="12700">
            <a:solidFill>
              <a:srgbClr val="1A7850"/>
            </a:solidFill>
            <a:prstDash val="solid"/>
          </a:ln>
        </p:spPr>
        <p:txBody>
          <a:bodyPr/>
          <a:lstStyle/>
          <a:p>
            <a:endParaRPr lang="en-AU"/>
          </a:p>
        </p:txBody>
      </p:sp>
      <p:sp>
        <p:nvSpPr>
          <p:cNvPr id="25" name="Text 23"/>
          <p:cNvSpPr/>
          <p:nvPr/>
        </p:nvSpPr>
        <p:spPr>
          <a:xfrm>
            <a:off x="4942332" y="2057400"/>
            <a:ext cx="274320" cy="182880"/>
          </a:xfrm>
          <a:prstGeom prst="rect">
            <a:avLst/>
          </a:prstGeom>
          <a:noFill/>
          <a:ln/>
        </p:spPr>
        <p:txBody>
          <a:bodyPr wrap="square" rtlCol="0" anchor="ctr"/>
          <a:lstStyle/>
          <a:p>
            <a:pPr marL="0" indent="0" algn="ctr">
              <a:buNone/>
            </a:pPr>
            <a:r>
              <a:rPr lang="en-US" sz="800" b="1" dirty="0">
                <a:solidFill>
                  <a:srgbClr val="27AE60"/>
                </a:solidFill>
                <a:latin typeface="Calibri" pitchFamily="34" charset="0"/>
                <a:ea typeface="Calibri" pitchFamily="34" charset="-122"/>
                <a:cs typeface="Calibri" pitchFamily="34" charset="-120"/>
              </a:rPr>
              <a:t>Yes</a:t>
            </a:r>
            <a:endParaRPr lang="en-US" sz="800" dirty="0"/>
          </a:p>
        </p:txBody>
      </p:sp>
      <p:sp>
        <p:nvSpPr>
          <p:cNvPr id="26" name="Text 24"/>
          <p:cNvSpPr/>
          <p:nvPr/>
        </p:nvSpPr>
        <p:spPr>
          <a:xfrm>
            <a:off x="6222492" y="2057400"/>
            <a:ext cx="274320" cy="182880"/>
          </a:xfrm>
          <a:prstGeom prst="rect">
            <a:avLst/>
          </a:prstGeom>
          <a:noFill/>
          <a:ln/>
        </p:spPr>
        <p:txBody>
          <a:bodyPr wrap="square" rtlCol="0" anchor="ctr"/>
          <a:lstStyle/>
          <a:p>
            <a:pPr marL="0" indent="0" algn="ctr">
              <a:buNone/>
            </a:pPr>
            <a:r>
              <a:rPr lang="en-US" sz="800" b="1" dirty="0">
                <a:solidFill>
                  <a:srgbClr val="C0392B"/>
                </a:solidFill>
                <a:latin typeface="Calibri" pitchFamily="34" charset="0"/>
                <a:ea typeface="Calibri" pitchFamily="34" charset="-122"/>
                <a:cs typeface="Calibri" pitchFamily="34" charset="-120"/>
              </a:rPr>
              <a:t>No</a:t>
            </a:r>
            <a:endParaRPr lang="en-US" sz="800" dirty="0"/>
          </a:p>
        </p:txBody>
      </p:sp>
      <p:sp>
        <p:nvSpPr>
          <p:cNvPr id="27" name="Text 25"/>
          <p:cNvSpPr/>
          <p:nvPr/>
        </p:nvSpPr>
        <p:spPr>
          <a:xfrm>
            <a:off x="6990588" y="2057400"/>
            <a:ext cx="274320" cy="182880"/>
          </a:xfrm>
          <a:prstGeom prst="rect">
            <a:avLst/>
          </a:prstGeom>
          <a:noFill/>
          <a:ln/>
        </p:spPr>
        <p:txBody>
          <a:bodyPr wrap="square" rtlCol="0" anchor="ctr"/>
          <a:lstStyle/>
          <a:p>
            <a:pPr marL="0" indent="0" algn="ctr">
              <a:buNone/>
            </a:pPr>
            <a:r>
              <a:rPr lang="en-US" sz="800" b="1" dirty="0">
                <a:solidFill>
                  <a:srgbClr val="27AE60"/>
                </a:solidFill>
                <a:latin typeface="Calibri" pitchFamily="34" charset="0"/>
                <a:ea typeface="Calibri" pitchFamily="34" charset="-122"/>
                <a:cs typeface="Calibri" pitchFamily="34" charset="-120"/>
              </a:rPr>
              <a:t>Yes</a:t>
            </a:r>
            <a:endParaRPr lang="en-US" sz="800" dirty="0"/>
          </a:p>
        </p:txBody>
      </p:sp>
      <p:sp>
        <p:nvSpPr>
          <p:cNvPr id="28" name="Text 26"/>
          <p:cNvSpPr/>
          <p:nvPr/>
        </p:nvSpPr>
        <p:spPr>
          <a:xfrm>
            <a:off x="8270748" y="2057400"/>
            <a:ext cx="274320" cy="182880"/>
          </a:xfrm>
          <a:prstGeom prst="rect">
            <a:avLst/>
          </a:prstGeom>
          <a:noFill/>
          <a:ln/>
        </p:spPr>
        <p:txBody>
          <a:bodyPr wrap="square" rtlCol="0" anchor="ctr"/>
          <a:lstStyle/>
          <a:p>
            <a:pPr marL="0" indent="0" algn="ctr">
              <a:buNone/>
            </a:pPr>
            <a:r>
              <a:rPr lang="en-US" sz="800" b="1" dirty="0">
                <a:solidFill>
                  <a:srgbClr val="C0392B"/>
                </a:solidFill>
                <a:latin typeface="Calibri" pitchFamily="34" charset="0"/>
                <a:ea typeface="Calibri" pitchFamily="34" charset="-122"/>
                <a:cs typeface="Calibri" pitchFamily="34" charset="-120"/>
              </a:rPr>
              <a:t>No</a:t>
            </a:r>
            <a:endParaRPr lang="en-US" sz="800" dirty="0"/>
          </a:p>
        </p:txBody>
      </p:sp>
      <p:sp>
        <p:nvSpPr>
          <p:cNvPr id="29" name="Shape 27"/>
          <p:cNvSpPr/>
          <p:nvPr/>
        </p:nvSpPr>
        <p:spPr>
          <a:xfrm>
            <a:off x="4750308" y="2404872"/>
            <a:ext cx="914400" cy="347472"/>
          </a:xfrm>
          <a:prstGeom prst="rect">
            <a:avLst/>
          </a:prstGeom>
          <a:solidFill>
            <a:srgbClr val="27AE60"/>
          </a:solidFill>
          <a:ln w="19050">
            <a:solidFill>
              <a:srgbClr val="27AE60"/>
            </a:solidFill>
            <a:prstDash val="solid"/>
          </a:ln>
        </p:spPr>
        <p:txBody>
          <a:bodyPr/>
          <a:lstStyle/>
          <a:p>
            <a:endParaRPr lang="en-AU"/>
          </a:p>
        </p:txBody>
      </p:sp>
      <p:sp>
        <p:nvSpPr>
          <p:cNvPr id="30" name="Text 28"/>
          <p:cNvSpPr/>
          <p:nvPr/>
        </p:nvSpPr>
        <p:spPr>
          <a:xfrm>
            <a:off x="4805172" y="2404872"/>
            <a:ext cx="804672" cy="34747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APPROVE</a:t>
            </a:r>
            <a:endParaRPr lang="en-US" sz="900" dirty="0"/>
          </a:p>
        </p:txBody>
      </p:sp>
      <p:sp>
        <p:nvSpPr>
          <p:cNvPr id="31" name="Shape 29"/>
          <p:cNvSpPr/>
          <p:nvPr/>
        </p:nvSpPr>
        <p:spPr>
          <a:xfrm>
            <a:off x="5774436" y="2404872"/>
            <a:ext cx="914400" cy="347472"/>
          </a:xfrm>
          <a:prstGeom prst="rect">
            <a:avLst/>
          </a:prstGeom>
          <a:solidFill>
            <a:srgbClr val="C0392B"/>
          </a:solidFill>
          <a:ln w="19050">
            <a:solidFill>
              <a:srgbClr val="C0392B"/>
            </a:solidFill>
            <a:prstDash val="solid"/>
          </a:ln>
        </p:spPr>
        <p:txBody>
          <a:bodyPr/>
          <a:lstStyle/>
          <a:p>
            <a:endParaRPr lang="en-AU"/>
          </a:p>
        </p:txBody>
      </p:sp>
      <p:sp>
        <p:nvSpPr>
          <p:cNvPr id="32" name="Text 30"/>
          <p:cNvSpPr/>
          <p:nvPr/>
        </p:nvSpPr>
        <p:spPr>
          <a:xfrm>
            <a:off x="5829300" y="2404872"/>
            <a:ext cx="804672" cy="34747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DECLINE</a:t>
            </a:r>
            <a:endParaRPr lang="en-US" sz="900" dirty="0"/>
          </a:p>
        </p:txBody>
      </p:sp>
      <p:sp>
        <p:nvSpPr>
          <p:cNvPr id="33" name="Shape 31"/>
          <p:cNvSpPr/>
          <p:nvPr/>
        </p:nvSpPr>
        <p:spPr>
          <a:xfrm>
            <a:off x="6798564" y="2404872"/>
            <a:ext cx="914400" cy="347472"/>
          </a:xfrm>
          <a:prstGeom prst="rect">
            <a:avLst/>
          </a:prstGeom>
          <a:solidFill>
            <a:srgbClr val="27AE60"/>
          </a:solidFill>
          <a:ln w="19050">
            <a:solidFill>
              <a:srgbClr val="27AE60"/>
            </a:solidFill>
            <a:prstDash val="solid"/>
          </a:ln>
        </p:spPr>
        <p:txBody>
          <a:bodyPr/>
          <a:lstStyle/>
          <a:p>
            <a:endParaRPr lang="en-AU"/>
          </a:p>
        </p:txBody>
      </p:sp>
      <p:sp>
        <p:nvSpPr>
          <p:cNvPr id="34" name="Text 32"/>
          <p:cNvSpPr/>
          <p:nvPr/>
        </p:nvSpPr>
        <p:spPr>
          <a:xfrm>
            <a:off x="6853428" y="2404872"/>
            <a:ext cx="804672" cy="34747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APPROVE</a:t>
            </a:r>
            <a:endParaRPr lang="en-US" sz="900" dirty="0"/>
          </a:p>
        </p:txBody>
      </p:sp>
      <p:sp>
        <p:nvSpPr>
          <p:cNvPr id="35" name="Shape 33"/>
          <p:cNvSpPr/>
          <p:nvPr/>
        </p:nvSpPr>
        <p:spPr>
          <a:xfrm>
            <a:off x="7822692" y="2404872"/>
            <a:ext cx="914400" cy="347472"/>
          </a:xfrm>
          <a:prstGeom prst="rect">
            <a:avLst/>
          </a:prstGeom>
          <a:solidFill>
            <a:srgbClr val="C0392B"/>
          </a:solidFill>
          <a:ln w="19050">
            <a:solidFill>
              <a:srgbClr val="C0392B"/>
            </a:solidFill>
            <a:prstDash val="solid"/>
          </a:ln>
        </p:spPr>
        <p:txBody>
          <a:bodyPr/>
          <a:lstStyle/>
          <a:p>
            <a:endParaRPr lang="en-AU"/>
          </a:p>
        </p:txBody>
      </p:sp>
      <p:sp>
        <p:nvSpPr>
          <p:cNvPr id="36" name="Text 34"/>
          <p:cNvSpPr/>
          <p:nvPr/>
        </p:nvSpPr>
        <p:spPr>
          <a:xfrm>
            <a:off x="7877556" y="2404872"/>
            <a:ext cx="804672" cy="34747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DECLINE</a:t>
            </a:r>
            <a:endParaRPr lang="en-US" sz="900" dirty="0"/>
          </a:p>
        </p:txBody>
      </p:sp>
      <p:sp>
        <p:nvSpPr>
          <p:cNvPr id="37" name="Text 35"/>
          <p:cNvSpPr/>
          <p:nvPr/>
        </p:nvSpPr>
        <p:spPr>
          <a:xfrm>
            <a:off x="4663440" y="2889504"/>
            <a:ext cx="4160520" cy="274320"/>
          </a:xfrm>
          <a:prstGeom prst="rect">
            <a:avLst/>
          </a:prstGeom>
          <a:noFill/>
          <a:ln/>
        </p:spPr>
        <p:txBody>
          <a:bodyPr wrap="square" rtlCol="0" anchor="ctr"/>
          <a:lstStyle/>
          <a:p>
            <a:pPr marL="0" indent="0" algn="ctr">
              <a:buNone/>
            </a:pPr>
            <a:r>
              <a:rPr lang="en-US" sz="950" i="1" dirty="0">
                <a:solidFill>
                  <a:srgbClr val="64748B"/>
                </a:solidFill>
                <a:latin typeface="Calibri" pitchFamily="34" charset="0"/>
                <a:ea typeface="Calibri" pitchFamily="34" charset="-122"/>
                <a:cs typeface="Calibri" pitchFamily="34" charset="-120"/>
              </a:rPr>
              <a:t>Example: Bank Loan Approval Decision Tree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7850"/>
          </a:solidFill>
          <a:ln w="12700">
            <a:solidFill>
              <a:srgbClr val="1A7850"/>
            </a:solidFill>
            <a:prstDash val="solid"/>
          </a:ln>
        </p:spPr>
        <p:txBody>
          <a:bodyPr/>
          <a:lstStyle/>
          <a:p>
            <a:endParaRPr lang="en-AU"/>
          </a:p>
        </p:txBody>
      </p:sp>
      <p:sp>
        <p:nvSpPr>
          <p:cNvPr id="3" name="Text 1"/>
          <p:cNvSpPr/>
          <p:nvPr/>
        </p:nvSpPr>
        <p:spPr>
          <a:xfrm>
            <a:off x="320040" y="0"/>
            <a:ext cx="8503920" cy="640080"/>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Layer 2 — Model: Neural Networks</a:t>
            </a:r>
            <a:endParaRPr lang="en-US" sz="1900" dirty="0"/>
          </a:p>
        </p:txBody>
      </p:sp>
      <p:sp>
        <p:nvSpPr>
          <p:cNvPr id="4" name="Shape 2"/>
          <p:cNvSpPr/>
          <p:nvPr/>
        </p:nvSpPr>
        <p:spPr>
          <a:xfrm>
            <a:off x="274320" y="804672"/>
            <a:ext cx="4206240" cy="1645920"/>
          </a:xfrm>
          <a:prstGeom prst="rect">
            <a:avLst/>
          </a:prstGeom>
          <a:solidFill>
            <a:srgbClr val="1A7850"/>
          </a:solidFill>
          <a:ln w="12700">
            <a:solidFill>
              <a:srgbClr val="1A7850"/>
            </a:solidFill>
            <a:prstDash val="solid"/>
          </a:ln>
          <a:effectLst>
            <a:outerShdw blurRad="63500" dist="25400" dir="8100000" algn="bl" rotWithShape="0">
              <a:srgbClr val="000000">
                <a:alpha val="13000"/>
              </a:srgbClr>
            </a:outerShdw>
          </a:effectLst>
        </p:spPr>
        <p:txBody>
          <a:bodyPr/>
          <a:lstStyle/>
          <a:p>
            <a:endParaRPr lang="en-AU"/>
          </a:p>
        </p:txBody>
      </p:sp>
      <p:sp>
        <p:nvSpPr>
          <p:cNvPr id="5" name="Text 3"/>
          <p:cNvSpPr/>
          <p:nvPr/>
        </p:nvSpPr>
        <p:spPr>
          <a:xfrm>
            <a:off x="411480" y="896112"/>
            <a:ext cx="3931920" cy="292608"/>
          </a:xfrm>
          <a:prstGeom prst="rect">
            <a:avLst/>
          </a:prstGeom>
          <a:noFill/>
          <a:ln/>
        </p:spPr>
        <p:txBody>
          <a:bodyPr wrap="square" rtlCol="0" anchor="ctr"/>
          <a:lstStyle/>
          <a:p>
            <a:pPr marL="0" indent="0">
              <a:buNone/>
            </a:pPr>
            <a:r>
              <a:rPr lang="en-US" sz="1000" b="1" dirty="0">
                <a:solidFill>
                  <a:srgbClr val="DDDDFF"/>
                </a:solidFill>
                <a:latin typeface="Calibri" pitchFamily="34" charset="0"/>
                <a:ea typeface="Calibri" pitchFamily="34" charset="-122"/>
                <a:cs typeface="Calibri" pitchFamily="34" charset="-120"/>
              </a:rPr>
              <a:t>DEFINITION</a:t>
            </a:r>
            <a:endParaRPr lang="en-US" sz="1000" dirty="0"/>
          </a:p>
        </p:txBody>
      </p:sp>
      <p:sp>
        <p:nvSpPr>
          <p:cNvPr id="6" name="Text 4"/>
          <p:cNvSpPr/>
          <p:nvPr/>
        </p:nvSpPr>
        <p:spPr>
          <a:xfrm>
            <a:off x="411480" y="1188720"/>
            <a:ext cx="3931920" cy="1170432"/>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A neural network mimics the processing of the human brain. It consists of a series of interconnected nodes (artificial neurones) arranged in an input layer, one or more hidden layers, and an output layer. Each neurone accepts a weighted input and potentially passes a signal to the next layer.</a:t>
            </a:r>
            <a:endParaRPr lang="en-US" sz="1100" dirty="0"/>
          </a:p>
        </p:txBody>
      </p:sp>
      <p:sp>
        <p:nvSpPr>
          <p:cNvPr id="7" name="Shape 5"/>
          <p:cNvSpPr/>
          <p:nvPr/>
        </p:nvSpPr>
        <p:spPr>
          <a:xfrm>
            <a:off x="274320" y="2542032"/>
            <a:ext cx="4206240" cy="2423160"/>
          </a:xfrm>
          <a:prstGeom prst="rect">
            <a:avLst/>
          </a:prstGeom>
          <a:solidFill>
            <a:srgbClr val="E8F8F0"/>
          </a:solidFill>
          <a:ln w="19050">
            <a:solidFill>
              <a:srgbClr val="1A7850"/>
            </a:solidFill>
            <a:prstDash val="solid"/>
          </a:ln>
          <a:effectLst>
            <a:outerShdw blurRad="63500" dist="25400" dir="8100000" algn="bl" rotWithShape="0">
              <a:srgbClr val="000000">
                <a:alpha val="13000"/>
              </a:srgbClr>
            </a:outerShdw>
          </a:effectLst>
        </p:spPr>
        <p:txBody>
          <a:bodyPr/>
          <a:lstStyle/>
          <a:p>
            <a:endParaRPr lang="en-AU"/>
          </a:p>
        </p:txBody>
      </p:sp>
      <p:sp>
        <p:nvSpPr>
          <p:cNvPr id="8" name="Shape 6"/>
          <p:cNvSpPr/>
          <p:nvPr/>
        </p:nvSpPr>
        <p:spPr>
          <a:xfrm>
            <a:off x="274320" y="2542032"/>
            <a:ext cx="109728" cy="2423160"/>
          </a:xfrm>
          <a:prstGeom prst="rect">
            <a:avLst/>
          </a:prstGeom>
          <a:solidFill>
            <a:srgbClr val="1A7850"/>
          </a:solidFill>
          <a:ln w="12700">
            <a:solidFill>
              <a:srgbClr val="1A7850"/>
            </a:solidFill>
            <a:prstDash val="solid"/>
          </a:ln>
        </p:spPr>
        <p:txBody>
          <a:bodyPr/>
          <a:lstStyle/>
          <a:p>
            <a:endParaRPr lang="en-AU"/>
          </a:p>
        </p:txBody>
      </p:sp>
      <p:sp>
        <p:nvSpPr>
          <p:cNvPr id="9" name="Text 7"/>
          <p:cNvSpPr/>
          <p:nvPr/>
        </p:nvSpPr>
        <p:spPr>
          <a:xfrm>
            <a:off x="457200" y="2606040"/>
            <a:ext cx="3931920" cy="320040"/>
          </a:xfrm>
          <a:prstGeom prst="rect">
            <a:avLst/>
          </a:prstGeom>
          <a:noFill/>
          <a:ln/>
        </p:spPr>
        <p:txBody>
          <a:bodyPr wrap="square" rtlCol="0" anchor="ctr"/>
          <a:lstStyle/>
          <a:p>
            <a:pPr marL="0" indent="0">
              <a:buNone/>
            </a:pPr>
            <a:r>
              <a:rPr lang="en-US" sz="1200" b="1" dirty="0">
                <a:solidFill>
                  <a:srgbClr val="1A7850"/>
                </a:solidFill>
                <a:latin typeface="Calibri" pitchFamily="34" charset="0"/>
                <a:ea typeface="Calibri" pitchFamily="34" charset="-122"/>
                <a:cs typeface="Calibri" pitchFamily="34" charset="-120"/>
              </a:rPr>
              <a:t>Training Cycle</a:t>
            </a:r>
            <a:endParaRPr lang="en-US" sz="1200" dirty="0"/>
          </a:p>
        </p:txBody>
      </p:sp>
      <p:sp>
        <p:nvSpPr>
          <p:cNvPr id="10" name="Text 8"/>
          <p:cNvSpPr/>
          <p:nvPr/>
        </p:nvSpPr>
        <p:spPr>
          <a:xfrm>
            <a:off x="457200" y="2944368"/>
            <a:ext cx="3931920" cy="1371600"/>
          </a:xfrm>
          <a:prstGeom prst="rect">
            <a:avLst/>
          </a:prstGeom>
          <a:noFill/>
          <a:ln/>
        </p:spPr>
        <p:txBody>
          <a:bodyPr wrap="square" rtlCol="0" anchor="t"/>
          <a:lstStyle/>
          <a:p>
            <a:pPr marL="0" indent="0">
              <a:buNone/>
            </a:pPr>
            <a:r>
              <a:rPr lang="en-US" sz="1050" dirty="0">
                <a:solidFill>
                  <a:srgbClr val="1A1A2E"/>
                </a:solidFill>
                <a:latin typeface="Calibri" pitchFamily="34" charset="0"/>
                <a:ea typeface="Calibri" pitchFamily="34" charset="-122"/>
                <a:cs typeface="Calibri" pitchFamily="34" charset="-120"/>
              </a:rPr>
              <a:t>The network is exposed to labelled inputs with known correct responses.</a:t>
            </a:r>
            <a:endParaRPr lang="en-US" sz="1050" dirty="0"/>
          </a:p>
          <a:p>
            <a:pPr marL="0" indent="0">
              <a:buNone/>
            </a:pPr>
            <a:endParaRPr lang="en-US" sz="1050" dirty="0"/>
          </a:p>
          <a:p>
            <a:pPr marL="0" indent="0">
              <a:buNone/>
            </a:pPr>
            <a:r>
              <a:rPr lang="en-US" sz="1050" dirty="0">
                <a:solidFill>
                  <a:srgbClr val="1A1A2E"/>
                </a:solidFill>
                <a:latin typeface="Calibri" pitchFamily="34" charset="0"/>
                <a:ea typeface="Calibri" pitchFamily="34" charset="-122"/>
                <a:cs typeface="Calibri" pitchFamily="34" charset="-120"/>
              </a:rPr>
              <a:t>Internal weightings and threshold values for each node are determined iteratively.</a:t>
            </a:r>
            <a:endParaRPr lang="en-US" sz="1050" dirty="0"/>
          </a:p>
          <a:p>
            <a:pPr marL="0" indent="0">
              <a:buNone/>
            </a:pPr>
            <a:endParaRPr lang="en-US" sz="1050" dirty="0"/>
          </a:p>
          <a:p>
            <a:pPr marL="0" indent="0">
              <a:buNone/>
            </a:pPr>
            <a:r>
              <a:rPr lang="en-US" sz="1050" dirty="0">
                <a:solidFill>
                  <a:srgbClr val="1A1A2E"/>
                </a:solidFill>
                <a:latin typeface="Calibri" pitchFamily="34" charset="0"/>
                <a:ea typeface="Calibri" pitchFamily="34" charset="-122"/>
                <a:cs typeface="Calibri" pitchFamily="34" charset="-120"/>
              </a:rPr>
              <a:t>Linear regression with backward chaining adjusts weightings layer by layer, minimising prediction error.</a:t>
            </a:r>
            <a:endParaRPr lang="en-US" sz="1050" dirty="0"/>
          </a:p>
        </p:txBody>
      </p:sp>
      <p:sp>
        <p:nvSpPr>
          <p:cNvPr id="11" name="Shape 9"/>
          <p:cNvSpPr/>
          <p:nvPr/>
        </p:nvSpPr>
        <p:spPr>
          <a:xfrm>
            <a:off x="274320" y="4343400"/>
            <a:ext cx="4206240" cy="548640"/>
          </a:xfrm>
          <a:prstGeom prst="rect">
            <a:avLst/>
          </a:prstGeom>
          <a:solidFill>
            <a:srgbClr val="FDF5DC"/>
          </a:solidFill>
          <a:ln w="25400">
            <a:solidFill>
              <a:srgbClr val="C9A227"/>
            </a:solidFill>
            <a:prstDash val="solid"/>
          </a:ln>
          <a:effectLst>
            <a:outerShdw blurRad="63500" dist="25400" dir="8100000" algn="bl" rotWithShape="0">
              <a:srgbClr val="000000">
                <a:alpha val="13000"/>
              </a:srgbClr>
            </a:outerShdw>
          </a:effectLst>
        </p:spPr>
        <p:txBody>
          <a:bodyPr/>
          <a:lstStyle/>
          <a:p>
            <a:endParaRPr lang="en-AU"/>
          </a:p>
        </p:txBody>
      </p:sp>
      <p:sp>
        <p:nvSpPr>
          <p:cNvPr id="12" name="Shape 10"/>
          <p:cNvSpPr/>
          <p:nvPr/>
        </p:nvSpPr>
        <p:spPr>
          <a:xfrm>
            <a:off x="274320" y="4343400"/>
            <a:ext cx="128016" cy="548640"/>
          </a:xfrm>
          <a:prstGeom prst="rect">
            <a:avLst/>
          </a:prstGeom>
          <a:solidFill>
            <a:srgbClr val="C9A227"/>
          </a:solidFill>
          <a:ln w="12700">
            <a:solidFill>
              <a:srgbClr val="C9A227"/>
            </a:solidFill>
            <a:prstDash val="solid"/>
          </a:ln>
        </p:spPr>
        <p:txBody>
          <a:bodyPr/>
          <a:lstStyle/>
          <a:p>
            <a:endParaRPr lang="en-AU"/>
          </a:p>
        </p:txBody>
      </p:sp>
      <p:sp>
        <p:nvSpPr>
          <p:cNvPr id="13" name="Text 11"/>
          <p:cNvSpPr/>
          <p:nvPr/>
        </p:nvSpPr>
        <p:spPr>
          <a:xfrm>
            <a:off x="502920" y="4434840"/>
            <a:ext cx="3886200" cy="36576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Exam phrase: "Linear regression with backward chaining" — this exact phrase is required in Band 5-6 responses about neural network training.</a:t>
            </a:r>
            <a:endParaRPr lang="en-US" sz="1100" dirty="0"/>
          </a:p>
        </p:txBody>
      </p:sp>
      <p:sp>
        <p:nvSpPr>
          <p:cNvPr id="40" name="Text 38"/>
          <p:cNvSpPr/>
          <p:nvPr/>
        </p:nvSpPr>
        <p:spPr>
          <a:xfrm>
            <a:off x="5212080" y="3346704"/>
            <a:ext cx="3200400" cy="274320"/>
          </a:xfrm>
          <a:prstGeom prst="rect">
            <a:avLst/>
          </a:prstGeom>
          <a:noFill/>
          <a:ln/>
        </p:spPr>
        <p:txBody>
          <a:bodyPr wrap="square" rtlCol="0" anchor="ctr"/>
          <a:lstStyle/>
          <a:p>
            <a:pPr marL="0" indent="0" algn="ctr">
              <a:buNone/>
            </a:pPr>
            <a:r>
              <a:rPr lang="en-US" sz="950" i="1" dirty="0">
                <a:solidFill>
                  <a:srgbClr val="64748B"/>
                </a:solidFill>
                <a:latin typeface="Calibri" pitchFamily="34" charset="0"/>
                <a:ea typeface="Calibri" pitchFamily="34" charset="-122"/>
                <a:cs typeface="Calibri" pitchFamily="34" charset="-120"/>
              </a:rPr>
              <a:t>Neural Network Structure</a:t>
            </a:r>
            <a:endParaRPr lang="en-US" sz="950" dirty="0"/>
          </a:p>
        </p:txBody>
      </p:sp>
      <p:sp>
        <p:nvSpPr>
          <p:cNvPr id="41" name="Shape 39"/>
          <p:cNvSpPr/>
          <p:nvPr/>
        </p:nvSpPr>
        <p:spPr>
          <a:xfrm>
            <a:off x="4663440" y="3703320"/>
            <a:ext cx="4206240" cy="1325880"/>
          </a:xfrm>
          <a:prstGeom prst="rect">
            <a:avLst/>
          </a:prstGeom>
          <a:solidFill>
            <a:srgbClr val="F5EEF8"/>
          </a:solidFill>
          <a:ln w="19050">
            <a:solidFill>
              <a:srgbClr val="6C2B8F"/>
            </a:solidFill>
            <a:prstDash val="solid"/>
          </a:ln>
          <a:effectLst>
            <a:outerShdw blurRad="63500" dist="25400" dir="8100000" algn="bl" rotWithShape="0">
              <a:srgbClr val="000000">
                <a:alpha val="13000"/>
              </a:srgbClr>
            </a:outerShdw>
          </a:effectLst>
        </p:spPr>
        <p:txBody>
          <a:bodyPr/>
          <a:lstStyle/>
          <a:p>
            <a:endParaRPr lang="en-AU"/>
          </a:p>
        </p:txBody>
      </p:sp>
      <p:sp>
        <p:nvSpPr>
          <p:cNvPr id="42" name="Shape 40"/>
          <p:cNvSpPr/>
          <p:nvPr/>
        </p:nvSpPr>
        <p:spPr>
          <a:xfrm>
            <a:off x="4663440" y="3703320"/>
            <a:ext cx="109728" cy="1325880"/>
          </a:xfrm>
          <a:prstGeom prst="rect">
            <a:avLst/>
          </a:prstGeom>
          <a:solidFill>
            <a:srgbClr val="6C2B8F"/>
          </a:solidFill>
          <a:ln w="12700">
            <a:solidFill>
              <a:srgbClr val="6C2B8F"/>
            </a:solidFill>
            <a:prstDash val="solid"/>
          </a:ln>
        </p:spPr>
        <p:txBody>
          <a:bodyPr/>
          <a:lstStyle/>
          <a:p>
            <a:endParaRPr lang="en-AU"/>
          </a:p>
        </p:txBody>
      </p:sp>
      <p:sp>
        <p:nvSpPr>
          <p:cNvPr id="43" name="Text 41"/>
          <p:cNvSpPr/>
          <p:nvPr/>
        </p:nvSpPr>
        <p:spPr>
          <a:xfrm>
            <a:off x="4846320" y="3767328"/>
            <a:ext cx="3931920" cy="301752"/>
          </a:xfrm>
          <a:prstGeom prst="rect">
            <a:avLst/>
          </a:prstGeom>
          <a:noFill/>
          <a:ln/>
        </p:spPr>
        <p:txBody>
          <a:bodyPr wrap="square" rtlCol="0" anchor="ctr"/>
          <a:lstStyle/>
          <a:p>
            <a:pPr marL="0" indent="0">
              <a:buNone/>
            </a:pPr>
            <a:r>
              <a:rPr lang="en-US" sz="1200" b="1" dirty="0">
                <a:solidFill>
                  <a:srgbClr val="6C2B8F"/>
                </a:solidFill>
                <a:latin typeface="Calibri" pitchFamily="34" charset="0"/>
                <a:ea typeface="Calibri" pitchFamily="34" charset="-122"/>
                <a:cs typeface="Calibri" pitchFamily="34" charset="-120"/>
              </a:rPr>
              <a:t>Execution Cycle</a:t>
            </a:r>
            <a:endParaRPr lang="en-US" sz="1200" dirty="0"/>
          </a:p>
        </p:txBody>
      </p:sp>
      <p:sp>
        <p:nvSpPr>
          <p:cNvPr id="44" name="Text 42"/>
          <p:cNvSpPr/>
          <p:nvPr/>
        </p:nvSpPr>
        <p:spPr>
          <a:xfrm>
            <a:off x="4846320" y="4087368"/>
            <a:ext cx="3931920" cy="914400"/>
          </a:xfrm>
          <a:prstGeom prst="rect">
            <a:avLst/>
          </a:prstGeom>
          <a:noFill/>
          <a:ln/>
        </p:spPr>
        <p:txBody>
          <a:bodyPr wrap="square" rtlCol="0" anchor="t"/>
          <a:lstStyle/>
          <a:p>
            <a:pPr marL="0" indent="0">
              <a:buNone/>
            </a:pPr>
            <a:r>
              <a:rPr lang="en-US" sz="1050" dirty="0">
                <a:solidFill>
                  <a:srgbClr val="1A1A2E"/>
                </a:solidFill>
                <a:latin typeface="Calibri" pitchFamily="34" charset="0"/>
                <a:ea typeface="Calibri" pitchFamily="34" charset="-122"/>
                <a:cs typeface="Calibri" pitchFamily="34" charset="-120"/>
              </a:rPr>
              <a:t>Follows the training cycle. The established weightings are fixed and applied to new, unseen inputs. Nodes with the strongest weightings carry higher priority in determining the final output. Weightings are NOT modified — they are applied.</a:t>
            </a:r>
            <a:endParaRPr lang="en-US" sz="1050" dirty="0"/>
          </a:p>
        </p:txBody>
      </p:sp>
      <p:pic>
        <p:nvPicPr>
          <p:cNvPr id="45" name="Picture 44">
            <a:extLst>
              <a:ext uri="{FF2B5EF4-FFF2-40B4-BE49-F238E27FC236}">
                <a16:creationId xmlns:a16="http://schemas.microsoft.com/office/drawing/2014/main" id="{14DB94EE-808F-5402-3FC0-D6B3257B7BD9}"/>
              </a:ext>
            </a:extLst>
          </p:cNvPr>
          <p:cNvPicPr>
            <a:picLocks noChangeAspect="1"/>
          </p:cNvPicPr>
          <p:nvPr/>
        </p:nvPicPr>
        <p:blipFill>
          <a:blip r:embed="rId3"/>
          <a:stretch>
            <a:fillRect/>
          </a:stretch>
        </p:blipFill>
        <p:spPr>
          <a:xfrm>
            <a:off x="4848957" y="693791"/>
            <a:ext cx="3929283" cy="270464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B05A0C"/>
          </a:solidFill>
          <a:ln w="12700">
            <a:solidFill>
              <a:srgbClr val="B05A0C"/>
            </a:solidFill>
            <a:prstDash val="solid"/>
          </a:ln>
        </p:spPr>
        <p:txBody>
          <a:bodyPr/>
          <a:lstStyle/>
          <a:p>
            <a:endParaRPr lang="en-AU"/>
          </a:p>
        </p:txBody>
      </p:sp>
      <p:sp>
        <p:nvSpPr>
          <p:cNvPr id="3" name="Text 1"/>
          <p:cNvSpPr/>
          <p:nvPr/>
        </p:nvSpPr>
        <p:spPr>
          <a:xfrm>
            <a:off x="320040" y="0"/>
            <a:ext cx="8503920" cy="640080"/>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Layer 3 — Algorithm Types: The Three Outputs of Model Training</a:t>
            </a:r>
            <a:endParaRPr lang="en-US" sz="1900" dirty="0"/>
          </a:p>
        </p:txBody>
      </p:sp>
      <p:sp>
        <p:nvSpPr>
          <p:cNvPr id="4" name="Shape 2"/>
          <p:cNvSpPr/>
          <p:nvPr/>
        </p:nvSpPr>
        <p:spPr>
          <a:xfrm>
            <a:off x="274320" y="777240"/>
            <a:ext cx="8595360" cy="502920"/>
          </a:xfrm>
          <a:prstGeom prst="rect">
            <a:avLst/>
          </a:prstGeom>
          <a:solidFill>
            <a:srgbClr val="FEF5E7"/>
          </a:solidFill>
          <a:ln w="19050">
            <a:solidFill>
              <a:srgbClr val="B05A0C"/>
            </a:solidFill>
            <a:prstDash val="solid"/>
          </a:ln>
        </p:spPr>
        <p:txBody>
          <a:bodyPr/>
          <a:lstStyle/>
          <a:p>
            <a:endParaRPr lang="en-AU"/>
          </a:p>
        </p:txBody>
      </p:sp>
      <p:sp>
        <p:nvSpPr>
          <p:cNvPr id="5" name="Text 3"/>
          <p:cNvSpPr/>
          <p:nvPr/>
        </p:nvSpPr>
        <p:spPr>
          <a:xfrm>
            <a:off x="457200" y="804672"/>
            <a:ext cx="8321040" cy="45720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Once a decision tree or neural network is designed and trained, it produces predictions through one of three algorithm types. The algorithm determines the type of output — and therefore the application.</a:t>
            </a:r>
            <a:endParaRPr lang="en-US" sz="1100" dirty="0"/>
          </a:p>
        </p:txBody>
      </p:sp>
      <p:sp>
        <p:nvSpPr>
          <p:cNvPr id="6" name="Shape 4"/>
          <p:cNvSpPr/>
          <p:nvPr/>
        </p:nvSpPr>
        <p:spPr>
          <a:xfrm>
            <a:off x="274320" y="1417320"/>
            <a:ext cx="2743200" cy="3566160"/>
          </a:xfrm>
          <a:prstGeom prst="rect">
            <a:avLst/>
          </a:prstGeom>
          <a:solidFill>
            <a:srgbClr val="EBF5FB"/>
          </a:solidFill>
          <a:ln w="19050">
            <a:solidFill>
              <a:srgbClr val="1A5276"/>
            </a:solidFill>
            <a:prstDash val="solid"/>
          </a:ln>
          <a:effectLst>
            <a:outerShdw blurRad="63500" dist="25400" dir="8100000" algn="bl" rotWithShape="0">
              <a:srgbClr val="000000">
                <a:alpha val="13000"/>
              </a:srgbClr>
            </a:outerShdw>
          </a:effectLst>
        </p:spPr>
        <p:txBody>
          <a:bodyPr/>
          <a:lstStyle/>
          <a:p>
            <a:endParaRPr lang="en-AU"/>
          </a:p>
        </p:txBody>
      </p:sp>
      <p:sp>
        <p:nvSpPr>
          <p:cNvPr id="7" name="Shape 5"/>
          <p:cNvSpPr/>
          <p:nvPr/>
        </p:nvSpPr>
        <p:spPr>
          <a:xfrm>
            <a:off x="274320" y="1417320"/>
            <a:ext cx="2743200" cy="475488"/>
          </a:xfrm>
          <a:prstGeom prst="rect">
            <a:avLst/>
          </a:prstGeom>
          <a:solidFill>
            <a:srgbClr val="1A5276"/>
          </a:solidFill>
          <a:ln w="12700">
            <a:solidFill>
              <a:srgbClr val="1A5276"/>
            </a:solidFill>
            <a:prstDash val="solid"/>
          </a:ln>
        </p:spPr>
        <p:txBody>
          <a:bodyPr/>
          <a:lstStyle/>
          <a:p>
            <a:endParaRPr lang="en-AU"/>
          </a:p>
        </p:txBody>
      </p:sp>
      <p:sp>
        <p:nvSpPr>
          <p:cNvPr id="8" name="Text 6"/>
          <p:cNvSpPr/>
          <p:nvPr/>
        </p:nvSpPr>
        <p:spPr>
          <a:xfrm>
            <a:off x="365760" y="1417320"/>
            <a:ext cx="2560320" cy="475488"/>
          </a:xfrm>
          <a:prstGeom prst="rect">
            <a:avLst/>
          </a:prstGeom>
          <a:noFill/>
          <a:ln/>
        </p:spPr>
        <p:txBody>
          <a:bodyPr wrap="square"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01  Linear Regression</a:t>
            </a:r>
            <a:endParaRPr lang="en-US" sz="1300" dirty="0"/>
          </a:p>
        </p:txBody>
      </p:sp>
      <p:sp>
        <p:nvSpPr>
          <p:cNvPr id="9" name="Shape 7"/>
          <p:cNvSpPr/>
          <p:nvPr/>
        </p:nvSpPr>
        <p:spPr>
          <a:xfrm>
            <a:off x="365760" y="1984248"/>
            <a:ext cx="2560320" cy="594360"/>
          </a:xfrm>
          <a:prstGeom prst="rect">
            <a:avLst/>
          </a:prstGeom>
          <a:solidFill>
            <a:srgbClr val="1A5276">
              <a:alpha val="15000"/>
            </a:srgbClr>
          </a:solidFill>
          <a:ln w="12700">
            <a:solidFill>
              <a:srgbClr val="1A5276"/>
            </a:solidFill>
            <a:prstDash val="solid"/>
          </a:ln>
        </p:spPr>
        <p:txBody>
          <a:bodyPr/>
          <a:lstStyle/>
          <a:p>
            <a:endParaRPr lang="en-AU"/>
          </a:p>
        </p:txBody>
      </p:sp>
      <p:sp>
        <p:nvSpPr>
          <p:cNvPr id="10" name="Text 8"/>
          <p:cNvSpPr/>
          <p:nvPr/>
        </p:nvSpPr>
        <p:spPr>
          <a:xfrm>
            <a:off x="411480" y="1984248"/>
            <a:ext cx="2468880" cy="274320"/>
          </a:xfrm>
          <a:prstGeom prst="rect">
            <a:avLst/>
          </a:prstGeom>
          <a:noFill/>
          <a:ln/>
        </p:spPr>
        <p:txBody>
          <a:bodyPr wrap="square" rtlCol="0" anchor="ctr"/>
          <a:lstStyle/>
          <a:p>
            <a:pPr marL="0" indent="0">
              <a:buNone/>
            </a:pPr>
            <a:r>
              <a:rPr lang="en-US" sz="900" b="1" dirty="0">
                <a:solidFill>
                  <a:srgbClr val="1A5276"/>
                </a:solidFill>
                <a:latin typeface="Calibri" pitchFamily="34" charset="0"/>
                <a:ea typeface="Calibri" pitchFamily="34" charset="-122"/>
                <a:cs typeface="Calibri" pitchFamily="34" charset="-120"/>
              </a:rPr>
              <a:t>Output Type</a:t>
            </a:r>
            <a:endParaRPr lang="en-US" sz="900" dirty="0"/>
          </a:p>
        </p:txBody>
      </p:sp>
      <p:sp>
        <p:nvSpPr>
          <p:cNvPr id="11" name="Text 9"/>
          <p:cNvSpPr/>
          <p:nvPr/>
        </p:nvSpPr>
        <p:spPr>
          <a:xfrm>
            <a:off x="411480" y="2240280"/>
            <a:ext cx="2468880" cy="301752"/>
          </a:xfrm>
          <a:prstGeom prst="rect">
            <a:avLst/>
          </a:prstGeom>
          <a:noFill/>
          <a:ln/>
        </p:spPr>
        <p:txBody>
          <a:bodyPr wrap="square" rtlCol="0" anchor="t"/>
          <a:lstStyle/>
          <a:p>
            <a:pPr marL="0" indent="0">
              <a:buNone/>
            </a:pPr>
            <a:r>
              <a:rPr lang="en-US" sz="1100" b="1" dirty="0">
                <a:solidFill>
                  <a:srgbClr val="1A5276"/>
                </a:solidFill>
                <a:latin typeface="Calibri" pitchFamily="34" charset="0"/>
                <a:ea typeface="Calibri" pitchFamily="34" charset="-122"/>
                <a:cs typeface="Calibri" pitchFamily="34" charset="-120"/>
              </a:rPr>
              <a:t>Continuous numeric value</a:t>
            </a:r>
            <a:endParaRPr lang="en-US" sz="1100" dirty="0"/>
          </a:p>
        </p:txBody>
      </p:sp>
      <p:sp>
        <p:nvSpPr>
          <p:cNvPr id="12" name="Text 10"/>
          <p:cNvSpPr/>
          <p:nvPr/>
        </p:nvSpPr>
        <p:spPr>
          <a:xfrm>
            <a:off x="411480" y="2651760"/>
            <a:ext cx="2468880" cy="274320"/>
          </a:xfrm>
          <a:prstGeom prst="rect">
            <a:avLst/>
          </a:prstGeom>
          <a:noFill/>
          <a:ln/>
        </p:spPr>
        <p:txBody>
          <a:bodyPr wrap="square" rtlCol="0" anchor="t"/>
          <a:lstStyle/>
          <a:p>
            <a:pPr marL="0" indent="0">
              <a:buNone/>
            </a:pPr>
            <a:r>
              <a:rPr lang="en-US" sz="950" i="1" dirty="0">
                <a:solidFill>
                  <a:srgbClr val="64748B"/>
                </a:solidFill>
                <a:latin typeface="Calibri" pitchFamily="34" charset="0"/>
                <a:ea typeface="Calibri" pitchFamily="34" charset="-122"/>
                <a:cs typeface="Calibri" pitchFamily="34" charset="-120"/>
              </a:rPr>
              <a:t>e.g. predicted price, score, temperature</a:t>
            </a:r>
            <a:endParaRPr lang="en-US" sz="950" dirty="0"/>
          </a:p>
        </p:txBody>
      </p:sp>
      <p:sp>
        <p:nvSpPr>
          <p:cNvPr id="13" name="Text 11"/>
          <p:cNvSpPr/>
          <p:nvPr/>
        </p:nvSpPr>
        <p:spPr>
          <a:xfrm>
            <a:off x="411480" y="2971800"/>
            <a:ext cx="2468880" cy="256032"/>
          </a:xfrm>
          <a:prstGeom prst="rect">
            <a:avLst/>
          </a:prstGeom>
          <a:noFill/>
          <a:ln/>
        </p:spPr>
        <p:txBody>
          <a:bodyPr wrap="square" rtlCol="0" anchor="ctr"/>
          <a:lstStyle/>
          <a:p>
            <a:pPr marL="0" indent="0">
              <a:buNone/>
            </a:pPr>
            <a:r>
              <a:rPr lang="en-US" sz="1000" b="1" dirty="0">
                <a:solidFill>
                  <a:srgbClr val="1A5276"/>
                </a:solidFill>
                <a:latin typeface="Calibri" pitchFamily="34" charset="0"/>
                <a:ea typeface="Calibri" pitchFamily="34" charset="-122"/>
                <a:cs typeface="Calibri" pitchFamily="34" charset="-120"/>
              </a:rPr>
              <a:t>How it works:</a:t>
            </a:r>
            <a:endParaRPr lang="en-US" sz="1000" dirty="0"/>
          </a:p>
        </p:txBody>
      </p:sp>
      <p:sp>
        <p:nvSpPr>
          <p:cNvPr id="14" name="Text 12"/>
          <p:cNvSpPr/>
          <p:nvPr/>
        </p:nvSpPr>
        <p:spPr>
          <a:xfrm>
            <a:off x="411480" y="3227832"/>
            <a:ext cx="2468880" cy="1188720"/>
          </a:xfrm>
          <a:prstGeom prst="rect">
            <a:avLst/>
          </a:prstGeom>
          <a:noFill/>
          <a:ln/>
        </p:spPr>
        <p:txBody>
          <a:bodyPr wrap="square" rtlCol="0" anchor="t"/>
          <a:lstStyle/>
          <a:p>
            <a:pPr marL="0" indent="0">
              <a:buNone/>
            </a:pPr>
            <a:r>
              <a:rPr lang="en-US" sz="1000" dirty="0">
                <a:solidFill>
                  <a:srgbClr val="1A1A2E"/>
                </a:solidFill>
                <a:latin typeface="Calibri" pitchFamily="34" charset="0"/>
                <a:ea typeface="Calibri" pitchFamily="34" charset="-122"/>
                <a:cs typeface="Calibri" pitchFamily="34" charset="-120"/>
              </a:rPr>
              <a:t>Fits a straight line (or curve for polynomial regression) through training data. Assumes a linear relationship between inputs and the target variable.</a:t>
            </a:r>
            <a:endParaRPr lang="en-US" sz="1000" dirty="0"/>
          </a:p>
        </p:txBody>
      </p:sp>
      <p:sp>
        <p:nvSpPr>
          <p:cNvPr id="15" name="Shape 13"/>
          <p:cNvSpPr/>
          <p:nvPr/>
        </p:nvSpPr>
        <p:spPr>
          <a:xfrm>
            <a:off x="365760" y="4416552"/>
            <a:ext cx="2560320" cy="475488"/>
          </a:xfrm>
          <a:prstGeom prst="rect">
            <a:avLst/>
          </a:prstGeom>
          <a:solidFill>
            <a:srgbClr val="1A5276"/>
          </a:solidFill>
          <a:ln w="12700">
            <a:solidFill>
              <a:srgbClr val="1A5276"/>
            </a:solidFill>
            <a:prstDash val="solid"/>
          </a:ln>
        </p:spPr>
        <p:txBody>
          <a:bodyPr/>
          <a:lstStyle/>
          <a:p>
            <a:endParaRPr lang="en-AU"/>
          </a:p>
        </p:txBody>
      </p:sp>
      <p:sp>
        <p:nvSpPr>
          <p:cNvPr id="16" name="Text 14"/>
          <p:cNvSpPr/>
          <p:nvPr/>
        </p:nvSpPr>
        <p:spPr>
          <a:xfrm>
            <a:off x="411480" y="4416552"/>
            <a:ext cx="2468880" cy="475488"/>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 Application: </a:t>
            </a:r>
            <a:r>
              <a:rPr lang="en-US" sz="1000" b="1" dirty="0">
                <a:solidFill>
                  <a:srgbClr val="FFFFFF"/>
                </a:solidFill>
                <a:latin typeface="Calibri" pitchFamily="34" charset="0"/>
                <a:ea typeface="Calibri" pitchFamily="34" charset="-122"/>
                <a:cs typeface="Calibri" pitchFamily="34" charset="-120"/>
              </a:rPr>
              <a:t>Data Analysis</a:t>
            </a:r>
            <a:endParaRPr lang="en-US" sz="950" dirty="0"/>
          </a:p>
          <a:p>
            <a:pPr marL="0" indent="0" algn="ctr">
              <a:buNone/>
            </a:pPr>
            <a:r>
              <a:rPr lang="en-US" sz="1000" b="1" dirty="0">
                <a:solidFill>
                  <a:srgbClr val="FFFFFF"/>
                </a:solidFill>
                <a:latin typeface="Calibri" pitchFamily="34" charset="0"/>
                <a:ea typeface="Calibri" pitchFamily="34" charset="-122"/>
                <a:cs typeface="Calibri" pitchFamily="34" charset="-120"/>
              </a:rPr>
              <a:t>&amp; Forecasting</a:t>
            </a:r>
            <a:endParaRPr lang="en-US" sz="950" dirty="0"/>
          </a:p>
        </p:txBody>
      </p:sp>
      <p:sp>
        <p:nvSpPr>
          <p:cNvPr id="17" name="Shape 15"/>
          <p:cNvSpPr/>
          <p:nvPr/>
        </p:nvSpPr>
        <p:spPr>
          <a:xfrm>
            <a:off x="3172968" y="1417320"/>
            <a:ext cx="2743200" cy="3566160"/>
          </a:xfrm>
          <a:prstGeom prst="rect">
            <a:avLst/>
          </a:prstGeom>
          <a:solidFill>
            <a:srgbClr val="E8F8F0"/>
          </a:solidFill>
          <a:ln w="19050">
            <a:solidFill>
              <a:srgbClr val="27AE60"/>
            </a:solidFill>
            <a:prstDash val="solid"/>
          </a:ln>
          <a:effectLst>
            <a:outerShdw blurRad="63500" dist="25400" dir="8100000" algn="bl" rotWithShape="0">
              <a:srgbClr val="000000">
                <a:alpha val="13000"/>
              </a:srgbClr>
            </a:outerShdw>
          </a:effectLst>
        </p:spPr>
        <p:txBody>
          <a:bodyPr/>
          <a:lstStyle/>
          <a:p>
            <a:endParaRPr lang="en-AU"/>
          </a:p>
        </p:txBody>
      </p:sp>
      <p:sp>
        <p:nvSpPr>
          <p:cNvPr id="18" name="Shape 16"/>
          <p:cNvSpPr/>
          <p:nvPr/>
        </p:nvSpPr>
        <p:spPr>
          <a:xfrm>
            <a:off x="3172968" y="1417320"/>
            <a:ext cx="2743200" cy="475488"/>
          </a:xfrm>
          <a:prstGeom prst="rect">
            <a:avLst/>
          </a:prstGeom>
          <a:solidFill>
            <a:srgbClr val="27AE60"/>
          </a:solidFill>
          <a:ln w="12700">
            <a:solidFill>
              <a:srgbClr val="27AE60"/>
            </a:solidFill>
            <a:prstDash val="solid"/>
          </a:ln>
        </p:spPr>
        <p:txBody>
          <a:bodyPr/>
          <a:lstStyle/>
          <a:p>
            <a:endParaRPr lang="en-AU"/>
          </a:p>
        </p:txBody>
      </p:sp>
      <p:sp>
        <p:nvSpPr>
          <p:cNvPr id="19" name="Text 17"/>
          <p:cNvSpPr/>
          <p:nvPr/>
        </p:nvSpPr>
        <p:spPr>
          <a:xfrm>
            <a:off x="3264408" y="1417320"/>
            <a:ext cx="2560320" cy="475488"/>
          </a:xfrm>
          <a:prstGeom prst="rect">
            <a:avLst/>
          </a:prstGeom>
          <a:noFill/>
          <a:ln/>
        </p:spPr>
        <p:txBody>
          <a:bodyPr wrap="square"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02  Logistic Regression</a:t>
            </a:r>
            <a:endParaRPr lang="en-US" sz="1300" dirty="0"/>
          </a:p>
        </p:txBody>
      </p:sp>
      <p:sp>
        <p:nvSpPr>
          <p:cNvPr id="20" name="Shape 18"/>
          <p:cNvSpPr/>
          <p:nvPr/>
        </p:nvSpPr>
        <p:spPr>
          <a:xfrm>
            <a:off x="3264408" y="1984248"/>
            <a:ext cx="2560320" cy="594360"/>
          </a:xfrm>
          <a:prstGeom prst="rect">
            <a:avLst/>
          </a:prstGeom>
          <a:solidFill>
            <a:srgbClr val="27AE60">
              <a:alpha val="15000"/>
            </a:srgbClr>
          </a:solidFill>
          <a:ln w="12700">
            <a:solidFill>
              <a:srgbClr val="27AE60"/>
            </a:solidFill>
            <a:prstDash val="solid"/>
          </a:ln>
        </p:spPr>
        <p:txBody>
          <a:bodyPr/>
          <a:lstStyle/>
          <a:p>
            <a:endParaRPr lang="en-AU"/>
          </a:p>
        </p:txBody>
      </p:sp>
      <p:sp>
        <p:nvSpPr>
          <p:cNvPr id="21" name="Text 19"/>
          <p:cNvSpPr/>
          <p:nvPr/>
        </p:nvSpPr>
        <p:spPr>
          <a:xfrm>
            <a:off x="3310128" y="1984248"/>
            <a:ext cx="2468880" cy="274320"/>
          </a:xfrm>
          <a:prstGeom prst="rect">
            <a:avLst/>
          </a:prstGeom>
          <a:noFill/>
          <a:ln/>
        </p:spPr>
        <p:txBody>
          <a:bodyPr wrap="square" rtlCol="0" anchor="ctr"/>
          <a:lstStyle/>
          <a:p>
            <a:pPr marL="0" indent="0">
              <a:buNone/>
            </a:pPr>
            <a:r>
              <a:rPr lang="en-US" sz="900" b="1" dirty="0">
                <a:solidFill>
                  <a:srgbClr val="27AE60"/>
                </a:solidFill>
                <a:latin typeface="Calibri" pitchFamily="34" charset="0"/>
                <a:ea typeface="Calibri" pitchFamily="34" charset="-122"/>
                <a:cs typeface="Calibri" pitchFamily="34" charset="-120"/>
              </a:rPr>
              <a:t>Output Type</a:t>
            </a:r>
            <a:endParaRPr lang="en-US" sz="900" dirty="0"/>
          </a:p>
        </p:txBody>
      </p:sp>
      <p:sp>
        <p:nvSpPr>
          <p:cNvPr id="22" name="Text 20"/>
          <p:cNvSpPr/>
          <p:nvPr/>
        </p:nvSpPr>
        <p:spPr>
          <a:xfrm>
            <a:off x="3310128" y="2240280"/>
            <a:ext cx="2468880" cy="301752"/>
          </a:xfrm>
          <a:prstGeom prst="rect">
            <a:avLst/>
          </a:prstGeom>
          <a:noFill/>
          <a:ln/>
        </p:spPr>
        <p:txBody>
          <a:bodyPr wrap="square" rtlCol="0" anchor="t"/>
          <a:lstStyle/>
          <a:p>
            <a:pPr marL="0" indent="0">
              <a:buNone/>
            </a:pPr>
            <a:r>
              <a:rPr lang="en-US" sz="1100" b="1" dirty="0">
                <a:solidFill>
                  <a:srgbClr val="27AE60"/>
                </a:solidFill>
                <a:latin typeface="Calibri" pitchFamily="34" charset="0"/>
                <a:ea typeface="Calibri" pitchFamily="34" charset="-122"/>
                <a:cs typeface="Calibri" pitchFamily="34" charset="-120"/>
              </a:rPr>
              <a:t>Category / class label</a:t>
            </a:r>
            <a:endParaRPr lang="en-US" sz="1100" dirty="0"/>
          </a:p>
        </p:txBody>
      </p:sp>
      <p:sp>
        <p:nvSpPr>
          <p:cNvPr id="23" name="Text 21"/>
          <p:cNvSpPr/>
          <p:nvPr/>
        </p:nvSpPr>
        <p:spPr>
          <a:xfrm>
            <a:off x="3310128" y="2651760"/>
            <a:ext cx="2468880" cy="274320"/>
          </a:xfrm>
          <a:prstGeom prst="rect">
            <a:avLst/>
          </a:prstGeom>
          <a:noFill/>
          <a:ln/>
        </p:spPr>
        <p:txBody>
          <a:bodyPr wrap="square" rtlCol="0" anchor="t"/>
          <a:lstStyle/>
          <a:p>
            <a:pPr marL="0" indent="0">
              <a:buNone/>
            </a:pPr>
            <a:r>
              <a:rPr lang="en-US" sz="950" i="1" dirty="0">
                <a:solidFill>
                  <a:srgbClr val="64748B"/>
                </a:solidFill>
                <a:latin typeface="Calibri" pitchFamily="34" charset="0"/>
                <a:ea typeface="Calibri" pitchFamily="34" charset="-122"/>
                <a:cs typeface="Calibri" pitchFamily="34" charset="-120"/>
              </a:rPr>
              <a:t>e.g. Approve / Decline, Spam / Not Spam</a:t>
            </a:r>
            <a:endParaRPr lang="en-US" sz="950" dirty="0"/>
          </a:p>
        </p:txBody>
      </p:sp>
      <p:sp>
        <p:nvSpPr>
          <p:cNvPr id="24" name="Text 22"/>
          <p:cNvSpPr/>
          <p:nvPr/>
        </p:nvSpPr>
        <p:spPr>
          <a:xfrm>
            <a:off x="3310128" y="2971800"/>
            <a:ext cx="2468880" cy="256032"/>
          </a:xfrm>
          <a:prstGeom prst="rect">
            <a:avLst/>
          </a:prstGeom>
          <a:noFill/>
          <a:ln/>
        </p:spPr>
        <p:txBody>
          <a:bodyPr wrap="square" rtlCol="0" anchor="ctr"/>
          <a:lstStyle/>
          <a:p>
            <a:pPr marL="0" indent="0">
              <a:buNone/>
            </a:pPr>
            <a:r>
              <a:rPr lang="en-US" sz="1000" b="1" dirty="0">
                <a:solidFill>
                  <a:srgbClr val="27AE60"/>
                </a:solidFill>
                <a:latin typeface="Calibri" pitchFamily="34" charset="0"/>
                <a:ea typeface="Calibri" pitchFamily="34" charset="-122"/>
                <a:cs typeface="Calibri" pitchFamily="34" charset="-120"/>
              </a:rPr>
              <a:t>How it works:</a:t>
            </a:r>
            <a:endParaRPr lang="en-US" sz="1000" dirty="0"/>
          </a:p>
        </p:txBody>
      </p:sp>
      <p:sp>
        <p:nvSpPr>
          <p:cNvPr id="25" name="Text 23"/>
          <p:cNvSpPr/>
          <p:nvPr/>
        </p:nvSpPr>
        <p:spPr>
          <a:xfrm>
            <a:off x="3310128" y="3227832"/>
            <a:ext cx="2468880" cy="1188720"/>
          </a:xfrm>
          <a:prstGeom prst="rect">
            <a:avLst/>
          </a:prstGeom>
          <a:noFill/>
          <a:ln/>
        </p:spPr>
        <p:txBody>
          <a:bodyPr wrap="square" rtlCol="0" anchor="t"/>
          <a:lstStyle/>
          <a:p>
            <a:pPr marL="0" indent="0">
              <a:buNone/>
            </a:pPr>
            <a:r>
              <a:rPr lang="en-US" sz="1000" dirty="0">
                <a:solidFill>
                  <a:srgbClr val="1A1A2E"/>
                </a:solidFill>
                <a:latin typeface="Calibri" pitchFamily="34" charset="0"/>
                <a:ea typeface="Calibri" pitchFamily="34" charset="-122"/>
                <a:cs typeface="Calibri" pitchFamily="34" charset="-120"/>
              </a:rPr>
              <a:t>Outputs the probability of belonging to a class. Uses a threshold (e.g. 0.5) to assign the category with the highest probability.</a:t>
            </a:r>
            <a:endParaRPr lang="en-US" sz="1000" dirty="0"/>
          </a:p>
        </p:txBody>
      </p:sp>
      <p:sp>
        <p:nvSpPr>
          <p:cNvPr id="26" name="Shape 24"/>
          <p:cNvSpPr/>
          <p:nvPr/>
        </p:nvSpPr>
        <p:spPr>
          <a:xfrm>
            <a:off x="3264408" y="4416552"/>
            <a:ext cx="2560320" cy="475488"/>
          </a:xfrm>
          <a:prstGeom prst="rect">
            <a:avLst/>
          </a:prstGeom>
          <a:solidFill>
            <a:srgbClr val="27AE60"/>
          </a:solidFill>
          <a:ln w="12700">
            <a:solidFill>
              <a:srgbClr val="27AE60"/>
            </a:solidFill>
            <a:prstDash val="solid"/>
          </a:ln>
        </p:spPr>
        <p:txBody>
          <a:bodyPr/>
          <a:lstStyle/>
          <a:p>
            <a:endParaRPr lang="en-AU"/>
          </a:p>
        </p:txBody>
      </p:sp>
      <p:sp>
        <p:nvSpPr>
          <p:cNvPr id="27" name="Text 25"/>
          <p:cNvSpPr/>
          <p:nvPr/>
        </p:nvSpPr>
        <p:spPr>
          <a:xfrm>
            <a:off x="3310128" y="4416552"/>
            <a:ext cx="2468880" cy="475488"/>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 Application: </a:t>
            </a:r>
            <a:r>
              <a:rPr lang="en-US" sz="1000" b="1" dirty="0">
                <a:solidFill>
                  <a:srgbClr val="FFFFFF"/>
                </a:solidFill>
                <a:latin typeface="Calibri" pitchFamily="34" charset="0"/>
                <a:ea typeface="Calibri" pitchFamily="34" charset="-122"/>
                <a:cs typeface="Calibri" pitchFamily="34" charset="-120"/>
              </a:rPr>
              <a:t>Virtual Personal</a:t>
            </a:r>
            <a:endParaRPr lang="en-US" sz="950" dirty="0"/>
          </a:p>
          <a:p>
            <a:pPr marL="0" indent="0" algn="ctr">
              <a:buNone/>
            </a:pPr>
            <a:r>
              <a:rPr lang="en-US" sz="1000" b="1" dirty="0">
                <a:solidFill>
                  <a:srgbClr val="FFFFFF"/>
                </a:solidFill>
                <a:latin typeface="Calibri" pitchFamily="34" charset="0"/>
                <a:ea typeface="Calibri" pitchFamily="34" charset="-122"/>
                <a:cs typeface="Calibri" pitchFamily="34" charset="-120"/>
              </a:rPr>
              <a:t>Assistants</a:t>
            </a:r>
            <a:endParaRPr lang="en-US" sz="950" dirty="0"/>
          </a:p>
        </p:txBody>
      </p:sp>
      <p:sp>
        <p:nvSpPr>
          <p:cNvPr id="28" name="Shape 26"/>
          <p:cNvSpPr/>
          <p:nvPr/>
        </p:nvSpPr>
        <p:spPr>
          <a:xfrm>
            <a:off x="6071616" y="1417320"/>
            <a:ext cx="2743200" cy="3566160"/>
          </a:xfrm>
          <a:prstGeom prst="rect">
            <a:avLst/>
          </a:prstGeom>
          <a:solidFill>
            <a:srgbClr val="F5EEF8"/>
          </a:solidFill>
          <a:ln w="19050">
            <a:solidFill>
              <a:srgbClr val="8E44AD"/>
            </a:solidFill>
            <a:prstDash val="solid"/>
          </a:ln>
          <a:effectLst>
            <a:outerShdw blurRad="63500" dist="25400" dir="8100000" algn="bl" rotWithShape="0">
              <a:srgbClr val="000000">
                <a:alpha val="13000"/>
              </a:srgbClr>
            </a:outerShdw>
          </a:effectLst>
        </p:spPr>
        <p:txBody>
          <a:bodyPr/>
          <a:lstStyle/>
          <a:p>
            <a:endParaRPr lang="en-AU"/>
          </a:p>
        </p:txBody>
      </p:sp>
      <p:sp>
        <p:nvSpPr>
          <p:cNvPr id="29" name="Shape 27"/>
          <p:cNvSpPr/>
          <p:nvPr/>
        </p:nvSpPr>
        <p:spPr>
          <a:xfrm>
            <a:off x="6071616" y="1417320"/>
            <a:ext cx="2743200" cy="475488"/>
          </a:xfrm>
          <a:prstGeom prst="rect">
            <a:avLst/>
          </a:prstGeom>
          <a:solidFill>
            <a:srgbClr val="8E44AD"/>
          </a:solidFill>
          <a:ln w="12700">
            <a:solidFill>
              <a:srgbClr val="8E44AD"/>
            </a:solidFill>
            <a:prstDash val="solid"/>
          </a:ln>
        </p:spPr>
        <p:txBody>
          <a:bodyPr/>
          <a:lstStyle/>
          <a:p>
            <a:endParaRPr lang="en-AU"/>
          </a:p>
        </p:txBody>
      </p:sp>
      <p:sp>
        <p:nvSpPr>
          <p:cNvPr id="30" name="Text 28"/>
          <p:cNvSpPr/>
          <p:nvPr/>
        </p:nvSpPr>
        <p:spPr>
          <a:xfrm>
            <a:off x="6163056" y="1417320"/>
            <a:ext cx="2560320" cy="475488"/>
          </a:xfrm>
          <a:prstGeom prst="rect">
            <a:avLst/>
          </a:prstGeom>
          <a:noFill/>
          <a:ln/>
        </p:spPr>
        <p:txBody>
          <a:bodyPr wrap="square"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03  K-Nearest Neighbour</a:t>
            </a:r>
            <a:endParaRPr lang="en-US" sz="1300" dirty="0"/>
          </a:p>
        </p:txBody>
      </p:sp>
      <p:sp>
        <p:nvSpPr>
          <p:cNvPr id="31" name="Shape 29"/>
          <p:cNvSpPr/>
          <p:nvPr/>
        </p:nvSpPr>
        <p:spPr>
          <a:xfrm>
            <a:off x="6163056" y="1984248"/>
            <a:ext cx="2560320" cy="594360"/>
          </a:xfrm>
          <a:prstGeom prst="rect">
            <a:avLst/>
          </a:prstGeom>
          <a:solidFill>
            <a:srgbClr val="8E44AD">
              <a:alpha val="15000"/>
            </a:srgbClr>
          </a:solidFill>
          <a:ln w="12700">
            <a:solidFill>
              <a:srgbClr val="8E44AD"/>
            </a:solidFill>
            <a:prstDash val="solid"/>
          </a:ln>
        </p:spPr>
        <p:txBody>
          <a:bodyPr/>
          <a:lstStyle/>
          <a:p>
            <a:endParaRPr lang="en-AU"/>
          </a:p>
        </p:txBody>
      </p:sp>
      <p:sp>
        <p:nvSpPr>
          <p:cNvPr id="32" name="Text 30"/>
          <p:cNvSpPr/>
          <p:nvPr/>
        </p:nvSpPr>
        <p:spPr>
          <a:xfrm>
            <a:off x="6208776" y="1984248"/>
            <a:ext cx="2468880" cy="274320"/>
          </a:xfrm>
          <a:prstGeom prst="rect">
            <a:avLst/>
          </a:prstGeom>
          <a:noFill/>
          <a:ln/>
        </p:spPr>
        <p:txBody>
          <a:bodyPr wrap="square" rtlCol="0" anchor="ctr"/>
          <a:lstStyle/>
          <a:p>
            <a:pPr marL="0" indent="0">
              <a:buNone/>
            </a:pPr>
            <a:r>
              <a:rPr lang="en-US" sz="900" b="1" dirty="0">
                <a:solidFill>
                  <a:srgbClr val="8E44AD"/>
                </a:solidFill>
                <a:latin typeface="Calibri" pitchFamily="34" charset="0"/>
                <a:ea typeface="Calibri" pitchFamily="34" charset="-122"/>
                <a:cs typeface="Calibri" pitchFamily="34" charset="-120"/>
              </a:rPr>
              <a:t>Output Type</a:t>
            </a:r>
            <a:endParaRPr lang="en-US" sz="900" dirty="0"/>
          </a:p>
        </p:txBody>
      </p:sp>
      <p:sp>
        <p:nvSpPr>
          <p:cNvPr id="33" name="Text 31"/>
          <p:cNvSpPr/>
          <p:nvPr/>
        </p:nvSpPr>
        <p:spPr>
          <a:xfrm>
            <a:off x="6208776" y="2240280"/>
            <a:ext cx="2468880" cy="301752"/>
          </a:xfrm>
          <a:prstGeom prst="rect">
            <a:avLst/>
          </a:prstGeom>
          <a:noFill/>
          <a:ln/>
        </p:spPr>
        <p:txBody>
          <a:bodyPr wrap="square" rtlCol="0" anchor="t"/>
          <a:lstStyle/>
          <a:p>
            <a:pPr marL="0" indent="0">
              <a:buNone/>
            </a:pPr>
            <a:r>
              <a:rPr lang="en-US" sz="1100" b="1" dirty="0">
                <a:solidFill>
                  <a:srgbClr val="8E44AD"/>
                </a:solidFill>
                <a:latin typeface="Calibri" pitchFamily="34" charset="0"/>
                <a:ea typeface="Calibri" pitchFamily="34" charset="-122"/>
                <a:cs typeface="Calibri" pitchFamily="34" charset="-120"/>
              </a:rPr>
              <a:t>Category by similarity</a:t>
            </a:r>
            <a:endParaRPr lang="en-US" sz="1100" dirty="0"/>
          </a:p>
        </p:txBody>
      </p:sp>
      <p:sp>
        <p:nvSpPr>
          <p:cNvPr id="34" name="Text 32"/>
          <p:cNvSpPr/>
          <p:nvPr/>
        </p:nvSpPr>
        <p:spPr>
          <a:xfrm>
            <a:off x="6208776" y="2651760"/>
            <a:ext cx="2468880" cy="274320"/>
          </a:xfrm>
          <a:prstGeom prst="rect">
            <a:avLst/>
          </a:prstGeom>
          <a:noFill/>
          <a:ln/>
        </p:spPr>
        <p:txBody>
          <a:bodyPr wrap="square" rtlCol="0" anchor="t"/>
          <a:lstStyle/>
          <a:p>
            <a:pPr marL="0" indent="0">
              <a:buNone/>
            </a:pPr>
            <a:r>
              <a:rPr lang="en-US" sz="950" i="1" dirty="0">
                <a:solidFill>
                  <a:srgbClr val="64748B"/>
                </a:solidFill>
                <a:latin typeface="Calibri" pitchFamily="34" charset="0"/>
                <a:ea typeface="Calibri" pitchFamily="34" charset="-122"/>
                <a:cs typeface="Calibri" pitchFamily="34" charset="-120"/>
              </a:rPr>
              <a:t>e.g. malignant / benign, defect / pass</a:t>
            </a:r>
            <a:endParaRPr lang="en-US" sz="950" dirty="0"/>
          </a:p>
        </p:txBody>
      </p:sp>
      <p:sp>
        <p:nvSpPr>
          <p:cNvPr id="35" name="Text 33"/>
          <p:cNvSpPr/>
          <p:nvPr/>
        </p:nvSpPr>
        <p:spPr>
          <a:xfrm>
            <a:off x="6208776" y="2971800"/>
            <a:ext cx="2468880" cy="256032"/>
          </a:xfrm>
          <a:prstGeom prst="rect">
            <a:avLst/>
          </a:prstGeom>
          <a:noFill/>
          <a:ln/>
        </p:spPr>
        <p:txBody>
          <a:bodyPr wrap="square" rtlCol="0" anchor="ctr"/>
          <a:lstStyle/>
          <a:p>
            <a:pPr marL="0" indent="0">
              <a:buNone/>
            </a:pPr>
            <a:r>
              <a:rPr lang="en-US" sz="1000" b="1" dirty="0">
                <a:solidFill>
                  <a:srgbClr val="8E44AD"/>
                </a:solidFill>
                <a:latin typeface="Calibri" pitchFamily="34" charset="0"/>
                <a:ea typeface="Calibri" pitchFamily="34" charset="-122"/>
                <a:cs typeface="Calibri" pitchFamily="34" charset="-120"/>
              </a:rPr>
              <a:t>How it works:</a:t>
            </a:r>
            <a:endParaRPr lang="en-US" sz="1000" dirty="0"/>
          </a:p>
        </p:txBody>
      </p:sp>
      <p:sp>
        <p:nvSpPr>
          <p:cNvPr id="36" name="Text 34"/>
          <p:cNvSpPr/>
          <p:nvPr/>
        </p:nvSpPr>
        <p:spPr>
          <a:xfrm>
            <a:off x="6208776" y="3227832"/>
            <a:ext cx="2468880" cy="1188720"/>
          </a:xfrm>
          <a:prstGeom prst="rect">
            <a:avLst/>
          </a:prstGeom>
          <a:noFill/>
          <a:ln/>
        </p:spPr>
        <p:txBody>
          <a:bodyPr wrap="square" rtlCol="0" anchor="t"/>
          <a:lstStyle/>
          <a:p>
            <a:pPr marL="0" indent="0">
              <a:buNone/>
            </a:pPr>
            <a:r>
              <a:rPr lang="en-US" sz="1000" dirty="0">
                <a:solidFill>
                  <a:srgbClr val="1A1A2E"/>
                </a:solidFill>
                <a:latin typeface="Calibri" pitchFamily="34" charset="0"/>
                <a:ea typeface="Calibri" pitchFamily="34" charset="-122"/>
                <a:cs typeface="Calibri" pitchFamily="34" charset="-120"/>
              </a:rPr>
              <a:t>Finds the K most similar labelled examples in training data (using Euclidean distance). Assigns the majority class among those K neighbours.</a:t>
            </a:r>
            <a:endParaRPr lang="en-US" sz="1000" dirty="0"/>
          </a:p>
        </p:txBody>
      </p:sp>
      <p:sp>
        <p:nvSpPr>
          <p:cNvPr id="37" name="Shape 35"/>
          <p:cNvSpPr/>
          <p:nvPr/>
        </p:nvSpPr>
        <p:spPr>
          <a:xfrm>
            <a:off x="6163056" y="4416552"/>
            <a:ext cx="2560320" cy="475488"/>
          </a:xfrm>
          <a:prstGeom prst="rect">
            <a:avLst/>
          </a:prstGeom>
          <a:solidFill>
            <a:srgbClr val="8E44AD"/>
          </a:solidFill>
          <a:ln w="12700">
            <a:solidFill>
              <a:srgbClr val="8E44AD"/>
            </a:solidFill>
            <a:prstDash val="solid"/>
          </a:ln>
        </p:spPr>
        <p:txBody>
          <a:bodyPr/>
          <a:lstStyle/>
          <a:p>
            <a:endParaRPr lang="en-AU"/>
          </a:p>
        </p:txBody>
      </p:sp>
      <p:sp>
        <p:nvSpPr>
          <p:cNvPr id="38" name="Text 36"/>
          <p:cNvSpPr/>
          <p:nvPr/>
        </p:nvSpPr>
        <p:spPr>
          <a:xfrm>
            <a:off x="6208776" y="4416552"/>
            <a:ext cx="2468880" cy="475488"/>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 Application: </a:t>
            </a:r>
            <a:r>
              <a:rPr lang="en-US" sz="1000" b="1" dirty="0">
                <a:solidFill>
                  <a:srgbClr val="FFFFFF"/>
                </a:solidFill>
                <a:latin typeface="Calibri" pitchFamily="34" charset="0"/>
                <a:ea typeface="Calibri" pitchFamily="34" charset="-122"/>
                <a:cs typeface="Calibri" pitchFamily="34" charset="-120"/>
              </a:rPr>
              <a:t>Image</a:t>
            </a:r>
            <a:endParaRPr lang="en-US" sz="950" dirty="0"/>
          </a:p>
          <a:p>
            <a:pPr marL="0" indent="0" algn="ctr">
              <a:buNone/>
            </a:pPr>
            <a:r>
              <a:rPr lang="en-US" sz="1000" b="1" dirty="0">
                <a:solidFill>
                  <a:srgbClr val="FFFFFF"/>
                </a:solidFill>
                <a:latin typeface="Calibri" pitchFamily="34" charset="0"/>
                <a:ea typeface="Calibri" pitchFamily="34" charset="-122"/>
                <a:cs typeface="Calibri" pitchFamily="34" charset="-120"/>
              </a:rPr>
              <a:t>Recognition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B05A0C"/>
          </a:solidFill>
          <a:ln w="12700">
            <a:solidFill>
              <a:srgbClr val="B05A0C"/>
            </a:solidFill>
            <a:prstDash val="solid"/>
          </a:ln>
        </p:spPr>
        <p:txBody>
          <a:bodyPr/>
          <a:lstStyle/>
          <a:p>
            <a:endParaRPr lang="en-AU"/>
          </a:p>
        </p:txBody>
      </p:sp>
      <p:sp>
        <p:nvSpPr>
          <p:cNvPr id="3" name="Text 1"/>
          <p:cNvSpPr/>
          <p:nvPr/>
        </p:nvSpPr>
        <p:spPr>
          <a:xfrm>
            <a:off x="320040" y="0"/>
            <a:ext cx="8503920" cy="640080"/>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Layer 3 → Layer 4 — Linear Regression: Data Analysis &amp; Forecasting</a:t>
            </a:r>
            <a:endParaRPr lang="en-US" sz="1900" dirty="0"/>
          </a:p>
        </p:txBody>
      </p:sp>
      <p:sp>
        <p:nvSpPr>
          <p:cNvPr id="4" name="Shape 2"/>
          <p:cNvSpPr/>
          <p:nvPr/>
        </p:nvSpPr>
        <p:spPr>
          <a:xfrm>
            <a:off x="274320" y="804672"/>
            <a:ext cx="4160520" cy="1691640"/>
          </a:xfrm>
          <a:prstGeom prst="rect">
            <a:avLst/>
          </a:prstGeom>
          <a:solidFill>
            <a:srgbClr val="B05A0C"/>
          </a:solidFill>
          <a:ln w="12700">
            <a:solidFill>
              <a:srgbClr val="B05A0C"/>
            </a:solidFill>
            <a:prstDash val="solid"/>
          </a:ln>
          <a:effectLst>
            <a:outerShdw blurRad="63500" dist="25400" dir="8100000" algn="bl" rotWithShape="0">
              <a:srgbClr val="000000">
                <a:alpha val="13000"/>
              </a:srgbClr>
            </a:outerShdw>
          </a:effectLst>
        </p:spPr>
        <p:txBody>
          <a:bodyPr/>
          <a:lstStyle/>
          <a:p>
            <a:endParaRPr lang="en-AU"/>
          </a:p>
        </p:txBody>
      </p:sp>
      <p:sp>
        <p:nvSpPr>
          <p:cNvPr id="5" name="Text 3"/>
          <p:cNvSpPr/>
          <p:nvPr/>
        </p:nvSpPr>
        <p:spPr>
          <a:xfrm>
            <a:off x="411480" y="896112"/>
            <a:ext cx="3886200" cy="292608"/>
          </a:xfrm>
          <a:prstGeom prst="rect">
            <a:avLst/>
          </a:prstGeom>
          <a:noFill/>
          <a:ln/>
        </p:spPr>
        <p:txBody>
          <a:bodyPr wrap="square" rtlCol="0" anchor="ctr"/>
          <a:lstStyle/>
          <a:p>
            <a:pPr marL="0" indent="0">
              <a:buNone/>
            </a:pPr>
            <a:r>
              <a:rPr lang="en-US" sz="1000" b="1" dirty="0">
                <a:solidFill>
                  <a:srgbClr val="DDDDFF"/>
                </a:solidFill>
                <a:latin typeface="Calibri" pitchFamily="34" charset="0"/>
                <a:ea typeface="Calibri" pitchFamily="34" charset="-122"/>
                <a:cs typeface="Calibri" pitchFamily="34" charset="-120"/>
              </a:rPr>
              <a:t>DEFINITION — LINEAR REGRESSION</a:t>
            </a:r>
            <a:endParaRPr lang="en-US" sz="1000" dirty="0"/>
          </a:p>
        </p:txBody>
      </p:sp>
      <p:sp>
        <p:nvSpPr>
          <p:cNvPr id="6" name="Text 4"/>
          <p:cNvSpPr/>
          <p:nvPr/>
        </p:nvSpPr>
        <p:spPr>
          <a:xfrm>
            <a:off x="411480" y="1188720"/>
            <a:ext cx="3886200" cy="1216152"/>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Predicts a continuous numeric output value by fitting a line of best fit through the training data. Assumes a linear relationship between input features and the target variable. Polynomial regression extends this to curved, non-linear relationships.</a:t>
            </a:r>
            <a:endParaRPr lang="en-US" sz="1100" dirty="0"/>
          </a:p>
        </p:txBody>
      </p:sp>
      <p:sp>
        <p:nvSpPr>
          <p:cNvPr id="7" name="Shape 5"/>
          <p:cNvSpPr/>
          <p:nvPr/>
        </p:nvSpPr>
        <p:spPr>
          <a:xfrm>
            <a:off x="274320" y="2587752"/>
            <a:ext cx="4160520" cy="1325880"/>
          </a:xfrm>
          <a:prstGeom prst="rect">
            <a:avLst/>
          </a:prstGeom>
          <a:solidFill>
            <a:srgbClr val="FEF5E7"/>
          </a:solidFill>
          <a:ln w="19050">
            <a:solidFill>
              <a:srgbClr val="B05A0C"/>
            </a:solidFill>
            <a:prstDash val="solid"/>
          </a:ln>
          <a:effectLst>
            <a:outerShdw blurRad="63500" dist="25400" dir="8100000" algn="bl" rotWithShape="0">
              <a:srgbClr val="000000">
                <a:alpha val="13000"/>
              </a:srgbClr>
            </a:outerShdw>
          </a:effectLst>
        </p:spPr>
        <p:txBody>
          <a:bodyPr/>
          <a:lstStyle/>
          <a:p>
            <a:endParaRPr lang="en-AU"/>
          </a:p>
        </p:txBody>
      </p:sp>
      <p:sp>
        <p:nvSpPr>
          <p:cNvPr id="8" name="Shape 6"/>
          <p:cNvSpPr/>
          <p:nvPr/>
        </p:nvSpPr>
        <p:spPr>
          <a:xfrm>
            <a:off x="274320" y="2587752"/>
            <a:ext cx="109728" cy="1325880"/>
          </a:xfrm>
          <a:prstGeom prst="rect">
            <a:avLst/>
          </a:prstGeom>
          <a:solidFill>
            <a:srgbClr val="B05A0C"/>
          </a:solidFill>
          <a:ln w="12700">
            <a:solidFill>
              <a:srgbClr val="B05A0C"/>
            </a:solidFill>
            <a:prstDash val="solid"/>
          </a:ln>
        </p:spPr>
        <p:txBody>
          <a:bodyPr/>
          <a:lstStyle/>
          <a:p>
            <a:endParaRPr lang="en-AU"/>
          </a:p>
        </p:txBody>
      </p:sp>
      <p:sp>
        <p:nvSpPr>
          <p:cNvPr id="9" name="Text 7"/>
          <p:cNvSpPr/>
          <p:nvPr/>
        </p:nvSpPr>
        <p:spPr>
          <a:xfrm>
            <a:off x="475488" y="2670048"/>
            <a:ext cx="3867912" cy="320040"/>
          </a:xfrm>
          <a:prstGeom prst="rect">
            <a:avLst/>
          </a:prstGeom>
          <a:noFill/>
          <a:ln/>
        </p:spPr>
        <p:txBody>
          <a:bodyPr wrap="square" rtlCol="0" anchor="ctr"/>
          <a:lstStyle/>
          <a:p>
            <a:pPr marL="0" indent="0">
              <a:buNone/>
            </a:pPr>
            <a:r>
              <a:rPr lang="en-US" sz="1150" b="1" dirty="0">
                <a:solidFill>
                  <a:srgbClr val="B05A0C"/>
                </a:solidFill>
                <a:latin typeface="Calibri" pitchFamily="34" charset="0"/>
                <a:ea typeface="Calibri" pitchFamily="34" charset="-122"/>
                <a:cs typeface="Calibri" pitchFamily="34" charset="-120"/>
              </a:rPr>
              <a:t>Output Type</a:t>
            </a:r>
            <a:endParaRPr lang="en-US" sz="1150" dirty="0"/>
          </a:p>
        </p:txBody>
      </p:sp>
      <p:sp>
        <p:nvSpPr>
          <p:cNvPr id="10" name="Text 8"/>
          <p:cNvSpPr/>
          <p:nvPr/>
        </p:nvSpPr>
        <p:spPr>
          <a:xfrm>
            <a:off x="475488" y="2990088"/>
            <a:ext cx="3867912" cy="832104"/>
          </a:xfrm>
          <a:prstGeom prst="rect">
            <a:avLst/>
          </a:prstGeom>
          <a:noFill/>
          <a:ln/>
        </p:spPr>
        <p:txBody>
          <a:bodyPr wrap="square" rtlCol="0" anchor="t"/>
          <a:lstStyle/>
          <a:p>
            <a:pPr marL="0" indent="0">
              <a:buNone/>
            </a:pPr>
            <a:r>
              <a:rPr lang="en-US" sz="1100" dirty="0">
                <a:solidFill>
                  <a:srgbClr val="1A1A2E"/>
                </a:solidFill>
                <a:latin typeface="Calibri" pitchFamily="34" charset="0"/>
                <a:ea typeface="Calibri" pitchFamily="34" charset="-122"/>
                <a:cs typeface="Calibri" pitchFamily="34" charset="-120"/>
              </a:rPr>
              <a:t>A continuous numeric value — answers the question:</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"How much?  What price?  What score?  What temperature?"</a:t>
            </a:r>
            <a:endParaRPr lang="en-US" sz="1100" dirty="0"/>
          </a:p>
        </p:txBody>
      </p:sp>
      <p:sp>
        <p:nvSpPr>
          <p:cNvPr id="11" name="Shape 9"/>
          <p:cNvSpPr/>
          <p:nvPr/>
        </p:nvSpPr>
        <p:spPr>
          <a:xfrm>
            <a:off x="274320" y="4005072"/>
            <a:ext cx="4160520" cy="1005840"/>
          </a:xfrm>
          <a:prstGeom prst="rect">
            <a:avLst/>
          </a:prstGeom>
          <a:solidFill>
            <a:srgbClr val="FEF5E7"/>
          </a:solidFill>
          <a:ln w="19050">
            <a:solidFill>
              <a:srgbClr val="B05A0C"/>
            </a:solidFill>
            <a:prstDash val="solid"/>
          </a:ln>
          <a:effectLst>
            <a:outerShdw blurRad="63500" dist="25400" dir="8100000" algn="bl" rotWithShape="0">
              <a:srgbClr val="000000">
                <a:alpha val="13000"/>
              </a:srgbClr>
            </a:outerShdw>
          </a:effectLst>
        </p:spPr>
        <p:txBody>
          <a:bodyPr/>
          <a:lstStyle/>
          <a:p>
            <a:endParaRPr lang="en-AU"/>
          </a:p>
        </p:txBody>
      </p:sp>
      <p:sp>
        <p:nvSpPr>
          <p:cNvPr id="12" name="Shape 10"/>
          <p:cNvSpPr/>
          <p:nvPr/>
        </p:nvSpPr>
        <p:spPr>
          <a:xfrm>
            <a:off x="274320" y="4005072"/>
            <a:ext cx="109728" cy="1005840"/>
          </a:xfrm>
          <a:prstGeom prst="rect">
            <a:avLst/>
          </a:prstGeom>
          <a:solidFill>
            <a:srgbClr val="B05A0C"/>
          </a:solidFill>
          <a:ln w="12700">
            <a:solidFill>
              <a:srgbClr val="B05A0C"/>
            </a:solidFill>
            <a:prstDash val="solid"/>
          </a:ln>
        </p:spPr>
        <p:txBody>
          <a:bodyPr/>
          <a:lstStyle/>
          <a:p>
            <a:endParaRPr lang="en-AU"/>
          </a:p>
        </p:txBody>
      </p:sp>
      <p:sp>
        <p:nvSpPr>
          <p:cNvPr id="13" name="Text 11"/>
          <p:cNvSpPr/>
          <p:nvPr/>
        </p:nvSpPr>
        <p:spPr>
          <a:xfrm>
            <a:off x="475488" y="4087368"/>
            <a:ext cx="3867912" cy="320040"/>
          </a:xfrm>
          <a:prstGeom prst="rect">
            <a:avLst/>
          </a:prstGeom>
          <a:noFill/>
          <a:ln/>
        </p:spPr>
        <p:txBody>
          <a:bodyPr wrap="square" rtlCol="0" anchor="ctr"/>
          <a:lstStyle/>
          <a:p>
            <a:pPr marL="0" indent="0">
              <a:buNone/>
            </a:pPr>
            <a:r>
              <a:rPr lang="en-US" sz="1150" b="1" dirty="0">
                <a:solidFill>
                  <a:srgbClr val="B05A0C"/>
                </a:solidFill>
                <a:latin typeface="Calibri" pitchFamily="34" charset="0"/>
                <a:ea typeface="Calibri" pitchFamily="34" charset="-122"/>
                <a:cs typeface="Calibri" pitchFamily="34" charset="-120"/>
              </a:rPr>
              <a:t>Training Algorithm (in Neural Networks)</a:t>
            </a:r>
            <a:endParaRPr lang="en-US" sz="1150" dirty="0"/>
          </a:p>
        </p:txBody>
      </p:sp>
      <p:sp>
        <p:nvSpPr>
          <p:cNvPr id="14" name="Text 12"/>
          <p:cNvSpPr/>
          <p:nvPr/>
        </p:nvSpPr>
        <p:spPr>
          <a:xfrm>
            <a:off x="475488" y="4407408"/>
            <a:ext cx="3867912" cy="512064"/>
          </a:xfrm>
          <a:prstGeom prst="rect">
            <a:avLst/>
          </a:prstGeom>
          <a:noFill/>
          <a:ln/>
        </p:spPr>
        <p:txBody>
          <a:bodyPr wrap="square" rtlCol="0" anchor="t"/>
          <a:lstStyle/>
          <a:p>
            <a:pPr marL="0" indent="0">
              <a:buNone/>
            </a:pPr>
            <a:r>
              <a:rPr lang="en-US" sz="1100" dirty="0">
                <a:solidFill>
                  <a:srgbClr val="1A1A2E"/>
                </a:solidFill>
                <a:highlight>
                  <a:srgbClr val="FFFF00"/>
                </a:highlight>
                <a:latin typeface="Calibri" pitchFamily="34" charset="0"/>
                <a:ea typeface="Calibri" pitchFamily="34" charset="-122"/>
                <a:cs typeface="Calibri" pitchFamily="34" charset="-120"/>
              </a:rPr>
              <a:t>Linear regression with backward chaining is used during the neural network training cycle to adjust internal node weightings.</a:t>
            </a:r>
            <a:endParaRPr lang="en-US" sz="1100" dirty="0">
              <a:highlight>
                <a:srgbClr val="FFFF00"/>
              </a:highlight>
            </a:endParaRPr>
          </a:p>
        </p:txBody>
      </p:sp>
      <p:sp>
        <p:nvSpPr>
          <p:cNvPr id="15" name="Shape 13"/>
          <p:cNvSpPr/>
          <p:nvPr/>
        </p:nvSpPr>
        <p:spPr>
          <a:xfrm>
            <a:off x="4617720" y="804672"/>
            <a:ext cx="4251960" cy="2148840"/>
          </a:xfrm>
          <a:prstGeom prst="rect">
            <a:avLst/>
          </a:prstGeom>
          <a:solidFill>
            <a:srgbClr val="EBF5FB"/>
          </a:solidFill>
          <a:ln w="19050">
            <a:solidFill>
              <a:srgbClr val="1A5276"/>
            </a:solidFill>
            <a:prstDash val="solid"/>
          </a:ln>
          <a:effectLst>
            <a:outerShdw blurRad="63500" dist="25400" dir="8100000" algn="bl" rotWithShape="0">
              <a:srgbClr val="000000">
                <a:alpha val="13000"/>
              </a:srgbClr>
            </a:outerShdw>
          </a:effectLst>
        </p:spPr>
        <p:txBody>
          <a:bodyPr/>
          <a:lstStyle/>
          <a:p>
            <a:endParaRPr lang="en-AU"/>
          </a:p>
        </p:txBody>
      </p:sp>
      <p:sp>
        <p:nvSpPr>
          <p:cNvPr id="16" name="Shape 14"/>
          <p:cNvSpPr/>
          <p:nvPr/>
        </p:nvSpPr>
        <p:spPr>
          <a:xfrm>
            <a:off x="4617720" y="804672"/>
            <a:ext cx="109728" cy="2148840"/>
          </a:xfrm>
          <a:prstGeom prst="rect">
            <a:avLst/>
          </a:prstGeom>
          <a:solidFill>
            <a:srgbClr val="1A5276"/>
          </a:solidFill>
          <a:ln w="12700">
            <a:solidFill>
              <a:srgbClr val="1A5276"/>
            </a:solidFill>
            <a:prstDash val="solid"/>
          </a:ln>
        </p:spPr>
        <p:txBody>
          <a:bodyPr/>
          <a:lstStyle/>
          <a:p>
            <a:endParaRPr lang="en-AU"/>
          </a:p>
        </p:txBody>
      </p:sp>
      <p:sp>
        <p:nvSpPr>
          <p:cNvPr id="17" name="Text 15"/>
          <p:cNvSpPr/>
          <p:nvPr/>
        </p:nvSpPr>
        <p:spPr>
          <a:xfrm>
            <a:off x="4800600" y="868680"/>
            <a:ext cx="3977640" cy="320040"/>
          </a:xfrm>
          <a:prstGeom prst="rect">
            <a:avLst/>
          </a:prstGeom>
          <a:noFill/>
          <a:ln/>
        </p:spPr>
        <p:txBody>
          <a:bodyPr wrap="square" rtlCol="0" anchor="ctr"/>
          <a:lstStyle/>
          <a:p>
            <a:pPr marL="0" indent="0">
              <a:buNone/>
            </a:pPr>
            <a:r>
              <a:rPr lang="en-US" sz="1200" b="1" dirty="0">
                <a:solidFill>
                  <a:srgbClr val="1A5276"/>
                </a:solidFill>
                <a:latin typeface="Calibri" pitchFamily="34" charset="0"/>
                <a:ea typeface="Calibri" pitchFamily="34" charset="-122"/>
                <a:cs typeface="Calibri" pitchFamily="34" charset="-120"/>
              </a:rPr>
              <a:t>Application — Data Analysis &amp; Forecasting</a:t>
            </a:r>
            <a:endParaRPr lang="en-US" sz="1200" dirty="0"/>
          </a:p>
        </p:txBody>
      </p:sp>
      <p:sp>
        <p:nvSpPr>
          <p:cNvPr id="18" name="Text 16"/>
          <p:cNvSpPr/>
          <p:nvPr/>
        </p:nvSpPr>
        <p:spPr>
          <a:xfrm>
            <a:off x="4800600" y="1234440"/>
            <a:ext cx="3977640" cy="1645920"/>
          </a:xfrm>
          <a:prstGeom prst="rect">
            <a:avLst/>
          </a:prstGeom>
          <a:noFill/>
          <a:ln/>
        </p:spPr>
        <p:txBody>
          <a:bodyPr wrap="square" rtlCol="0" anchor="t"/>
          <a:lstStyle/>
          <a:p>
            <a:pPr marL="0" indent="0">
              <a:buNone/>
            </a:pPr>
            <a:r>
              <a:rPr lang="en-US" sz="1050" dirty="0">
                <a:solidFill>
                  <a:srgbClr val="1A1A2E"/>
                </a:solidFill>
                <a:latin typeface="Calibri" pitchFamily="34" charset="0"/>
                <a:ea typeface="Calibri" pitchFamily="34" charset="-122"/>
                <a:cs typeface="Calibri" pitchFamily="34" charset="-120"/>
              </a:rPr>
              <a:t>A retail chain trains a linear regression model on historical weekly sales figures, seasonal indicators, and promotional data.</a:t>
            </a:r>
            <a:endParaRPr lang="en-US" sz="1050" dirty="0"/>
          </a:p>
          <a:p>
            <a:pPr marL="0" indent="0">
              <a:buNone/>
            </a:pPr>
            <a:endParaRPr lang="en-US" sz="1050" dirty="0"/>
          </a:p>
          <a:p>
            <a:pPr marL="0" indent="0">
              <a:buNone/>
            </a:pPr>
            <a:r>
              <a:rPr lang="en-US" sz="1050" dirty="0">
                <a:solidFill>
                  <a:srgbClr val="1A1A2E"/>
                </a:solidFill>
                <a:latin typeface="Calibri" pitchFamily="34" charset="0"/>
                <a:ea typeface="Calibri" pitchFamily="34" charset="-122"/>
                <a:cs typeface="Calibri" pitchFamily="34" charset="-120"/>
              </a:rPr>
              <a:t>The model predicts required stock levels for the coming week — a continuous numeric output.</a:t>
            </a:r>
            <a:endParaRPr lang="en-US" sz="1050" dirty="0"/>
          </a:p>
          <a:p>
            <a:pPr marL="0" indent="0">
              <a:buNone/>
            </a:pPr>
            <a:endParaRPr lang="en-US" sz="1050" dirty="0"/>
          </a:p>
          <a:p>
            <a:pPr marL="0" indent="0">
              <a:buNone/>
            </a:pPr>
            <a:r>
              <a:rPr lang="en-US" sz="1050" dirty="0">
                <a:solidFill>
                  <a:srgbClr val="1A1A2E"/>
                </a:solidFill>
                <a:latin typeface="Calibri" pitchFamily="34" charset="0"/>
                <a:ea typeface="Calibri" pitchFamily="34" charset="-122"/>
                <a:cs typeface="Calibri" pitchFamily="34" charset="-120"/>
              </a:rPr>
              <a:t>A financial institution uses the same approach to estimate the probability of loan default, producing a risk score.</a:t>
            </a:r>
            <a:endParaRPr lang="en-US" sz="1050" dirty="0"/>
          </a:p>
        </p:txBody>
      </p:sp>
      <p:sp>
        <p:nvSpPr>
          <p:cNvPr id="19" name="Shape 17"/>
          <p:cNvSpPr/>
          <p:nvPr/>
        </p:nvSpPr>
        <p:spPr>
          <a:xfrm>
            <a:off x="4617720" y="3090672"/>
            <a:ext cx="4251960" cy="1920240"/>
          </a:xfrm>
          <a:prstGeom prst="rect">
            <a:avLst/>
          </a:prstGeom>
          <a:solidFill>
            <a:srgbClr val="1E2A3A"/>
          </a:solidFill>
          <a:ln w="12700">
            <a:solidFill>
              <a:srgbClr val="2E4060"/>
            </a:solidFill>
            <a:prstDash val="solid"/>
          </a:ln>
          <a:effectLst>
            <a:outerShdw blurRad="63500" dist="25400" dir="8100000" algn="bl" rotWithShape="0">
              <a:srgbClr val="000000">
                <a:alpha val="13000"/>
              </a:srgbClr>
            </a:outerShdw>
          </a:effectLst>
        </p:spPr>
        <p:txBody>
          <a:bodyPr/>
          <a:lstStyle/>
          <a:p>
            <a:endParaRPr lang="en-AU"/>
          </a:p>
        </p:txBody>
      </p:sp>
      <p:sp>
        <p:nvSpPr>
          <p:cNvPr id="20" name="Text 18"/>
          <p:cNvSpPr/>
          <p:nvPr/>
        </p:nvSpPr>
        <p:spPr>
          <a:xfrm>
            <a:off x="4754880" y="3136392"/>
            <a:ext cx="3977640" cy="256032"/>
          </a:xfrm>
          <a:prstGeom prst="rect">
            <a:avLst/>
          </a:prstGeom>
          <a:noFill/>
          <a:ln/>
        </p:spPr>
        <p:txBody>
          <a:bodyPr wrap="square" rtlCol="0" anchor="ctr"/>
          <a:lstStyle/>
          <a:p>
            <a:pPr marL="0" indent="0">
              <a:buNone/>
            </a:pPr>
            <a:r>
              <a:rPr lang="en-US" sz="900" i="1" dirty="0">
                <a:solidFill>
                  <a:srgbClr val="88AAD0"/>
                </a:solidFill>
                <a:latin typeface="Calibri" pitchFamily="34" charset="0"/>
                <a:ea typeface="Calibri" pitchFamily="34" charset="-122"/>
                <a:cs typeface="Calibri" pitchFamily="34" charset="-120"/>
              </a:rPr>
              <a:t>Python (scikit-learn)</a:t>
            </a:r>
            <a:endParaRPr lang="en-US" sz="900" dirty="0"/>
          </a:p>
        </p:txBody>
      </p:sp>
      <p:sp>
        <p:nvSpPr>
          <p:cNvPr id="21" name="Text 19"/>
          <p:cNvSpPr/>
          <p:nvPr/>
        </p:nvSpPr>
        <p:spPr>
          <a:xfrm>
            <a:off x="4736592" y="3429000"/>
            <a:ext cx="4114800" cy="164592"/>
          </a:xfrm>
          <a:prstGeom prst="rect">
            <a:avLst/>
          </a:prstGeom>
          <a:noFill/>
          <a:ln/>
        </p:spPr>
        <p:txBody>
          <a:bodyPr wrap="square" rtlCol="0" anchor="t"/>
          <a:lstStyle/>
          <a:p>
            <a:pPr marL="0" indent="0">
              <a:buNone/>
            </a:pPr>
            <a:r>
              <a:rPr lang="en-US" sz="900" dirty="0">
                <a:solidFill>
                  <a:srgbClr val="D4D4D4"/>
                </a:solidFill>
                <a:latin typeface="Courier New" pitchFamily="34" charset="0"/>
                <a:ea typeface="Courier New" pitchFamily="34" charset="-122"/>
                <a:cs typeface="Courier New" pitchFamily="34" charset="-120"/>
              </a:rPr>
              <a:t>from sklearn.linear_model import LinearRegression</a:t>
            </a:r>
            <a:endParaRPr lang="en-US" sz="900" dirty="0"/>
          </a:p>
        </p:txBody>
      </p:sp>
      <p:sp>
        <p:nvSpPr>
          <p:cNvPr id="22" name="Text 20"/>
          <p:cNvSpPr/>
          <p:nvPr/>
        </p:nvSpPr>
        <p:spPr>
          <a:xfrm>
            <a:off x="4736592" y="3570732"/>
            <a:ext cx="4114800" cy="164592"/>
          </a:xfrm>
          <a:prstGeom prst="rect">
            <a:avLst/>
          </a:prstGeom>
          <a:noFill/>
          <a:ln/>
        </p:spPr>
        <p:txBody>
          <a:bodyPr wrap="square" rtlCol="0" anchor="t"/>
          <a:lstStyle/>
          <a:p>
            <a:pPr marL="0" indent="0">
              <a:buNone/>
            </a:pPr>
            <a:r>
              <a:rPr lang="en-US" sz="900" dirty="0">
                <a:solidFill>
                  <a:srgbClr val="D4D4D4"/>
                </a:solidFill>
                <a:latin typeface="Courier New" pitchFamily="34" charset="0"/>
                <a:ea typeface="Courier New" pitchFamily="34" charset="-122"/>
                <a:cs typeface="Courier New" pitchFamily="34" charset="-120"/>
              </a:rPr>
              <a:t>import numpy as np</a:t>
            </a:r>
            <a:endParaRPr lang="en-US" sz="900" dirty="0"/>
          </a:p>
        </p:txBody>
      </p:sp>
      <p:sp>
        <p:nvSpPr>
          <p:cNvPr id="23" name="Text 21"/>
          <p:cNvSpPr/>
          <p:nvPr/>
        </p:nvSpPr>
        <p:spPr>
          <a:xfrm>
            <a:off x="4736592" y="3712464"/>
            <a:ext cx="4114800" cy="164592"/>
          </a:xfrm>
          <a:prstGeom prst="rect">
            <a:avLst/>
          </a:prstGeom>
          <a:noFill/>
          <a:ln/>
        </p:spPr>
        <p:txBody>
          <a:bodyPr wrap="square" rtlCol="0" anchor="t"/>
          <a:lstStyle/>
          <a:p>
            <a:pPr marL="0" indent="0">
              <a:buNone/>
            </a:pPr>
            <a:endParaRPr lang="en-US" sz="900" dirty="0"/>
          </a:p>
        </p:txBody>
      </p:sp>
      <p:sp>
        <p:nvSpPr>
          <p:cNvPr id="24" name="Text 22"/>
          <p:cNvSpPr/>
          <p:nvPr/>
        </p:nvSpPr>
        <p:spPr>
          <a:xfrm>
            <a:off x="4736592" y="3854196"/>
            <a:ext cx="4114800" cy="164592"/>
          </a:xfrm>
          <a:prstGeom prst="rect">
            <a:avLst/>
          </a:prstGeom>
          <a:noFill/>
          <a:ln/>
        </p:spPr>
        <p:txBody>
          <a:bodyPr wrap="square" rtlCol="0" anchor="t"/>
          <a:lstStyle/>
          <a:p>
            <a:pPr marL="0" indent="0">
              <a:buNone/>
            </a:pPr>
            <a:r>
              <a:rPr lang="en-US" sz="900" dirty="0">
                <a:solidFill>
                  <a:srgbClr val="D4D4D4"/>
                </a:solidFill>
                <a:latin typeface="Courier New" pitchFamily="34" charset="0"/>
                <a:ea typeface="Courier New" pitchFamily="34" charset="-122"/>
                <a:cs typeface="Courier New" pitchFamily="34" charset="-120"/>
              </a:rPr>
              <a:t>x = np.array([[2],[4],[6],[8],[10]])  # hours</a:t>
            </a:r>
            <a:endParaRPr lang="en-US" sz="900" dirty="0"/>
          </a:p>
        </p:txBody>
      </p:sp>
      <p:sp>
        <p:nvSpPr>
          <p:cNvPr id="25" name="Text 23"/>
          <p:cNvSpPr/>
          <p:nvPr/>
        </p:nvSpPr>
        <p:spPr>
          <a:xfrm>
            <a:off x="4736592" y="3995928"/>
            <a:ext cx="4114800" cy="164592"/>
          </a:xfrm>
          <a:prstGeom prst="rect">
            <a:avLst/>
          </a:prstGeom>
          <a:noFill/>
          <a:ln/>
        </p:spPr>
        <p:txBody>
          <a:bodyPr wrap="square" rtlCol="0" anchor="t"/>
          <a:lstStyle/>
          <a:p>
            <a:pPr marL="0" indent="0">
              <a:buNone/>
            </a:pPr>
            <a:r>
              <a:rPr lang="en-US" sz="900" dirty="0">
                <a:solidFill>
                  <a:srgbClr val="D4D4D4"/>
                </a:solidFill>
                <a:latin typeface="Courier New" pitchFamily="34" charset="0"/>
                <a:ea typeface="Courier New" pitchFamily="34" charset="-122"/>
                <a:cs typeface="Courier New" pitchFamily="34" charset="-120"/>
              </a:rPr>
              <a:t>y = np.array([1, 3, 5, 7, 9])        # scores</a:t>
            </a:r>
            <a:endParaRPr lang="en-US" sz="900" dirty="0"/>
          </a:p>
        </p:txBody>
      </p:sp>
      <p:sp>
        <p:nvSpPr>
          <p:cNvPr id="26" name="Text 24"/>
          <p:cNvSpPr/>
          <p:nvPr/>
        </p:nvSpPr>
        <p:spPr>
          <a:xfrm>
            <a:off x="4736592" y="4137660"/>
            <a:ext cx="4114800" cy="164592"/>
          </a:xfrm>
          <a:prstGeom prst="rect">
            <a:avLst/>
          </a:prstGeom>
          <a:noFill/>
          <a:ln/>
        </p:spPr>
        <p:txBody>
          <a:bodyPr wrap="square" rtlCol="0" anchor="t"/>
          <a:lstStyle/>
          <a:p>
            <a:pPr marL="0" indent="0">
              <a:buNone/>
            </a:pPr>
            <a:endParaRPr lang="en-US" sz="900" dirty="0"/>
          </a:p>
        </p:txBody>
      </p:sp>
      <p:sp>
        <p:nvSpPr>
          <p:cNvPr id="27" name="Text 25"/>
          <p:cNvSpPr/>
          <p:nvPr/>
        </p:nvSpPr>
        <p:spPr>
          <a:xfrm>
            <a:off x="4736592" y="4279392"/>
            <a:ext cx="4114800" cy="164592"/>
          </a:xfrm>
          <a:prstGeom prst="rect">
            <a:avLst/>
          </a:prstGeom>
          <a:noFill/>
          <a:ln/>
        </p:spPr>
        <p:txBody>
          <a:bodyPr wrap="square" rtlCol="0" anchor="t"/>
          <a:lstStyle/>
          <a:p>
            <a:pPr marL="0" indent="0">
              <a:buNone/>
            </a:pPr>
            <a:r>
              <a:rPr lang="en-US" sz="900" dirty="0">
                <a:solidFill>
                  <a:srgbClr val="D4D4D4"/>
                </a:solidFill>
                <a:latin typeface="Courier New" pitchFamily="34" charset="0"/>
                <a:ea typeface="Courier New" pitchFamily="34" charset="-122"/>
                <a:cs typeface="Courier New" pitchFamily="34" charset="-120"/>
              </a:rPr>
              <a:t>model = LinearRegression()</a:t>
            </a:r>
            <a:endParaRPr lang="en-US" sz="900" dirty="0"/>
          </a:p>
        </p:txBody>
      </p:sp>
      <p:sp>
        <p:nvSpPr>
          <p:cNvPr id="28" name="Text 26"/>
          <p:cNvSpPr/>
          <p:nvPr/>
        </p:nvSpPr>
        <p:spPr>
          <a:xfrm>
            <a:off x="4736592" y="4421124"/>
            <a:ext cx="4114800" cy="164592"/>
          </a:xfrm>
          <a:prstGeom prst="rect">
            <a:avLst/>
          </a:prstGeom>
          <a:noFill/>
          <a:ln/>
        </p:spPr>
        <p:txBody>
          <a:bodyPr wrap="square" rtlCol="0" anchor="t"/>
          <a:lstStyle/>
          <a:p>
            <a:pPr marL="0" indent="0">
              <a:buNone/>
            </a:pPr>
            <a:r>
              <a:rPr lang="en-US" sz="900" dirty="0">
                <a:solidFill>
                  <a:srgbClr val="D4D4D4"/>
                </a:solidFill>
                <a:latin typeface="Courier New" pitchFamily="34" charset="0"/>
                <a:ea typeface="Courier New" pitchFamily="34" charset="-122"/>
                <a:cs typeface="Courier New" pitchFamily="34" charset="-120"/>
              </a:rPr>
              <a:t>model.fit(x, y)       # training cycle</a:t>
            </a:r>
            <a:endParaRPr lang="en-US" sz="900" dirty="0"/>
          </a:p>
        </p:txBody>
      </p:sp>
      <p:sp>
        <p:nvSpPr>
          <p:cNvPr id="29" name="Text 27"/>
          <p:cNvSpPr/>
          <p:nvPr/>
        </p:nvSpPr>
        <p:spPr>
          <a:xfrm>
            <a:off x="4736592" y="4562856"/>
            <a:ext cx="4114800" cy="164592"/>
          </a:xfrm>
          <a:prstGeom prst="rect">
            <a:avLst/>
          </a:prstGeom>
          <a:noFill/>
          <a:ln/>
        </p:spPr>
        <p:txBody>
          <a:bodyPr wrap="square" rtlCol="0" anchor="t"/>
          <a:lstStyle/>
          <a:p>
            <a:pPr marL="0" indent="0">
              <a:buNone/>
            </a:pPr>
            <a:r>
              <a:rPr lang="en-US" sz="900" dirty="0">
                <a:solidFill>
                  <a:srgbClr val="D4D4D4"/>
                </a:solidFill>
                <a:latin typeface="Courier New" pitchFamily="34" charset="0"/>
                <a:ea typeface="Courier New" pitchFamily="34" charset="-122"/>
                <a:cs typeface="Courier New" pitchFamily="34" charset="-120"/>
              </a:rPr>
              <a:t>model.predict([[4.5]])  # execution → [3.5]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B05A0C"/>
          </a:solidFill>
          <a:ln w="12700">
            <a:solidFill>
              <a:srgbClr val="B05A0C"/>
            </a:solidFill>
            <a:prstDash val="solid"/>
          </a:ln>
        </p:spPr>
        <p:txBody>
          <a:bodyPr/>
          <a:lstStyle/>
          <a:p>
            <a:endParaRPr lang="en-AU"/>
          </a:p>
        </p:txBody>
      </p:sp>
      <p:sp>
        <p:nvSpPr>
          <p:cNvPr id="3" name="Text 1"/>
          <p:cNvSpPr/>
          <p:nvPr/>
        </p:nvSpPr>
        <p:spPr>
          <a:xfrm>
            <a:off x="320040" y="0"/>
            <a:ext cx="8503920" cy="640080"/>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Layer 3 → Layer 4 — Logistic Regression: Virtual Personal Assistants</a:t>
            </a:r>
            <a:endParaRPr lang="en-US" sz="1900" dirty="0"/>
          </a:p>
        </p:txBody>
      </p:sp>
      <p:sp>
        <p:nvSpPr>
          <p:cNvPr id="4" name="Shape 2"/>
          <p:cNvSpPr/>
          <p:nvPr/>
        </p:nvSpPr>
        <p:spPr>
          <a:xfrm>
            <a:off x="274320" y="804672"/>
            <a:ext cx="4160520" cy="1828800"/>
          </a:xfrm>
          <a:prstGeom prst="rect">
            <a:avLst/>
          </a:prstGeom>
          <a:solidFill>
            <a:srgbClr val="B05A0C"/>
          </a:solidFill>
          <a:ln w="12700">
            <a:solidFill>
              <a:srgbClr val="B05A0C"/>
            </a:solidFill>
            <a:prstDash val="solid"/>
          </a:ln>
          <a:effectLst>
            <a:outerShdw blurRad="63500" dist="25400" dir="8100000" algn="bl" rotWithShape="0">
              <a:srgbClr val="000000">
                <a:alpha val="13000"/>
              </a:srgbClr>
            </a:outerShdw>
          </a:effectLst>
        </p:spPr>
        <p:txBody>
          <a:bodyPr/>
          <a:lstStyle/>
          <a:p>
            <a:endParaRPr lang="en-AU"/>
          </a:p>
        </p:txBody>
      </p:sp>
      <p:sp>
        <p:nvSpPr>
          <p:cNvPr id="5" name="Text 3"/>
          <p:cNvSpPr/>
          <p:nvPr/>
        </p:nvSpPr>
        <p:spPr>
          <a:xfrm>
            <a:off x="411480" y="896112"/>
            <a:ext cx="3886200" cy="292608"/>
          </a:xfrm>
          <a:prstGeom prst="rect">
            <a:avLst/>
          </a:prstGeom>
          <a:noFill/>
          <a:ln/>
        </p:spPr>
        <p:txBody>
          <a:bodyPr wrap="square" rtlCol="0" anchor="ctr"/>
          <a:lstStyle/>
          <a:p>
            <a:pPr marL="0" indent="0">
              <a:buNone/>
            </a:pPr>
            <a:r>
              <a:rPr lang="en-US" sz="1000" b="1" dirty="0">
                <a:solidFill>
                  <a:srgbClr val="DDDDFF"/>
                </a:solidFill>
                <a:latin typeface="Calibri" pitchFamily="34" charset="0"/>
                <a:ea typeface="Calibri" pitchFamily="34" charset="-122"/>
                <a:cs typeface="Calibri" pitchFamily="34" charset="-120"/>
              </a:rPr>
              <a:t>DEFINITION — LOGISTIC REGRESSION</a:t>
            </a:r>
            <a:endParaRPr lang="en-US" sz="1000" dirty="0"/>
          </a:p>
        </p:txBody>
      </p:sp>
      <p:sp>
        <p:nvSpPr>
          <p:cNvPr id="6" name="Text 4"/>
          <p:cNvSpPr/>
          <p:nvPr/>
        </p:nvSpPr>
        <p:spPr>
          <a:xfrm>
            <a:off x="411480" y="1188720"/>
            <a:ext cx="3886200" cy="1353312"/>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A classification algorithm — not a numeric predictor. It outputs the probability that an input belongs to one of a discrete set of categories, and assigns the class with the highest probability. A threshold (typically 0.5) converts the probability to a class label.</a:t>
            </a:r>
            <a:endParaRPr lang="en-US" sz="1100" dirty="0"/>
          </a:p>
        </p:txBody>
      </p:sp>
      <p:sp>
        <p:nvSpPr>
          <p:cNvPr id="7" name="Shape 5"/>
          <p:cNvSpPr/>
          <p:nvPr/>
        </p:nvSpPr>
        <p:spPr>
          <a:xfrm>
            <a:off x="274320" y="2724912"/>
            <a:ext cx="4160520" cy="1188720"/>
          </a:xfrm>
          <a:prstGeom prst="rect">
            <a:avLst/>
          </a:prstGeom>
          <a:solidFill>
            <a:srgbClr val="FEF5E7"/>
          </a:solidFill>
          <a:ln w="19050">
            <a:solidFill>
              <a:srgbClr val="B05A0C"/>
            </a:solidFill>
            <a:prstDash val="solid"/>
          </a:ln>
          <a:effectLst>
            <a:outerShdw blurRad="63500" dist="25400" dir="8100000" algn="bl" rotWithShape="0">
              <a:srgbClr val="000000">
                <a:alpha val="13000"/>
              </a:srgbClr>
            </a:outerShdw>
          </a:effectLst>
        </p:spPr>
        <p:txBody>
          <a:bodyPr/>
          <a:lstStyle/>
          <a:p>
            <a:endParaRPr lang="en-AU"/>
          </a:p>
        </p:txBody>
      </p:sp>
      <p:sp>
        <p:nvSpPr>
          <p:cNvPr id="8" name="Shape 6"/>
          <p:cNvSpPr/>
          <p:nvPr/>
        </p:nvSpPr>
        <p:spPr>
          <a:xfrm>
            <a:off x="274320" y="2724912"/>
            <a:ext cx="109728" cy="1188720"/>
          </a:xfrm>
          <a:prstGeom prst="rect">
            <a:avLst/>
          </a:prstGeom>
          <a:solidFill>
            <a:srgbClr val="B05A0C"/>
          </a:solidFill>
          <a:ln w="12700">
            <a:solidFill>
              <a:srgbClr val="B05A0C"/>
            </a:solidFill>
            <a:prstDash val="solid"/>
          </a:ln>
        </p:spPr>
        <p:txBody>
          <a:bodyPr/>
          <a:lstStyle/>
          <a:p>
            <a:endParaRPr lang="en-AU"/>
          </a:p>
        </p:txBody>
      </p:sp>
      <p:sp>
        <p:nvSpPr>
          <p:cNvPr id="9" name="Text 7"/>
          <p:cNvSpPr/>
          <p:nvPr/>
        </p:nvSpPr>
        <p:spPr>
          <a:xfrm>
            <a:off x="475488" y="2807208"/>
            <a:ext cx="3867912" cy="320040"/>
          </a:xfrm>
          <a:prstGeom prst="rect">
            <a:avLst/>
          </a:prstGeom>
          <a:noFill/>
          <a:ln/>
        </p:spPr>
        <p:txBody>
          <a:bodyPr wrap="square" rtlCol="0" anchor="ctr"/>
          <a:lstStyle/>
          <a:p>
            <a:pPr marL="0" indent="0">
              <a:buNone/>
            </a:pPr>
            <a:r>
              <a:rPr lang="en-US" sz="1150" b="1" dirty="0">
                <a:solidFill>
                  <a:srgbClr val="B05A0C"/>
                </a:solidFill>
                <a:latin typeface="Calibri" pitchFamily="34" charset="0"/>
                <a:ea typeface="Calibri" pitchFamily="34" charset="-122"/>
                <a:cs typeface="Calibri" pitchFamily="34" charset="-120"/>
              </a:rPr>
              <a:t>Output Type</a:t>
            </a:r>
            <a:endParaRPr lang="en-US" sz="1150" dirty="0"/>
          </a:p>
        </p:txBody>
      </p:sp>
      <p:sp>
        <p:nvSpPr>
          <p:cNvPr id="10" name="Text 8"/>
          <p:cNvSpPr/>
          <p:nvPr/>
        </p:nvSpPr>
        <p:spPr>
          <a:xfrm>
            <a:off x="475488" y="3127248"/>
            <a:ext cx="3867912" cy="694944"/>
          </a:xfrm>
          <a:prstGeom prst="rect">
            <a:avLst/>
          </a:prstGeom>
          <a:noFill/>
          <a:ln/>
        </p:spPr>
        <p:txBody>
          <a:bodyPr wrap="square" rtlCol="0" anchor="t"/>
          <a:lstStyle/>
          <a:p>
            <a:pPr marL="0" indent="0">
              <a:buNone/>
            </a:pPr>
            <a:r>
              <a:rPr lang="en-US" sz="1100" dirty="0">
                <a:solidFill>
                  <a:srgbClr val="1A1A2E"/>
                </a:solidFill>
                <a:latin typeface="Calibri" pitchFamily="34" charset="0"/>
                <a:ea typeface="Calibri" pitchFamily="34" charset="-122"/>
                <a:cs typeface="Calibri" pitchFamily="34" charset="-120"/>
              </a:rPr>
              <a:t>A category or class label — answers the question:</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"Which group?  Yes or No?  Spam or Not Spam?  High or Low risk?"</a:t>
            </a:r>
            <a:endParaRPr lang="en-US" sz="1100" dirty="0"/>
          </a:p>
        </p:txBody>
      </p:sp>
      <p:sp>
        <p:nvSpPr>
          <p:cNvPr id="11" name="Shape 9"/>
          <p:cNvSpPr/>
          <p:nvPr/>
        </p:nvSpPr>
        <p:spPr>
          <a:xfrm>
            <a:off x="274320" y="4005072"/>
            <a:ext cx="4160520" cy="1005840"/>
          </a:xfrm>
          <a:prstGeom prst="rect">
            <a:avLst/>
          </a:prstGeom>
          <a:solidFill>
            <a:srgbClr val="FEF5E7"/>
          </a:solidFill>
          <a:ln w="19050">
            <a:solidFill>
              <a:srgbClr val="B05A0C"/>
            </a:solidFill>
            <a:prstDash val="solid"/>
          </a:ln>
          <a:effectLst>
            <a:outerShdw blurRad="63500" dist="25400" dir="8100000" algn="bl" rotWithShape="0">
              <a:srgbClr val="000000">
                <a:alpha val="13000"/>
              </a:srgbClr>
            </a:outerShdw>
          </a:effectLst>
        </p:spPr>
        <p:txBody>
          <a:bodyPr/>
          <a:lstStyle/>
          <a:p>
            <a:endParaRPr lang="en-AU"/>
          </a:p>
        </p:txBody>
      </p:sp>
      <p:sp>
        <p:nvSpPr>
          <p:cNvPr id="12" name="Shape 10"/>
          <p:cNvSpPr/>
          <p:nvPr/>
        </p:nvSpPr>
        <p:spPr>
          <a:xfrm>
            <a:off x="274320" y="4005072"/>
            <a:ext cx="109728" cy="1005840"/>
          </a:xfrm>
          <a:prstGeom prst="rect">
            <a:avLst/>
          </a:prstGeom>
          <a:solidFill>
            <a:srgbClr val="B05A0C"/>
          </a:solidFill>
          <a:ln w="12700">
            <a:solidFill>
              <a:srgbClr val="B05A0C"/>
            </a:solidFill>
            <a:prstDash val="solid"/>
          </a:ln>
        </p:spPr>
        <p:txBody>
          <a:bodyPr/>
          <a:lstStyle/>
          <a:p>
            <a:endParaRPr lang="en-AU"/>
          </a:p>
        </p:txBody>
      </p:sp>
      <p:sp>
        <p:nvSpPr>
          <p:cNvPr id="13" name="Text 11"/>
          <p:cNvSpPr/>
          <p:nvPr/>
        </p:nvSpPr>
        <p:spPr>
          <a:xfrm>
            <a:off x="475488" y="4087368"/>
            <a:ext cx="3867912" cy="320040"/>
          </a:xfrm>
          <a:prstGeom prst="rect">
            <a:avLst/>
          </a:prstGeom>
          <a:noFill/>
          <a:ln/>
        </p:spPr>
        <p:txBody>
          <a:bodyPr wrap="square" rtlCol="0" anchor="ctr"/>
          <a:lstStyle/>
          <a:p>
            <a:pPr marL="0" indent="0">
              <a:buNone/>
            </a:pPr>
            <a:r>
              <a:rPr lang="en-US" sz="1150" b="1" dirty="0">
                <a:solidFill>
                  <a:srgbClr val="B05A0C"/>
                </a:solidFill>
                <a:latin typeface="Calibri" pitchFamily="34" charset="0"/>
                <a:ea typeface="Calibri" pitchFamily="34" charset="-122"/>
                <a:cs typeface="Calibri" pitchFamily="34" charset="-120"/>
              </a:rPr>
              <a:t>Common Mistake to Avoid</a:t>
            </a:r>
            <a:endParaRPr lang="en-US" sz="1150" dirty="0"/>
          </a:p>
        </p:txBody>
      </p:sp>
      <p:sp>
        <p:nvSpPr>
          <p:cNvPr id="14" name="Text 12"/>
          <p:cNvSpPr/>
          <p:nvPr/>
        </p:nvSpPr>
        <p:spPr>
          <a:xfrm>
            <a:off x="475488" y="4407408"/>
            <a:ext cx="3867912" cy="512064"/>
          </a:xfrm>
          <a:prstGeom prst="rect">
            <a:avLst/>
          </a:prstGeom>
          <a:noFill/>
          <a:ln/>
        </p:spPr>
        <p:txBody>
          <a:bodyPr wrap="square" rtlCol="0" anchor="t"/>
          <a:lstStyle/>
          <a:p>
            <a:pPr marL="0" indent="0">
              <a:buNone/>
            </a:pPr>
            <a:r>
              <a:rPr lang="en-US" sz="1100" dirty="0">
                <a:solidFill>
                  <a:srgbClr val="1A1A2E"/>
                </a:solidFill>
                <a:latin typeface="Calibri" pitchFamily="34" charset="0"/>
                <a:ea typeface="Calibri" pitchFamily="34" charset="-122"/>
                <a:cs typeface="Calibri" pitchFamily="34" charset="-120"/>
              </a:rPr>
              <a:t>Logistic regression is NOT a numeric predictor. The word 'regression' refers to the sigmoid function used internally — the OUTPUT is always a class, not a quantity.</a:t>
            </a:r>
            <a:endParaRPr lang="en-US" sz="1100" dirty="0"/>
          </a:p>
        </p:txBody>
      </p:sp>
      <p:sp>
        <p:nvSpPr>
          <p:cNvPr id="15" name="Shape 13"/>
          <p:cNvSpPr/>
          <p:nvPr/>
        </p:nvSpPr>
        <p:spPr>
          <a:xfrm>
            <a:off x="4617720" y="804672"/>
            <a:ext cx="4251960" cy="502920"/>
          </a:xfrm>
          <a:prstGeom prst="rect">
            <a:avLst/>
          </a:prstGeom>
          <a:solidFill>
            <a:srgbClr val="1A5276"/>
          </a:solidFill>
          <a:ln w="12700">
            <a:solidFill>
              <a:srgbClr val="1A5276"/>
            </a:solidFill>
            <a:prstDash val="solid"/>
          </a:ln>
        </p:spPr>
        <p:txBody>
          <a:bodyPr/>
          <a:lstStyle/>
          <a:p>
            <a:endParaRPr lang="en-AU"/>
          </a:p>
        </p:txBody>
      </p:sp>
      <p:sp>
        <p:nvSpPr>
          <p:cNvPr id="16" name="Text 14"/>
          <p:cNvSpPr/>
          <p:nvPr/>
        </p:nvSpPr>
        <p:spPr>
          <a:xfrm>
            <a:off x="4754880" y="804672"/>
            <a:ext cx="4023360" cy="5029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Application — Virtual Personal Assistants (e.g. Siri, Google Assistant)</a:t>
            </a:r>
            <a:endParaRPr lang="en-US" sz="1100" dirty="0"/>
          </a:p>
        </p:txBody>
      </p:sp>
      <p:sp>
        <p:nvSpPr>
          <p:cNvPr id="17" name="Shape 15"/>
          <p:cNvSpPr/>
          <p:nvPr/>
        </p:nvSpPr>
        <p:spPr>
          <a:xfrm>
            <a:off x="4617720" y="1417320"/>
            <a:ext cx="4251960" cy="822960"/>
          </a:xfrm>
          <a:prstGeom prst="rect">
            <a:avLst/>
          </a:prstGeom>
          <a:solidFill>
            <a:srgbClr val="EBF5FB"/>
          </a:solidFill>
          <a:ln w="19050">
            <a:solidFill>
              <a:srgbClr val="2E86AB"/>
            </a:solidFill>
            <a:prstDash val="solid"/>
          </a:ln>
        </p:spPr>
        <p:txBody>
          <a:bodyPr/>
          <a:lstStyle/>
          <a:p>
            <a:endParaRPr lang="en-AU"/>
          </a:p>
        </p:txBody>
      </p:sp>
      <p:sp>
        <p:nvSpPr>
          <p:cNvPr id="18" name="Shape 16"/>
          <p:cNvSpPr/>
          <p:nvPr/>
        </p:nvSpPr>
        <p:spPr>
          <a:xfrm>
            <a:off x="4617720" y="1417320"/>
            <a:ext cx="109728" cy="822960"/>
          </a:xfrm>
          <a:prstGeom prst="rect">
            <a:avLst/>
          </a:prstGeom>
          <a:solidFill>
            <a:srgbClr val="2E86AB"/>
          </a:solidFill>
          <a:ln w="12700">
            <a:solidFill>
              <a:srgbClr val="2E86AB"/>
            </a:solidFill>
            <a:prstDash val="solid"/>
          </a:ln>
        </p:spPr>
        <p:txBody>
          <a:bodyPr/>
          <a:lstStyle/>
          <a:p>
            <a:endParaRPr lang="en-AU"/>
          </a:p>
        </p:txBody>
      </p:sp>
      <p:sp>
        <p:nvSpPr>
          <p:cNvPr id="19" name="Text 17"/>
          <p:cNvSpPr/>
          <p:nvPr/>
        </p:nvSpPr>
        <p:spPr>
          <a:xfrm>
            <a:off x="4800600" y="1481328"/>
            <a:ext cx="3977640" cy="274320"/>
          </a:xfrm>
          <a:prstGeom prst="rect">
            <a:avLst/>
          </a:prstGeom>
          <a:noFill/>
          <a:ln/>
        </p:spPr>
        <p:txBody>
          <a:bodyPr wrap="square" rtlCol="0" anchor="ctr"/>
          <a:lstStyle/>
          <a:p>
            <a:pPr marL="0" indent="0">
              <a:buNone/>
            </a:pPr>
            <a:r>
              <a:rPr lang="en-US" sz="1050" b="1" dirty="0">
                <a:solidFill>
                  <a:srgbClr val="2E86AB"/>
                </a:solidFill>
                <a:latin typeface="Calibri" pitchFamily="34" charset="0"/>
                <a:ea typeface="Calibri" pitchFamily="34" charset="-122"/>
                <a:cs typeface="Calibri" pitchFamily="34" charset="-120"/>
              </a:rPr>
              <a:t>Step 1 — Speech to Text</a:t>
            </a:r>
            <a:endParaRPr lang="en-US" sz="1050" dirty="0"/>
          </a:p>
        </p:txBody>
      </p:sp>
      <p:sp>
        <p:nvSpPr>
          <p:cNvPr id="20" name="Text 18"/>
          <p:cNvSpPr/>
          <p:nvPr/>
        </p:nvSpPr>
        <p:spPr>
          <a:xfrm>
            <a:off x="4800600" y="1755648"/>
            <a:ext cx="3977640" cy="411480"/>
          </a:xfrm>
          <a:prstGeom prst="rect">
            <a:avLst/>
          </a:prstGeom>
          <a:noFill/>
          <a:ln/>
        </p:spPr>
        <p:txBody>
          <a:bodyPr wrap="square" rtlCol="0" anchor="t"/>
          <a:lstStyle/>
          <a:p>
            <a:pPr marL="0" indent="0">
              <a:buNone/>
            </a:pPr>
            <a:r>
              <a:rPr lang="en-US" sz="950" dirty="0">
                <a:solidFill>
                  <a:srgbClr val="1A1A2E"/>
                </a:solidFill>
                <a:latin typeface="Calibri" pitchFamily="34" charset="0"/>
                <a:ea typeface="Calibri" pitchFamily="34" charset="-122"/>
                <a:cs typeface="Calibri" pitchFamily="34" charset="-120"/>
              </a:rPr>
              <a:t>Neural network (trained with linear regression + backward chaining) converts the audio signal into a text string.</a:t>
            </a:r>
            <a:endParaRPr lang="en-US" sz="950" dirty="0"/>
          </a:p>
        </p:txBody>
      </p:sp>
      <p:sp>
        <p:nvSpPr>
          <p:cNvPr id="21" name="Text 19"/>
          <p:cNvSpPr/>
          <p:nvPr/>
        </p:nvSpPr>
        <p:spPr>
          <a:xfrm>
            <a:off x="6400800" y="2249424"/>
            <a:ext cx="457200" cy="228600"/>
          </a:xfrm>
          <a:prstGeom prst="rect">
            <a:avLst/>
          </a:prstGeom>
          <a:noFill/>
          <a:ln/>
        </p:spPr>
        <p:txBody>
          <a:bodyPr wrap="square" rtlCol="0" anchor="ctr"/>
          <a:lstStyle/>
          <a:p>
            <a:pPr marL="0" indent="0" algn="ctr">
              <a:buNone/>
            </a:pPr>
            <a:r>
              <a:rPr lang="en-US" sz="1100" b="1" dirty="0">
                <a:solidFill>
                  <a:srgbClr val="B05A0C"/>
                </a:solidFill>
                <a:latin typeface="Calibri" pitchFamily="34" charset="0"/>
                <a:ea typeface="Calibri" pitchFamily="34" charset="-122"/>
                <a:cs typeface="Calibri" pitchFamily="34" charset="-120"/>
              </a:rPr>
              <a:t>↓</a:t>
            </a:r>
            <a:endParaRPr lang="en-US" sz="1100" dirty="0"/>
          </a:p>
        </p:txBody>
      </p:sp>
      <p:sp>
        <p:nvSpPr>
          <p:cNvPr id="22" name="Shape 20"/>
          <p:cNvSpPr/>
          <p:nvPr/>
        </p:nvSpPr>
        <p:spPr>
          <a:xfrm>
            <a:off x="4617720" y="2377440"/>
            <a:ext cx="4251960" cy="822960"/>
          </a:xfrm>
          <a:prstGeom prst="rect">
            <a:avLst/>
          </a:prstGeom>
          <a:solidFill>
            <a:srgbClr val="EBF5FB"/>
          </a:solidFill>
          <a:ln w="19050">
            <a:solidFill>
              <a:srgbClr val="B05A0C"/>
            </a:solidFill>
            <a:prstDash val="solid"/>
          </a:ln>
        </p:spPr>
        <p:txBody>
          <a:bodyPr/>
          <a:lstStyle/>
          <a:p>
            <a:endParaRPr lang="en-AU"/>
          </a:p>
        </p:txBody>
      </p:sp>
      <p:sp>
        <p:nvSpPr>
          <p:cNvPr id="23" name="Shape 21"/>
          <p:cNvSpPr/>
          <p:nvPr/>
        </p:nvSpPr>
        <p:spPr>
          <a:xfrm>
            <a:off x="4617720" y="2377440"/>
            <a:ext cx="109728" cy="822960"/>
          </a:xfrm>
          <a:prstGeom prst="rect">
            <a:avLst/>
          </a:prstGeom>
          <a:solidFill>
            <a:srgbClr val="B05A0C"/>
          </a:solidFill>
          <a:ln w="12700">
            <a:solidFill>
              <a:srgbClr val="B05A0C"/>
            </a:solidFill>
            <a:prstDash val="solid"/>
          </a:ln>
        </p:spPr>
        <p:txBody>
          <a:bodyPr/>
          <a:lstStyle/>
          <a:p>
            <a:endParaRPr lang="en-AU"/>
          </a:p>
        </p:txBody>
      </p:sp>
      <p:sp>
        <p:nvSpPr>
          <p:cNvPr id="24" name="Text 22"/>
          <p:cNvSpPr/>
          <p:nvPr/>
        </p:nvSpPr>
        <p:spPr>
          <a:xfrm>
            <a:off x="4800600" y="2441448"/>
            <a:ext cx="3977640" cy="274320"/>
          </a:xfrm>
          <a:prstGeom prst="rect">
            <a:avLst/>
          </a:prstGeom>
          <a:noFill/>
          <a:ln/>
        </p:spPr>
        <p:txBody>
          <a:bodyPr wrap="square" rtlCol="0" anchor="ctr"/>
          <a:lstStyle/>
          <a:p>
            <a:pPr marL="0" indent="0">
              <a:buNone/>
            </a:pPr>
            <a:r>
              <a:rPr lang="en-US" sz="1050" b="1" dirty="0">
                <a:solidFill>
                  <a:srgbClr val="B05A0C"/>
                </a:solidFill>
                <a:latin typeface="Calibri" pitchFamily="34" charset="0"/>
                <a:ea typeface="Calibri" pitchFamily="34" charset="-122"/>
                <a:cs typeface="Calibri" pitchFamily="34" charset="-120"/>
              </a:rPr>
              <a:t>Step 2 — Intent Classification</a:t>
            </a:r>
            <a:endParaRPr lang="en-US" sz="1050" dirty="0"/>
          </a:p>
        </p:txBody>
      </p:sp>
      <p:sp>
        <p:nvSpPr>
          <p:cNvPr id="25" name="Text 23"/>
          <p:cNvSpPr/>
          <p:nvPr/>
        </p:nvSpPr>
        <p:spPr>
          <a:xfrm>
            <a:off x="4800600" y="2715768"/>
            <a:ext cx="3977640" cy="411480"/>
          </a:xfrm>
          <a:prstGeom prst="rect">
            <a:avLst/>
          </a:prstGeom>
          <a:noFill/>
          <a:ln/>
        </p:spPr>
        <p:txBody>
          <a:bodyPr wrap="square" rtlCol="0" anchor="t"/>
          <a:lstStyle/>
          <a:p>
            <a:pPr marL="0" indent="0">
              <a:buNone/>
            </a:pPr>
            <a:r>
              <a:rPr lang="en-US" sz="950" dirty="0">
                <a:solidFill>
                  <a:srgbClr val="1A1A2E"/>
                </a:solidFill>
                <a:latin typeface="Calibri" pitchFamily="34" charset="0"/>
                <a:ea typeface="Calibri" pitchFamily="34" charset="-122"/>
                <a:cs typeface="Calibri" pitchFamily="34" charset="-120"/>
              </a:rPr>
              <a:t>Logistic regression classifies the recognised phrase into a command category: 'set timer', 'play music', 'send message'. Output = a class label.</a:t>
            </a:r>
            <a:endParaRPr lang="en-US" sz="950" dirty="0"/>
          </a:p>
        </p:txBody>
      </p:sp>
      <p:sp>
        <p:nvSpPr>
          <p:cNvPr id="26" name="Text 24"/>
          <p:cNvSpPr/>
          <p:nvPr/>
        </p:nvSpPr>
        <p:spPr>
          <a:xfrm>
            <a:off x="6400800" y="3209544"/>
            <a:ext cx="457200" cy="228600"/>
          </a:xfrm>
          <a:prstGeom prst="rect">
            <a:avLst/>
          </a:prstGeom>
          <a:noFill/>
          <a:ln/>
        </p:spPr>
        <p:txBody>
          <a:bodyPr wrap="square" rtlCol="0" anchor="ctr"/>
          <a:lstStyle/>
          <a:p>
            <a:pPr marL="0" indent="0" algn="ctr">
              <a:buNone/>
            </a:pPr>
            <a:r>
              <a:rPr lang="en-US" sz="1100" b="1" dirty="0">
                <a:solidFill>
                  <a:srgbClr val="B05A0C"/>
                </a:solidFill>
                <a:latin typeface="Calibri" pitchFamily="34" charset="0"/>
                <a:ea typeface="Calibri" pitchFamily="34" charset="-122"/>
                <a:cs typeface="Calibri" pitchFamily="34" charset="-120"/>
              </a:rPr>
              <a:t>↓</a:t>
            </a:r>
            <a:endParaRPr lang="en-US" sz="1100" dirty="0"/>
          </a:p>
        </p:txBody>
      </p:sp>
      <p:sp>
        <p:nvSpPr>
          <p:cNvPr id="27" name="Shape 25"/>
          <p:cNvSpPr/>
          <p:nvPr/>
        </p:nvSpPr>
        <p:spPr>
          <a:xfrm>
            <a:off x="4617720" y="3337560"/>
            <a:ext cx="4251960" cy="822960"/>
          </a:xfrm>
          <a:prstGeom prst="rect">
            <a:avLst/>
          </a:prstGeom>
          <a:solidFill>
            <a:srgbClr val="EBF5FB"/>
          </a:solidFill>
          <a:ln w="19050">
            <a:solidFill>
              <a:srgbClr val="27AE60"/>
            </a:solidFill>
            <a:prstDash val="solid"/>
          </a:ln>
        </p:spPr>
        <p:txBody>
          <a:bodyPr/>
          <a:lstStyle/>
          <a:p>
            <a:endParaRPr lang="en-AU"/>
          </a:p>
        </p:txBody>
      </p:sp>
      <p:sp>
        <p:nvSpPr>
          <p:cNvPr id="28" name="Shape 26"/>
          <p:cNvSpPr/>
          <p:nvPr/>
        </p:nvSpPr>
        <p:spPr>
          <a:xfrm>
            <a:off x="4617720" y="3337560"/>
            <a:ext cx="109728" cy="822960"/>
          </a:xfrm>
          <a:prstGeom prst="rect">
            <a:avLst/>
          </a:prstGeom>
          <a:solidFill>
            <a:srgbClr val="27AE60"/>
          </a:solidFill>
          <a:ln w="12700">
            <a:solidFill>
              <a:srgbClr val="27AE60"/>
            </a:solidFill>
            <a:prstDash val="solid"/>
          </a:ln>
        </p:spPr>
        <p:txBody>
          <a:bodyPr/>
          <a:lstStyle/>
          <a:p>
            <a:endParaRPr lang="en-AU"/>
          </a:p>
        </p:txBody>
      </p:sp>
      <p:sp>
        <p:nvSpPr>
          <p:cNvPr id="29" name="Text 27"/>
          <p:cNvSpPr/>
          <p:nvPr/>
        </p:nvSpPr>
        <p:spPr>
          <a:xfrm>
            <a:off x="4800600" y="3401568"/>
            <a:ext cx="3977640" cy="274320"/>
          </a:xfrm>
          <a:prstGeom prst="rect">
            <a:avLst/>
          </a:prstGeom>
          <a:noFill/>
          <a:ln/>
        </p:spPr>
        <p:txBody>
          <a:bodyPr wrap="square" rtlCol="0" anchor="ctr"/>
          <a:lstStyle/>
          <a:p>
            <a:pPr marL="0" indent="0">
              <a:buNone/>
            </a:pPr>
            <a:r>
              <a:rPr lang="en-US" sz="1050" b="1" dirty="0">
                <a:solidFill>
                  <a:srgbClr val="27AE60"/>
                </a:solidFill>
                <a:latin typeface="Calibri" pitchFamily="34" charset="0"/>
                <a:ea typeface="Calibri" pitchFamily="34" charset="-122"/>
                <a:cs typeface="Calibri" pitchFamily="34" charset="-120"/>
              </a:rPr>
              <a:t>Step 3 — Parameter Extraction</a:t>
            </a:r>
            <a:endParaRPr lang="en-US" sz="1050" dirty="0"/>
          </a:p>
        </p:txBody>
      </p:sp>
      <p:sp>
        <p:nvSpPr>
          <p:cNvPr id="30" name="Text 28"/>
          <p:cNvSpPr/>
          <p:nvPr/>
        </p:nvSpPr>
        <p:spPr>
          <a:xfrm>
            <a:off x="4800600" y="3675888"/>
            <a:ext cx="3977640" cy="411480"/>
          </a:xfrm>
          <a:prstGeom prst="rect">
            <a:avLst/>
          </a:prstGeom>
          <a:noFill/>
          <a:ln/>
        </p:spPr>
        <p:txBody>
          <a:bodyPr wrap="square" rtlCol="0" anchor="t"/>
          <a:lstStyle/>
          <a:p>
            <a:pPr marL="0" indent="0">
              <a:buNone/>
            </a:pPr>
            <a:r>
              <a:rPr lang="en-US" sz="950" dirty="0">
                <a:solidFill>
                  <a:srgbClr val="1A1A2E"/>
                </a:solidFill>
                <a:latin typeface="Calibri" pitchFamily="34" charset="0"/>
                <a:ea typeface="Calibri" pitchFamily="34" charset="-122"/>
                <a:cs typeface="Calibri" pitchFamily="34" charset="-120"/>
              </a:rPr>
              <a:t>A further model extracts numeric or named entities: '5 minutes', 'The Beatles'. Each stage is a separately trained supervised model.</a:t>
            </a:r>
            <a:endParaRPr lang="en-US" sz="950" dirty="0"/>
          </a:p>
        </p:txBody>
      </p:sp>
      <p:sp>
        <p:nvSpPr>
          <p:cNvPr id="31" name="Text 29"/>
          <p:cNvSpPr/>
          <p:nvPr/>
        </p:nvSpPr>
        <p:spPr>
          <a:xfrm>
            <a:off x="6400800" y="4169664"/>
            <a:ext cx="457200" cy="228600"/>
          </a:xfrm>
          <a:prstGeom prst="rect">
            <a:avLst/>
          </a:prstGeom>
          <a:noFill/>
          <a:ln/>
        </p:spPr>
        <p:txBody>
          <a:bodyPr wrap="square" rtlCol="0" anchor="ctr"/>
          <a:lstStyle/>
          <a:p>
            <a:pPr marL="0" indent="0" algn="ctr">
              <a:buNone/>
            </a:pPr>
            <a:r>
              <a:rPr lang="en-US" sz="1100" b="1" dirty="0">
                <a:solidFill>
                  <a:srgbClr val="B05A0C"/>
                </a:solidFill>
                <a:latin typeface="Calibri" pitchFamily="34" charset="0"/>
                <a:ea typeface="Calibri" pitchFamily="34" charset="-122"/>
                <a:cs typeface="Calibri" pitchFamily="34" charset="-120"/>
              </a:rPr>
              <a:t>↓</a:t>
            </a:r>
            <a:endParaRPr lang="en-US" sz="1100" dirty="0"/>
          </a:p>
        </p:txBody>
      </p:sp>
      <p:sp>
        <p:nvSpPr>
          <p:cNvPr id="32" name="Shape 30"/>
          <p:cNvSpPr/>
          <p:nvPr/>
        </p:nvSpPr>
        <p:spPr>
          <a:xfrm>
            <a:off x="4617720" y="4133088"/>
            <a:ext cx="4251960" cy="749808"/>
          </a:xfrm>
          <a:prstGeom prst="rect">
            <a:avLst/>
          </a:prstGeom>
          <a:solidFill>
            <a:srgbClr val="EBF5FB"/>
          </a:solidFill>
          <a:ln w="19050">
            <a:solidFill>
              <a:srgbClr val="1F3864"/>
            </a:solidFill>
            <a:prstDash val="solid"/>
          </a:ln>
        </p:spPr>
        <p:txBody>
          <a:bodyPr/>
          <a:lstStyle/>
          <a:p>
            <a:endParaRPr lang="en-AU"/>
          </a:p>
        </p:txBody>
      </p:sp>
      <p:sp>
        <p:nvSpPr>
          <p:cNvPr id="33" name="Shape 31"/>
          <p:cNvSpPr/>
          <p:nvPr/>
        </p:nvSpPr>
        <p:spPr>
          <a:xfrm>
            <a:off x="4617720" y="4133088"/>
            <a:ext cx="109728" cy="749808"/>
          </a:xfrm>
          <a:prstGeom prst="rect">
            <a:avLst/>
          </a:prstGeom>
          <a:solidFill>
            <a:srgbClr val="1F3864"/>
          </a:solidFill>
          <a:ln w="12700">
            <a:solidFill>
              <a:srgbClr val="1F3864"/>
            </a:solidFill>
            <a:prstDash val="solid"/>
          </a:ln>
        </p:spPr>
        <p:txBody>
          <a:bodyPr/>
          <a:lstStyle/>
          <a:p>
            <a:endParaRPr lang="en-AU"/>
          </a:p>
        </p:txBody>
      </p:sp>
      <p:sp>
        <p:nvSpPr>
          <p:cNvPr id="34" name="Text 32"/>
          <p:cNvSpPr/>
          <p:nvPr/>
        </p:nvSpPr>
        <p:spPr>
          <a:xfrm>
            <a:off x="4800600" y="4197096"/>
            <a:ext cx="3977640" cy="274320"/>
          </a:xfrm>
          <a:prstGeom prst="rect">
            <a:avLst/>
          </a:prstGeom>
          <a:noFill/>
          <a:ln/>
        </p:spPr>
        <p:txBody>
          <a:bodyPr wrap="square" rtlCol="0" anchor="ctr"/>
          <a:lstStyle/>
          <a:p>
            <a:pPr marL="0" indent="0">
              <a:buNone/>
            </a:pPr>
            <a:r>
              <a:rPr lang="en-US" sz="1050" b="1" dirty="0">
                <a:solidFill>
                  <a:srgbClr val="1F3864"/>
                </a:solidFill>
                <a:latin typeface="Calibri" pitchFamily="34" charset="0"/>
                <a:ea typeface="Calibri" pitchFamily="34" charset="-122"/>
                <a:cs typeface="Calibri" pitchFamily="34" charset="-120"/>
              </a:rPr>
              <a:t>Result</a:t>
            </a:r>
            <a:endParaRPr lang="en-US" sz="1050" dirty="0"/>
          </a:p>
        </p:txBody>
      </p:sp>
      <p:sp>
        <p:nvSpPr>
          <p:cNvPr id="35" name="Text 33"/>
          <p:cNvSpPr/>
          <p:nvPr/>
        </p:nvSpPr>
        <p:spPr>
          <a:xfrm>
            <a:off x="4800600" y="4471416"/>
            <a:ext cx="3977640" cy="338328"/>
          </a:xfrm>
          <a:prstGeom prst="rect">
            <a:avLst/>
          </a:prstGeom>
          <a:noFill/>
          <a:ln/>
        </p:spPr>
        <p:txBody>
          <a:bodyPr wrap="square" rtlCol="0" anchor="t"/>
          <a:lstStyle/>
          <a:p>
            <a:pPr marL="0" indent="0">
              <a:buNone/>
            </a:pPr>
            <a:r>
              <a:rPr lang="en-US" sz="950" dirty="0">
                <a:solidFill>
                  <a:srgbClr val="1A1A2E"/>
                </a:solidFill>
                <a:latin typeface="Calibri" pitchFamily="34" charset="0"/>
                <a:ea typeface="Calibri" pitchFamily="34" charset="-122"/>
                <a:cs typeface="Calibri" pitchFamily="34" charset="-120"/>
              </a:rPr>
              <a:t>The user hears a seamless spoken response — the result of three supervised ML models working in sequence.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B05A0C"/>
          </a:solidFill>
          <a:ln w="12700">
            <a:solidFill>
              <a:srgbClr val="B05A0C"/>
            </a:solidFill>
            <a:prstDash val="solid"/>
          </a:ln>
        </p:spPr>
        <p:txBody>
          <a:bodyPr/>
          <a:lstStyle/>
          <a:p>
            <a:endParaRPr lang="en-AU"/>
          </a:p>
        </p:txBody>
      </p:sp>
      <p:sp>
        <p:nvSpPr>
          <p:cNvPr id="3" name="Text 1"/>
          <p:cNvSpPr/>
          <p:nvPr/>
        </p:nvSpPr>
        <p:spPr>
          <a:xfrm>
            <a:off x="320040" y="0"/>
            <a:ext cx="8503920" cy="640080"/>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Layer 3 → Layer 4 — K-Nearest Neighbour: Image Recognition</a:t>
            </a:r>
            <a:endParaRPr lang="en-US" sz="1900" dirty="0"/>
          </a:p>
        </p:txBody>
      </p:sp>
      <p:sp>
        <p:nvSpPr>
          <p:cNvPr id="4" name="Shape 2"/>
          <p:cNvSpPr/>
          <p:nvPr/>
        </p:nvSpPr>
        <p:spPr>
          <a:xfrm>
            <a:off x="274320" y="804672"/>
            <a:ext cx="4160520" cy="1920240"/>
          </a:xfrm>
          <a:prstGeom prst="rect">
            <a:avLst/>
          </a:prstGeom>
          <a:solidFill>
            <a:srgbClr val="B05A0C"/>
          </a:solidFill>
          <a:ln w="12700">
            <a:solidFill>
              <a:srgbClr val="B05A0C"/>
            </a:solidFill>
            <a:prstDash val="solid"/>
          </a:ln>
          <a:effectLst>
            <a:outerShdw blurRad="63500" dist="25400" dir="8100000" algn="bl" rotWithShape="0">
              <a:srgbClr val="000000">
                <a:alpha val="13000"/>
              </a:srgbClr>
            </a:outerShdw>
          </a:effectLst>
        </p:spPr>
        <p:txBody>
          <a:bodyPr/>
          <a:lstStyle/>
          <a:p>
            <a:endParaRPr lang="en-AU"/>
          </a:p>
        </p:txBody>
      </p:sp>
      <p:sp>
        <p:nvSpPr>
          <p:cNvPr id="5" name="Text 3"/>
          <p:cNvSpPr/>
          <p:nvPr/>
        </p:nvSpPr>
        <p:spPr>
          <a:xfrm>
            <a:off x="411480" y="896112"/>
            <a:ext cx="3886200" cy="292608"/>
          </a:xfrm>
          <a:prstGeom prst="rect">
            <a:avLst/>
          </a:prstGeom>
          <a:noFill/>
          <a:ln/>
        </p:spPr>
        <p:txBody>
          <a:bodyPr wrap="square" rtlCol="0" anchor="ctr"/>
          <a:lstStyle/>
          <a:p>
            <a:pPr marL="0" indent="0">
              <a:buNone/>
            </a:pPr>
            <a:r>
              <a:rPr lang="en-US" sz="1000" b="1" dirty="0">
                <a:solidFill>
                  <a:srgbClr val="DDDDFF"/>
                </a:solidFill>
                <a:latin typeface="Calibri" pitchFamily="34" charset="0"/>
                <a:ea typeface="Calibri" pitchFamily="34" charset="-122"/>
                <a:cs typeface="Calibri" pitchFamily="34" charset="-120"/>
              </a:rPr>
              <a:t>DEFINITION — K-NEAREST NEIGHBOUR (KNN)</a:t>
            </a:r>
            <a:endParaRPr lang="en-US" sz="1000" dirty="0"/>
          </a:p>
        </p:txBody>
      </p:sp>
      <p:sp>
        <p:nvSpPr>
          <p:cNvPr id="6" name="Text 4"/>
          <p:cNvSpPr/>
          <p:nvPr/>
        </p:nvSpPr>
        <p:spPr>
          <a:xfrm>
            <a:off x="411480" y="1188720"/>
            <a:ext cx="3886200" cy="1444752"/>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Classifies a new data point by finding the K most similar labelled examples in the training dataset (measured using Euclidean distance) and assigning the majority class among those K nearest neighbours. Makes no assumption about the functional relationship between inputs and outputs.</a:t>
            </a:r>
            <a:endParaRPr lang="en-US" sz="1100" dirty="0"/>
          </a:p>
        </p:txBody>
      </p:sp>
      <p:sp>
        <p:nvSpPr>
          <p:cNvPr id="7" name="Shape 5"/>
          <p:cNvSpPr/>
          <p:nvPr/>
        </p:nvSpPr>
        <p:spPr>
          <a:xfrm>
            <a:off x="274320" y="2816352"/>
            <a:ext cx="4160520" cy="1097280"/>
          </a:xfrm>
          <a:prstGeom prst="rect">
            <a:avLst/>
          </a:prstGeom>
          <a:solidFill>
            <a:srgbClr val="FEF5E7"/>
          </a:solidFill>
          <a:ln w="19050">
            <a:solidFill>
              <a:srgbClr val="B05A0C"/>
            </a:solidFill>
            <a:prstDash val="solid"/>
          </a:ln>
          <a:effectLst>
            <a:outerShdw blurRad="63500" dist="25400" dir="8100000" algn="bl" rotWithShape="0">
              <a:srgbClr val="000000">
                <a:alpha val="13000"/>
              </a:srgbClr>
            </a:outerShdw>
          </a:effectLst>
        </p:spPr>
        <p:txBody>
          <a:bodyPr/>
          <a:lstStyle/>
          <a:p>
            <a:endParaRPr lang="en-AU"/>
          </a:p>
        </p:txBody>
      </p:sp>
      <p:sp>
        <p:nvSpPr>
          <p:cNvPr id="8" name="Shape 6"/>
          <p:cNvSpPr/>
          <p:nvPr/>
        </p:nvSpPr>
        <p:spPr>
          <a:xfrm>
            <a:off x="274320" y="2816352"/>
            <a:ext cx="109728" cy="1097280"/>
          </a:xfrm>
          <a:prstGeom prst="rect">
            <a:avLst/>
          </a:prstGeom>
          <a:solidFill>
            <a:srgbClr val="B05A0C"/>
          </a:solidFill>
          <a:ln w="12700">
            <a:solidFill>
              <a:srgbClr val="B05A0C"/>
            </a:solidFill>
            <a:prstDash val="solid"/>
          </a:ln>
        </p:spPr>
        <p:txBody>
          <a:bodyPr/>
          <a:lstStyle/>
          <a:p>
            <a:endParaRPr lang="en-AU"/>
          </a:p>
        </p:txBody>
      </p:sp>
      <p:sp>
        <p:nvSpPr>
          <p:cNvPr id="9" name="Text 7"/>
          <p:cNvSpPr/>
          <p:nvPr/>
        </p:nvSpPr>
        <p:spPr>
          <a:xfrm>
            <a:off x="475488" y="2793492"/>
            <a:ext cx="3867912" cy="320040"/>
          </a:xfrm>
          <a:prstGeom prst="rect">
            <a:avLst/>
          </a:prstGeom>
          <a:noFill/>
          <a:ln/>
        </p:spPr>
        <p:txBody>
          <a:bodyPr wrap="square" rtlCol="0" anchor="ctr"/>
          <a:lstStyle/>
          <a:p>
            <a:pPr marL="0" indent="0">
              <a:buNone/>
            </a:pPr>
            <a:r>
              <a:rPr lang="en-US" sz="1150" b="1" dirty="0">
                <a:solidFill>
                  <a:srgbClr val="B05A0C"/>
                </a:solidFill>
                <a:latin typeface="Calibri" pitchFamily="34" charset="0"/>
                <a:ea typeface="Calibri" pitchFamily="34" charset="-122"/>
                <a:cs typeface="Calibri" pitchFamily="34" charset="-120"/>
              </a:rPr>
              <a:t>Output Type</a:t>
            </a:r>
            <a:endParaRPr lang="en-US" sz="1150" dirty="0"/>
          </a:p>
        </p:txBody>
      </p:sp>
      <p:sp>
        <p:nvSpPr>
          <p:cNvPr id="10" name="Text 8"/>
          <p:cNvSpPr/>
          <p:nvPr/>
        </p:nvSpPr>
        <p:spPr>
          <a:xfrm>
            <a:off x="464516" y="3114446"/>
            <a:ext cx="3867912" cy="603504"/>
          </a:xfrm>
          <a:prstGeom prst="rect">
            <a:avLst/>
          </a:prstGeom>
          <a:noFill/>
          <a:ln/>
        </p:spPr>
        <p:txBody>
          <a:bodyPr wrap="square" rtlCol="0" anchor="t"/>
          <a:lstStyle/>
          <a:p>
            <a:pPr marL="0" indent="0">
              <a:buNone/>
            </a:pPr>
            <a:r>
              <a:rPr lang="en-US" sz="1100" dirty="0">
                <a:solidFill>
                  <a:srgbClr val="1A1A2E"/>
                </a:solidFill>
                <a:latin typeface="Calibri" pitchFamily="34" charset="0"/>
                <a:ea typeface="Calibri" pitchFamily="34" charset="-122"/>
                <a:cs typeface="Calibri" pitchFamily="34" charset="-120"/>
              </a:rPr>
              <a:t>A category based on similarity to known examples. Answers the question:</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"Which labelled example in the training set does this most resemble?"</a:t>
            </a:r>
            <a:endParaRPr lang="en-US" sz="1100" dirty="0"/>
          </a:p>
        </p:txBody>
      </p:sp>
      <p:sp>
        <p:nvSpPr>
          <p:cNvPr id="11" name="Shape 9"/>
          <p:cNvSpPr/>
          <p:nvPr/>
        </p:nvSpPr>
        <p:spPr>
          <a:xfrm>
            <a:off x="274320" y="4005072"/>
            <a:ext cx="4160520" cy="1005840"/>
          </a:xfrm>
          <a:prstGeom prst="rect">
            <a:avLst/>
          </a:prstGeom>
          <a:solidFill>
            <a:srgbClr val="FEF5E7"/>
          </a:solidFill>
          <a:ln w="19050">
            <a:solidFill>
              <a:srgbClr val="B05A0C"/>
            </a:solidFill>
            <a:prstDash val="solid"/>
          </a:ln>
          <a:effectLst>
            <a:outerShdw blurRad="63500" dist="25400" dir="8100000" algn="bl" rotWithShape="0">
              <a:srgbClr val="000000">
                <a:alpha val="13000"/>
              </a:srgbClr>
            </a:outerShdw>
          </a:effectLst>
        </p:spPr>
        <p:txBody>
          <a:bodyPr/>
          <a:lstStyle/>
          <a:p>
            <a:endParaRPr lang="en-AU"/>
          </a:p>
        </p:txBody>
      </p:sp>
      <p:sp>
        <p:nvSpPr>
          <p:cNvPr id="12" name="Shape 10"/>
          <p:cNvSpPr/>
          <p:nvPr/>
        </p:nvSpPr>
        <p:spPr>
          <a:xfrm>
            <a:off x="274320" y="4005072"/>
            <a:ext cx="109728" cy="1005840"/>
          </a:xfrm>
          <a:prstGeom prst="rect">
            <a:avLst/>
          </a:prstGeom>
          <a:solidFill>
            <a:srgbClr val="B05A0C"/>
          </a:solidFill>
          <a:ln w="12700">
            <a:solidFill>
              <a:srgbClr val="B05A0C"/>
            </a:solidFill>
            <a:prstDash val="solid"/>
          </a:ln>
        </p:spPr>
        <p:txBody>
          <a:bodyPr/>
          <a:lstStyle/>
          <a:p>
            <a:endParaRPr lang="en-AU"/>
          </a:p>
        </p:txBody>
      </p:sp>
      <p:sp>
        <p:nvSpPr>
          <p:cNvPr id="13" name="Text 11"/>
          <p:cNvSpPr/>
          <p:nvPr/>
        </p:nvSpPr>
        <p:spPr>
          <a:xfrm>
            <a:off x="464516" y="4029761"/>
            <a:ext cx="3867912" cy="320040"/>
          </a:xfrm>
          <a:prstGeom prst="rect">
            <a:avLst/>
          </a:prstGeom>
          <a:noFill/>
          <a:ln/>
        </p:spPr>
        <p:txBody>
          <a:bodyPr wrap="square" rtlCol="0" anchor="ctr"/>
          <a:lstStyle/>
          <a:p>
            <a:pPr marL="0" indent="0">
              <a:buNone/>
            </a:pPr>
            <a:r>
              <a:rPr lang="en-US" sz="1150" b="1" dirty="0">
                <a:solidFill>
                  <a:srgbClr val="B05A0C"/>
                </a:solidFill>
                <a:latin typeface="Calibri" pitchFamily="34" charset="0"/>
                <a:ea typeface="Calibri" pitchFamily="34" charset="-122"/>
                <a:cs typeface="Calibri" pitchFamily="34" charset="-120"/>
              </a:rPr>
              <a:t>Key Difference vs Linear Regression</a:t>
            </a:r>
            <a:endParaRPr lang="en-US" sz="1150" dirty="0"/>
          </a:p>
        </p:txBody>
      </p:sp>
      <p:sp>
        <p:nvSpPr>
          <p:cNvPr id="14" name="Text 12"/>
          <p:cNvSpPr/>
          <p:nvPr/>
        </p:nvSpPr>
        <p:spPr>
          <a:xfrm>
            <a:off x="482804" y="4242816"/>
            <a:ext cx="3867912" cy="512064"/>
          </a:xfrm>
          <a:prstGeom prst="rect">
            <a:avLst/>
          </a:prstGeom>
          <a:noFill/>
          <a:ln/>
        </p:spPr>
        <p:txBody>
          <a:bodyPr wrap="square" rtlCol="0" anchor="t"/>
          <a:lstStyle/>
          <a:p>
            <a:pPr marL="0" indent="0">
              <a:buNone/>
            </a:pPr>
            <a:r>
              <a:rPr lang="en-US" sz="1100" dirty="0">
                <a:solidFill>
                  <a:srgbClr val="1A1A2E"/>
                </a:solidFill>
                <a:latin typeface="Calibri" pitchFamily="34" charset="0"/>
                <a:ea typeface="Calibri" pitchFamily="34" charset="-122"/>
                <a:cs typeface="Calibri" pitchFamily="34" charset="-120"/>
              </a:rPr>
              <a:t>Linear regression: assumes a linear relationship, fast at prediction time.</a:t>
            </a:r>
            <a:endParaRPr lang="en-US" sz="1100" dirty="0"/>
          </a:p>
          <a:p>
            <a:pPr marL="0" indent="0">
              <a:buNone/>
            </a:pPr>
            <a:r>
              <a:rPr lang="en-US" sz="1100" dirty="0">
                <a:solidFill>
                  <a:srgbClr val="1A1A2E"/>
                </a:solidFill>
                <a:latin typeface="Calibri" pitchFamily="34" charset="0"/>
                <a:ea typeface="Calibri" pitchFamily="34" charset="-122"/>
                <a:cs typeface="Calibri" pitchFamily="34" charset="-120"/>
              </a:rPr>
              <a:t>KNN: no assumption, handles non-linear patterns, computationally expensive at prediction time.</a:t>
            </a:r>
            <a:endParaRPr lang="en-US" sz="1100" dirty="0"/>
          </a:p>
        </p:txBody>
      </p:sp>
      <p:sp>
        <p:nvSpPr>
          <p:cNvPr id="15" name="Shape 13"/>
          <p:cNvSpPr/>
          <p:nvPr/>
        </p:nvSpPr>
        <p:spPr>
          <a:xfrm>
            <a:off x="4617720" y="804672"/>
            <a:ext cx="4251960" cy="502920"/>
          </a:xfrm>
          <a:prstGeom prst="rect">
            <a:avLst/>
          </a:prstGeom>
          <a:solidFill>
            <a:srgbClr val="1A5276"/>
          </a:solidFill>
          <a:ln w="12700">
            <a:solidFill>
              <a:srgbClr val="1A5276"/>
            </a:solidFill>
            <a:prstDash val="solid"/>
          </a:ln>
        </p:spPr>
        <p:txBody>
          <a:bodyPr/>
          <a:lstStyle/>
          <a:p>
            <a:endParaRPr lang="en-AU"/>
          </a:p>
        </p:txBody>
      </p:sp>
      <p:sp>
        <p:nvSpPr>
          <p:cNvPr id="16" name="Text 14"/>
          <p:cNvSpPr/>
          <p:nvPr/>
        </p:nvSpPr>
        <p:spPr>
          <a:xfrm>
            <a:off x="4754880" y="804672"/>
            <a:ext cx="4023360" cy="5029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Application — Image Recognition</a:t>
            </a:r>
            <a:endParaRPr lang="en-US" sz="1200" dirty="0"/>
          </a:p>
        </p:txBody>
      </p:sp>
      <p:sp>
        <p:nvSpPr>
          <p:cNvPr id="17" name="Shape 15"/>
          <p:cNvSpPr/>
          <p:nvPr/>
        </p:nvSpPr>
        <p:spPr>
          <a:xfrm>
            <a:off x="4663440" y="1463040"/>
            <a:ext cx="0" cy="3017520"/>
          </a:xfrm>
          <a:prstGeom prst="line">
            <a:avLst/>
          </a:prstGeom>
          <a:noFill/>
          <a:ln w="9525">
            <a:solidFill>
              <a:srgbClr val="64748B"/>
            </a:solidFill>
            <a:prstDash val="solid"/>
          </a:ln>
        </p:spPr>
        <p:txBody>
          <a:bodyPr/>
          <a:lstStyle/>
          <a:p>
            <a:endParaRPr lang="en-AU"/>
          </a:p>
        </p:txBody>
      </p:sp>
      <p:sp>
        <p:nvSpPr>
          <p:cNvPr id="18" name="Shape 16"/>
          <p:cNvSpPr/>
          <p:nvPr/>
        </p:nvSpPr>
        <p:spPr>
          <a:xfrm>
            <a:off x="4663440" y="4480560"/>
            <a:ext cx="4206240" cy="0"/>
          </a:xfrm>
          <a:prstGeom prst="line">
            <a:avLst/>
          </a:prstGeom>
          <a:noFill/>
          <a:ln w="9525">
            <a:solidFill>
              <a:srgbClr val="64748B"/>
            </a:solidFill>
            <a:prstDash val="solid"/>
          </a:ln>
        </p:spPr>
        <p:txBody>
          <a:bodyPr/>
          <a:lstStyle/>
          <a:p>
            <a:endParaRPr lang="en-AU"/>
          </a:p>
        </p:txBody>
      </p:sp>
      <p:sp>
        <p:nvSpPr>
          <p:cNvPr id="19" name="Shape 17"/>
          <p:cNvSpPr/>
          <p:nvPr/>
        </p:nvSpPr>
        <p:spPr>
          <a:xfrm rot="218424">
            <a:off x="6017218" y="3689656"/>
            <a:ext cx="269729" cy="279651"/>
          </a:xfrm>
          <a:prstGeom prst="ellipse">
            <a:avLst/>
          </a:prstGeom>
          <a:solidFill>
            <a:srgbClr val="C0392B"/>
          </a:solidFill>
          <a:ln w="12700">
            <a:solidFill>
              <a:srgbClr val="C0392B"/>
            </a:solidFill>
            <a:prstDash val="solid"/>
          </a:ln>
        </p:spPr>
        <p:txBody>
          <a:bodyPr/>
          <a:lstStyle/>
          <a:p>
            <a:endParaRPr lang="en-AU"/>
          </a:p>
        </p:txBody>
      </p:sp>
      <p:sp>
        <p:nvSpPr>
          <p:cNvPr id="20" name="Shape 18"/>
          <p:cNvSpPr/>
          <p:nvPr/>
        </p:nvSpPr>
        <p:spPr>
          <a:xfrm rot="218424">
            <a:off x="6192783" y="3585415"/>
            <a:ext cx="269729" cy="279651"/>
          </a:xfrm>
          <a:prstGeom prst="ellipse">
            <a:avLst/>
          </a:prstGeom>
          <a:solidFill>
            <a:srgbClr val="C0392B"/>
          </a:solidFill>
          <a:ln w="12700">
            <a:solidFill>
              <a:srgbClr val="C0392B"/>
            </a:solidFill>
            <a:prstDash val="solid"/>
          </a:ln>
        </p:spPr>
        <p:txBody>
          <a:bodyPr/>
          <a:lstStyle/>
          <a:p>
            <a:endParaRPr lang="en-AU"/>
          </a:p>
        </p:txBody>
      </p:sp>
      <p:sp>
        <p:nvSpPr>
          <p:cNvPr id="21" name="Shape 19"/>
          <p:cNvSpPr/>
          <p:nvPr/>
        </p:nvSpPr>
        <p:spPr>
          <a:xfrm rot="218424">
            <a:off x="6324456" y="3793898"/>
            <a:ext cx="269729" cy="279651"/>
          </a:xfrm>
          <a:prstGeom prst="ellipse">
            <a:avLst/>
          </a:prstGeom>
          <a:solidFill>
            <a:srgbClr val="C0392B"/>
          </a:solidFill>
          <a:ln w="12700">
            <a:solidFill>
              <a:srgbClr val="C0392B"/>
            </a:solidFill>
            <a:prstDash val="solid"/>
          </a:ln>
        </p:spPr>
        <p:txBody>
          <a:bodyPr/>
          <a:lstStyle/>
          <a:p>
            <a:endParaRPr lang="en-AU"/>
          </a:p>
        </p:txBody>
      </p:sp>
      <p:sp>
        <p:nvSpPr>
          <p:cNvPr id="22" name="Shape 20"/>
          <p:cNvSpPr/>
          <p:nvPr/>
        </p:nvSpPr>
        <p:spPr>
          <a:xfrm rot="218424">
            <a:off x="6105000" y="3481173"/>
            <a:ext cx="269729" cy="279651"/>
          </a:xfrm>
          <a:prstGeom prst="ellipse">
            <a:avLst/>
          </a:prstGeom>
          <a:solidFill>
            <a:srgbClr val="C0392B"/>
          </a:solidFill>
          <a:ln w="12700">
            <a:solidFill>
              <a:srgbClr val="C0392B"/>
            </a:solidFill>
            <a:prstDash val="solid"/>
          </a:ln>
        </p:spPr>
        <p:txBody>
          <a:bodyPr/>
          <a:lstStyle/>
          <a:p>
            <a:endParaRPr lang="en-AU"/>
          </a:p>
        </p:txBody>
      </p:sp>
      <p:sp>
        <p:nvSpPr>
          <p:cNvPr id="23" name="Shape 21"/>
          <p:cNvSpPr/>
          <p:nvPr/>
        </p:nvSpPr>
        <p:spPr>
          <a:xfrm rot="218424">
            <a:off x="6236674" y="3654909"/>
            <a:ext cx="269729" cy="279651"/>
          </a:xfrm>
          <a:prstGeom prst="ellipse">
            <a:avLst/>
          </a:prstGeom>
          <a:solidFill>
            <a:srgbClr val="C0392B"/>
          </a:solidFill>
          <a:ln w="12700">
            <a:solidFill>
              <a:srgbClr val="C0392B"/>
            </a:solidFill>
            <a:prstDash val="solid"/>
          </a:ln>
        </p:spPr>
        <p:txBody>
          <a:bodyPr/>
          <a:lstStyle/>
          <a:p>
            <a:endParaRPr lang="en-AU"/>
          </a:p>
        </p:txBody>
      </p:sp>
      <p:sp>
        <p:nvSpPr>
          <p:cNvPr id="24" name="Shape 22"/>
          <p:cNvSpPr/>
          <p:nvPr/>
        </p:nvSpPr>
        <p:spPr>
          <a:xfrm rot="218424">
            <a:off x="6412239" y="3550668"/>
            <a:ext cx="269729" cy="279651"/>
          </a:xfrm>
          <a:prstGeom prst="ellipse">
            <a:avLst/>
          </a:prstGeom>
          <a:solidFill>
            <a:srgbClr val="C0392B"/>
          </a:solidFill>
          <a:ln w="12700">
            <a:solidFill>
              <a:srgbClr val="C0392B"/>
            </a:solidFill>
            <a:prstDash val="solid"/>
          </a:ln>
        </p:spPr>
        <p:txBody>
          <a:bodyPr/>
          <a:lstStyle/>
          <a:p>
            <a:endParaRPr lang="en-AU"/>
          </a:p>
        </p:txBody>
      </p:sp>
      <p:sp>
        <p:nvSpPr>
          <p:cNvPr id="25" name="Shape 23"/>
          <p:cNvSpPr/>
          <p:nvPr/>
        </p:nvSpPr>
        <p:spPr>
          <a:xfrm rot="218424">
            <a:off x="5929436" y="3759151"/>
            <a:ext cx="269729" cy="279651"/>
          </a:xfrm>
          <a:prstGeom prst="ellipse">
            <a:avLst/>
          </a:prstGeom>
          <a:solidFill>
            <a:srgbClr val="C0392B"/>
          </a:solidFill>
          <a:ln w="12700">
            <a:solidFill>
              <a:srgbClr val="C0392B"/>
            </a:solidFill>
            <a:prstDash val="solid"/>
          </a:ln>
        </p:spPr>
        <p:txBody>
          <a:bodyPr/>
          <a:lstStyle/>
          <a:p>
            <a:endParaRPr lang="en-AU"/>
          </a:p>
        </p:txBody>
      </p:sp>
      <p:sp>
        <p:nvSpPr>
          <p:cNvPr id="26" name="Shape 24"/>
          <p:cNvSpPr/>
          <p:nvPr/>
        </p:nvSpPr>
        <p:spPr>
          <a:xfrm rot="218424">
            <a:off x="7026716" y="3098954"/>
            <a:ext cx="269729" cy="279651"/>
          </a:xfrm>
          <a:prstGeom prst="ellipse">
            <a:avLst/>
          </a:prstGeom>
          <a:solidFill>
            <a:srgbClr val="27AE60"/>
          </a:solidFill>
          <a:ln w="12700">
            <a:solidFill>
              <a:srgbClr val="27AE60"/>
            </a:solidFill>
            <a:prstDash val="solid"/>
          </a:ln>
        </p:spPr>
        <p:txBody>
          <a:bodyPr/>
          <a:lstStyle/>
          <a:p>
            <a:endParaRPr lang="en-AU"/>
          </a:p>
        </p:txBody>
      </p:sp>
      <p:sp>
        <p:nvSpPr>
          <p:cNvPr id="27" name="Shape 25"/>
          <p:cNvSpPr/>
          <p:nvPr/>
        </p:nvSpPr>
        <p:spPr>
          <a:xfrm rot="218424">
            <a:off x="7158389" y="3272690"/>
            <a:ext cx="269729" cy="279651"/>
          </a:xfrm>
          <a:prstGeom prst="ellipse">
            <a:avLst/>
          </a:prstGeom>
          <a:solidFill>
            <a:srgbClr val="27AE60"/>
          </a:solidFill>
          <a:ln w="12700">
            <a:solidFill>
              <a:srgbClr val="27AE60"/>
            </a:solidFill>
            <a:prstDash val="solid"/>
          </a:ln>
        </p:spPr>
        <p:txBody>
          <a:bodyPr/>
          <a:lstStyle/>
          <a:p>
            <a:endParaRPr lang="en-AU"/>
          </a:p>
        </p:txBody>
      </p:sp>
      <p:sp>
        <p:nvSpPr>
          <p:cNvPr id="28" name="Shape 26"/>
          <p:cNvSpPr/>
          <p:nvPr/>
        </p:nvSpPr>
        <p:spPr>
          <a:xfrm rot="218424">
            <a:off x="6895042" y="2994712"/>
            <a:ext cx="269729" cy="279651"/>
          </a:xfrm>
          <a:prstGeom prst="ellipse">
            <a:avLst/>
          </a:prstGeom>
          <a:solidFill>
            <a:srgbClr val="27AE60"/>
          </a:solidFill>
          <a:ln w="12700">
            <a:solidFill>
              <a:srgbClr val="27AE60"/>
            </a:solidFill>
            <a:prstDash val="solid"/>
          </a:ln>
        </p:spPr>
        <p:txBody>
          <a:bodyPr/>
          <a:lstStyle/>
          <a:p>
            <a:endParaRPr lang="en-AU"/>
          </a:p>
        </p:txBody>
      </p:sp>
      <p:sp>
        <p:nvSpPr>
          <p:cNvPr id="29" name="Shape 27"/>
          <p:cNvSpPr/>
          <p:nvPr/>
        </p:nvSpPr>
        <p:spPr>
          <a:xfrm rot="218424">
            <a:off x="7246172" y="3203196"/>
            <a:ext cx="269729" cy="279651"/>
          </a:xfrm>
          <a:prstGeom prst="ellipse">
            <a:avLst/>
          </a:prstGeom>
          <a:solidFill>
            <a:srgbClr val="27AE60"/>
          </a:solidFill>
          <a:ln w="12700">
            <a:solidFill>
              <a:srgbClr val="27AE60"/>
            </a:solidFill>
            <a:prstDash val="solid"/>
          </a:ln>
        </p:spPr>
        <p:txBody>
          <a:bodyPr/>
          <a:lstStyle/>
          <a:p>
            <a:endParaRPr lang="en-AU"/>
          </a:p>
        </p:txBody>
      </p:sp>
      <p:sp>
        <p:nvSpPr>
          <p:cNvPr id="30" name="Shape 28"/>
          <p:cNvSpPr/>
          <p:nvPr/>
        </p:nvSpPr>
        <p:spPr>
          <a:xfrm rot="218424">
            <a:off x="7070607" y="2925218"/>
            <a:ext cx="269729" cy="279651"/>
          </a:xfrm>
          <a:prstGeom prst="ellipse">
            <a:avLst/>
          </a:prstGeom>
          <a:solidFill>
            <a:srgbClr val="27AE60"/>
          </a:solidFill>
          <a:ln w="12700">
            <a:solidFill>
              <a:srgbClr val="27AE60"/>
            </a:solidFill>
            <a:prstDash val="solid"/>
          </a:ln>
        </p:spPr>
        <p:txBody>
          <a:bodyPr/>
          <a:lstStyle/>
          <a:p>
            <a:endParaRPr lang="en-AU"/>
          </a:p>
        </p:txBody>
      </p:sp>
      <p:sp>
        <p:nvSpPr>
          <p:cNvPr id="31" name="Shape 29"/>
          <p:cNvSpPr/>
          <p:nvPr/>
        </p:nvSpPr>
        <p:spPr>
          <a:xfrm rot="218424">
            <a:off x="7333954" y="3064207"/>
            <a:ext cx="269729" cy="279651"/>
          </a:xfrm>
          <a:prstGeom prst="ellipse">
            <a:avLst/>
          </a:prstGeom>
          <a:solidFill>
            <a:srgbClr val="27AE60"/>
          </a:solidFill>
          <a:ln w="12700">
            <a:solidFill>
              <a:srgbClr val="27AE60"/>
            </a:solidFill>
            <a:prstDash val="solid"/>
          </a:ln>
        </p:spPr>
        <p:txBody>
          <a:bodyPr/>
          <a:lstStyle/>
          <a:p>
            <a:endParaRPr lang="en-AU"/>
          </a:p>
        </p:txBody>
      </p:sp>
      <p:sp>
        <p:nvSpPr>
          <p:cNvPr id="32" name="Shape 30"/>
          <p:cNvSpPr/>
          <p:nvPr/>
        </p:nvSpPr>
        <p:spPr>
          <a:xfrm rot="218424">
            <a:off x="6763368" y="3168448"/>
            <a:ext cx="269729" cy="279651"/>
          </a:xfrm>
          <a:prstGeom prst="ellipse">
            <a:avLst/>
          </a:prstGeom>
          <a:solidFill>
            <a:srgbClr val="27AE60"/>
          </a:solidFill>
          <a:ln w="12700">
            <a:solidFill>
              <a:srgbClr val="27AE60"/>
            </a:solidFill>
            <a:prstDash val="solid"/>
          </a:ln>
        </p:spPr>
        <p:txBody>
          <a:bodyPr/>
          <a:lstStyle/>
          <a:p>
            <a:endParaRPr lang="en-AU"/>
          </a:p>
        </p:txBody>
      </p:sp>
      <p:sp>
        <p:nvSpPr>
          <p:cNvPr id="33" name="Shape 31"/>
          <p:cNvSpPr/>
          <p:nvPr/>
        </p:nvSpPr>
        <p:spPr>
          <a:xfrm rot="218424">
            <a:off x="6542736" y="3248100"/>
            <a:ext cx="404594" cy="419476"/>
          </a:xfrm>
          <a:prstGeom prst="ellipse">
            <a:avLst/>
          </a:prstGeom>
          <a:solidFill>
            <a:srgbClr val="B05A0C"/>
          </a:solidFill>
          <a:ln w="25400">
            <a:solidFill>
              <a:srgbClr val="B05A0C"/>
            </a:solidFill>
            <a:prstDash val="solid"/>
          </a:ln>
        </p:spPr>
        <p:txBody>
          <a:bodyPr/>
          <a:lstStyle/>
          <a:p>
            <a:endParaRPr lang="en-AU"/>
          </a:p>
        </p:txBody>
      </p:sp>
      <p:sp>
        <p:nvSpPr>
          <p:cNvPr id="34" name="Shape 32"/>
          <p:cNvSpPr/>
          <p:nvPr/>
        </p:nvSpPr>
        <p:spPr>
          <a:xfrm rot="218424">
            <a:off x="6179278" y="3044117"/>
            <a:ext cx="959883" cy="887166"/>
          </a:xfrm>
          <a:prstGeom prst="ellipse">
            <a:avLst/>
          </a:prstGeom>
          <a:solidFill>
            <a:srgbClr val="FFFFFF">
              <a:alpha val="0"/>
            </a:srgbClr>
          </a:solidFill>
          <a:ln w="19050">
            <a:solidFill>
              <a:srgbClr val="B05A0C"/>
            </a:solidFill>
            <a:prstDash val="dash"/>
          </a:ln>
        </p:spPr>
        <p:txBody>
          <a:bodyPr/>
          <a:lstStyle/>
          <a:p>
            <a:endParaRPr lang="en-AU"/>
          </a:p>
        </p:txBody>
      </p:sp>
      <p:sp>
        <p:nvSpPr>
          <p:cNvPr id="35" name="Shape 33"/>
          <p:cNvSpPr/>
          <p:nvPr/>
        </p:nvSpPr>
        <p:spPr>
          <a:xfrm>
            <a:off x="4709160" y="1481328"/>
            <a:ext cx="164592" cy="164592"/>
          </a:xfrm>
          <a:prstGeom prst="ellipse">
            <a:avLst/>
          </a:prstGeom>
          <a:solidFill>
            <a:srgbClr val="C0392B"/>
          </a:solidFill>
          <a:ln w="12700">
            <a:solidFill>
              <a:srgbClr val="C0392B"/>
            </a:solidFill>
            <a:prstDash val="solid"/>
          </a:ln>
        </p:spPr>
        <p:txBody>
          <a:bodyPr/>
          <a:lstStyle/>
          <a:p>
            <a:endParaRPr lang="en-AU"/>
          </a:p>
        </p:txBody>
      </p:sp>
      <p:sp>
        <p:nvSpPr>
          <p:cNvPr id="36" name="Text 34"/>
          <p:cNvSpPr/>
          <p:nvPr/>
        </p:nvSpPr>
        <p:spPr>
          <a:xfrm>
            <a:off x="4919472" y="1463040"/>
            <a:ext cx="1828800" cy="201168"/>
          </a:xfrm>
          <a:prstGeom prst="rect">
            <a:avLst/>
          </a:prstGeom>
          <a:noFill/>
          <a:ln/>
        </p:spPr>
        <p:txBody>
          <a:bodyPr wrap="square" rtlCol="0" anchor="ctr"/>
          <a:lstStyle/>
          <a:p>
            <a:pPr marL="0" indent="0">
              <a:buNone/>
            </a:pPr>
            <a:r>
              <a:rPr lang="en-US" sz="900" dirty="0">
                <a:solidFill>
                  <a:srgbClr val="C0392B"/>
                </a:solidFill>
                <a:latin typeface="Calibri" pitchFamily="34" charset="0"/>
                <a:ea typeface="Calibri" pitchFamily="34" charset="-122"/>
                <a:cs typeface="Calibri" pitchFamily="34" charset="-120"/>
              </a:rPr>
              <a:t>Malignant (training)</a:t>
            </a:r>
            <a:endParaRPr lang="en-US" sz="900" dirty="0"/>
          </a:p>
        </p:txBody>
      </p:sp>
      <p:sp>
        <p:nvSpPr>
          <p:cNvPr id="37" name="Shape 35"/>
          <p:cNvSpPr/>
          <p:nvPr/>
        </p:nvSpPr>
        <p:spPr>
          <a:xfrm>
            <a:off x="4709160" y="1719072"/>
            <a:ext cx="164592" cy="164592"/>
          </a:xfrm>
          <a:prstGeom prst="ellipse">
            <a:avLst/>
          </a:prstGeom>
          <a:solidFill>
            <a:srgbClr val="27AE60"/>
          </a:solidFill>
          <a:ln w="12700">
            <a:solidFill>
              <a:srgbClr val="27AE60"/>
            </a:solidFill>
            <a:prstDash val="solid"/>
          </a:ln>
        </p:spPr>
        <p:txBody>
          <a:bodyPr/>
          <a:lstStyle/>
          <a:p>
            <a:endParaRPr lang="en-AU"/>
          </a:p>
        </p:txBody>
      </p:sp>
      <p:sp>
        <p:nvSpPr>
          <p:cNvPr id="38" name="Text 36"/>
          <p:cNvSpPr/>
          <p:nvPr/>
        </p:nvSpPr>
        <p:spPr>
          <a:xfrm>
            <a:off x="4919472" y="1700784"/>
            <a:ext cx="1828800" cy="201168"/>
          </a:xfrm>
          <a:prstGeom prst="rect">
            <a:avLst/>
          </a:prstGeom>
          <a:noFill/>
          <a:ln/>
        </p:spPr>
        <p:txBody>
          <a:bodyPr wrap="square" rtlCol="0" anchor="ctr"/>
          <a:lstStyle/>
          <a:p>
            <a:pPr marL="0" indent="0">
              <a:buNone/>
            </a:pPr>
            <a:r>
              <a:rPr lang="en-US" sz="900" dirty="0">
                <a:solidFill>
                  <a:srgbClr val="27AE60"/>
                </a:solidFill>
                <a:latin typeface="Calibri" pitchFamily="34" charset="0"/>
                <a:ea typeface="Calibri" pitchFamily="34" charset="-122"/>
                <a:cs typeface="Calibri" pitchFamily="34" charset="-120"/>
              </a:rPr>
              <a:t>Benign (training)</a:t>
            </a:r>
            <a:endParaRPr lang="en-US" sz="900" dirty="0"/>
          </a:p>
        </p:txBody>
      </p:sp>
      <p:sp>
        <p:nvSpPr>
          <p:cNvPr id="39" name="Shape 37"/>
          <p:cNvSpPr/>
          <p:nvPr/>
        </p:nvSpPr>
        <p:spPr>
          <a:xfrm>
            <a:off x="4709160" y="1956816"/>
            <a:ext cx="164592" cy="164592"/>
          </a:xfrm>
          <a:prstGeom prst="ellipse">
            <a:avLst/>
          </a:prstGeom>
          <a:solidFill>
            <a:srgbClr val="B05A0C"/>
          </a:solidFill>
          <a:ln w="12700">
            <a:solidFill>
              <a:srgbClr val="B05A0C"/>
            </a:solidFill>
            <a:prstDash val="solid"/>
          </a:ln>
        </p:spPr>
        <p:txBody>
          <a:bodyPr/>
          <a:lstStyle/>
          <a:p>
            <a:endParaRPr lang="en-AU"/>
          </a:p>
        </p:txBody>
      </p:sp>
      <p:sp>
        <p:nvSpPr>
          <p:cNvPr id="40" name="Text 38"/>
          <p:cNvSpPr/>
          <p:nvPr/>
        </p:nvSpPr>
        <p:spPr>
          <a:xfrm>
            <a:off x="4919472" y="1938528"/>
            <a:ext cx="1920240" cy="201168"/>
          </a:xfrm>
          <a:prstGeom prst="rect">
            <a:avLst/>
          </a:prstGeom>
          <a:noFill/>
          <a:ln/>
        </p:spPr>
        <p:txBody>
          <a:bodyPr wrap="square" rtlCol="0" anchor="ctr"/>
          <a:lstStyle/>
          <a:p>
            <a:pPr marL="0" indent="0">
              <a:buNone/>
            </a:pPr>
            <a:r>
              <a:rPr lang="en-US" sz="900" dirty="0">
                <a:solidFill>
                  <a:srgbClr val="B05A0C"/>
                </a:solidFill>
                <a:latin typeface="Calibri" pitchFamily="34" charset="0"/>
                <a:ea typeface="Calibri" pitchFamily="34" charset="-122"/>
                <a:cs typeface="Calibri" pitchFamily="34" charset="-120"/>
              </a:rPr>
              <a:t>New scan (unknown)</a:t>
            </a:r>
            <a:endParaRPr lang="en-US" sz="900" dirty="0"/>
          </a:p>
        </p:txBody>
      </p:sp>
      <p:sp>
        <p:nvSpPr>
          <p:cNvPr id="41" name="Text 39"/>
          <p:cNvSpPr/>
          <p:nvPr/>
        </p:nvSpPr>
        <p:spPr>
          <a:xfrm>
            <a:off x="4663440" y="4526280"/>
            <a:ext cx="4206240" cy="457200"/>
          </a:xfrm>
          <a:prstGeom prst="rect">
            <a:avLst/>
          </a:prstGeom>
          <a:noFill/>
          <a:ln/>
        </p:spPr>
        <p:txBody>
          <a:bodyPr wrap="square" rtlCol="0" anchor="ctr"/>
          <a:lstStyle/>
          <a:p>
            <a:pPr marL="0" indent="0" algn="ctr">
              <a:buNone/>
            </a:pPr>
            <a:r>
              <a:rPr lang="en-US" sz="1000" b="1" dirty="0">
                <a:solidFill>
                  <a:srgbClr val="C0392B"/>
                </a:solidFill>
                <a:latin typeface="Calibri" pitchFamily="34" charset="0"/>
                <a:ea typeface="Calibri" pitchFamily="34" charset="-122"/>
                <a:cs typeface="Calibri" pitchFamily="34" charset="-120"/>
              </a:rPr>
              <a:t>K=5 neighbours: 4 malignant, 1 benign</a:t>
            </a:r>
            <a:endParaRPr lang="en-US" sz="1000" dirty="0"/>
          </a:p>
          <a:p>
            <a:pPr marL="0" indent="0" algn="ctr">
              <a:buNone/>
            </a:pPr>
            <a:r>
              <a:rPr lang="en-US" sz="1000" b="1" dirty="0">
                <a:solidFill>
                  <a:srgbClr val="C0392B"/>
                </a:solidFill>
                <a:latin typeface="Calibri" pitchFamily="34" charset="0"/>
                <a:ea typeface="Calibri" pitchFamily="34" charset="-122"/>
                <a:cs typeface="Calibri" pitchFamily="34" charset="-120"/>
              </a:rPr>
              <a:t>→ Classified as: MALIGNANT</a:t>
            </a:r>
            <a:endParaRPr lang="en-US" sz="1000" dirty="0"/>
          </a:p>
        </p:txBody>
      </p:sp>
      <p:sp>
        <p:nvSpPr>
          <p:cNvPr id="42" name="Text 40"/>
          <p:cNvSpPr/>
          <p:nvPr/>
        </p:nvSpPr>
        <p:spPr>
          <a:xfrm>
            <a:off x="4663440" y="2240280"/>
            <a:ext cx="4206240" cy="320040"/>
          </a:xfrm>
          <a:prstGeom prst="rect">
            <a:avLst/>
          </a:prstGeom>
          <a:noFill/>
          <a:ln/>
        </p:spPr>
        <p:txBody>
          <a:bodyPr wrap="square" rtlCol="0" anchor="ctr"/>
          <a:lstStyle/>
          <a:p>
            <a:pPr marL="0" indent="0" algn="ctr">
              <a:buNone/>
            </a:pPr>
            <a:r>
              <a:rPr lang="en-US" sz="950" i="1" dirty="0">
                <a:solidFill>
                  <a:srgbClr val="64748B"/>
                </a:solidFill>
                <a:latin typeface="Calibri" pitchFamily="34" charset="0"/>
                <a:ea typeface="Calibri" pitchFamily="34" charset="-122"/>
                <a:cs typeface="Calibri" pitchFamily="34" charset="-120"/>
              </a:rPr>
              <a:t>Pathology tumour classification — KNN finds K most similar training scans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386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C9A227"/>
          </a:solidFill>
          <a:ln w="12700">
            <a:solidFill>
              <a:srgbClr val="C9A227"/>
            </a:solidFill>
            <a:prstDash val="solid"/>
          </a:ln>
        </p:spPr>
        <p:txBody>
          <a:bodyPr/>
          <a:lstStyle/>
          <a:p>
            <a:endParaRPr lang="en-AU"/>
          </a:p>
        </p:txBody>
      </p:sp>
      <p:sp>
        <p:nvSpPr>
          <p:cNvPr id="3" name="Text 1"/>
          <p:cNvSpPr/>
          <p:nvPr/>
        </p:nvSpPr>
        <p:spPr>
          <a:xfrm>
            <a:off x="274320" y="0"/>
            <a:ext cx="8595360" cy="5486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Exam-Ready Summary — Write These Two Paragraphs</a:t>
            </a:r>
            <a:endParaRPr lang="en-US" sz="1600" dirty="0"/>
          </a:p>
        </p:txBody>
      </p:sp>
      <p:sp>
        <p:nvSpPr>
          <p:cNvPr id="4" name="Shape 2"/>
          <p:cNvSpPr/>
          <p:nvPr/>
        </p:nvSpPr>
        <p:spPr>
          <a:xfrm>
            <a:off x="274320" y="685800"/>
            <a:ext cx="8595360" cy="2057400"/>
          </a:xfrm>
          <a:prstGeom prst="rect">
            <a:avLst/>
          </a:prstGeom>
          <a:solidFill>
            <a:srgbClr val="F0F4F8"/>
          </a:solidFill>
          <a:ln w="19050">
            <a:solidFill>
              <a:srgbClr val="2E75B6"/>
            </a:solidFill>
            <a:prstDash val="solid"/>
          </a:ln>
          <a:effectLst>
            <a:outerShdw blurRad="63500" dist="25400" dir="8100000" algn="bl" rotWithShape="0">
              <a:srgbClr val="000000">
                <a:alpha val="13000"/>
              </a:srgbClr>
            </a:outerShdw>
          </a:effectLst>
        </p:spPr>
        <p:txBody>
          <a:bodyPr/>
          <a:lstStyle/>
          <a:p>
            <a:endParaRPr lang="en-AU"/>
          </a:p>
        </p:txBody>
      </p:sp>
      <p:sp>
        <p:nvSpPr>
          <p:cNvPr id="5" name="Shape 3"/>
          <p:cNvSpPr/>
          <p:nvPr/>
        </p:nvSpPr>
        <p:spPr>
          <a:xfrm>
            <a:off x="274320" y="685800"/>
            <a:ext cx="128016" cy="2057400"/>
          </a:xfrm>
          <a:prstGeom prst="rect">
            <a:avLst/>
          </a:prstGeom>
          <a:solidFill>
            <a:srgbClr val="2E75B6"/>
          </a:solidFill>
          <a:ln w="12700">
            <a:solidFill>
              <a:srgbClr val="2E75B6"/>
            </a:solidFill>
            <a:prstDash val="solid"/>
          </a:ln>
        </p:spPr>
        <p:txBody>
          <a:bodyPr/>
          <a:lstStyle/>
          <a:p>
            <a:endParaRPr lang="en-AU"/>
          </a:p>
        </p:txBody>
      </p:sp>
      <p:sp>
        <p:nvSpPr>
          <p:cNvPr id="6" name="Text 4"/>
          <p:cNvSpPr/>
          <p:nvPr/>
        </p:nvSpPr>
        <p:spPr>
          <a:xfrm>
            <a:off x="502920" y="749808"/>
            <a:ext cx="8229600" cy="301752"/>
          </a:xfrm>
          <a:prstGeom prst="rect">
            <a:avLst/>
          </a:prstGeom>
          <a:noFill/>
          <a:ln/>
        </p:spPr>
        <p:txBody>
          <a:bodyPr wrap="square" rtlCol="0" anchor="ctr"/>
          <a:lstStyle/>
          <a:p>
            <a:pPr marL="0" indent="0">
              <a:buNone/>
            </a:pPr>
            <a:r>
              <a:rPr lang="en-US" sz="1150" b="1" dirty="0">
                <a:solidFill>
                  <a:srgbClr val="2E75B6"/>
                </a:solidFill>
                <a:latin typeface="Calibri" pitchFamily="34" charset="0"/>
                <a:ea typeface="Calibri" pitchFamily="34" charset="-122"/>
                <a:cs typeface="Calibri" pitchFamily="34" charset="-120"/>
              </a:rPr>
              <a:t>Supervised Learning, Models &amp; Training Cycle</a:t>
            </a:r>
            <a:endParaRPr lang="en-US" sz="1150" dirty="0"/>
          </a:p>
        </p:txBody>
      </p:sp>
      <p:sp>
        <p:nvSpPr>
          <p:cNvPr id="7" name="Text 5"/>
          <p:cNvSpPr/>
          <p:nvPr/>
        </p:nvSpPr>
        <p:spPr>
          <a:xfrm>
            <a:off x="502920" y="1069848"/>
            <a:ext cx="8321040" cy="1618488"/>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Supervised learning is the primary training model used when software engineers develop machine learning systems. In supervised learning, the system is trained on a labelled dataset in which each input example is paired with its correct output answer. The machine learns to map inputs to outputs by minimising the difference between its predictions and the known correct answers. To design and analyse this learning process, software engineers use decision trees or neural networks. A decision tree represents all possible combinations of decisions as a branching structure, where each internal node tests an input feature and each leaf node produces a classification. A neural network mimics the human brain, consisting of interconnected nodes in an input layer, hidden layers, and an output layer. During the training cycle, linear regression with backward chaining iteratively adjusts node weightings to minimise error. During the execution cycle, those fixed weightings are applied to new inputs to generate predictions.</a:t>
            </a:r>
            <a:endParaRPr lang="en-US" sz="1200" dirty="0"/>
          </a:p>
        </p:txBody>
      </p:sp>
      <p:sp>
        <p:nvSpPr>
          <p:cNvPr id="8" name="Shape 6"/>
          <p:cNvSpPr/>
          <p:nvPr/>
        </p:nvSpPr>
        <p:spPr>
          <a:xfrm>
            <a:off x="274320" y="2852928"/>
            <a:ext cx="8595360" cy="2057400"/>
          </a:xfrm>
          <a:prstGeom prst="rect">
            <a:avLst/>
          </a:prstGeom>
          <a:solidFill>
            <a:srgbClr val="F0F4F8"/>
          </a:solidFill>
          <a:ln w="19050">
            <a:solidFill>
              <a:srgbClr val="C9A227"/>
            </a:solidFill>
            <a:prstDash val="solid"/>
          </a:ln>
          <a:effectLst>
            <a:outerShdw blurRad="63500" dist="25400" dir="8100000" algn="bl" rotWithShape="0">
              <a:srgbClr val="000000">
                <a:alpha val="13000"/>
              </a:srgbClr>
            </a:outerShdw>
          </a:effectLst>
        </p:spPr>
        <p:txBody>
          <a:bodyPr/>
          <a:lstStyle/>
          <a:p>
            <a:endParaRPr lang="en-AU"/>
          </a:p>
        </p:txBody>
      </p:sp>
      <p:sp>
        <p:nvSpPr>
          <p:cNvPr id="9" name="Shape 7"/>
          <p:cNvSpPr/>
          <p:nvPr/>
        </p:nvSpPr>
        <p:spPr>
          <a:xfrm>
            <a:off x="274320" y="2852928"/>
            <a:ext cx="128016" cy="2057400"/>
          </a:xfrm>
          <a:prstGeom prst="rect">
            <a:avLst/>
          </a:prstGeom>
          <a:solidFill>
            <a:srgbClr val="C9A227"/>
          </a:solidFill>
          <a:ln w="12700">
            <a:solidFill>
              <a:srgbClr val="C9A227"/>
            </a:solidFill>
            <a:prstDash val="solid"/>
          </a:ln>
        </p:spPr>
        <p:txBody>
          <a:bodyPr/>
          <a:lstStyle/>
          <a:p>
            <a:endParaRPr lang="en-AU"/>
          </a:p>
        </p:txBody>
      </p:sp>
      <p:sp>
        <p:nvSpPr>
          <p:cNvPr id="10" name="Text 8"/>
          <p:cNvSpPr/>
          <p:nvPr/>
        </p:nvSpPr>
        <p:spPr>
          <a:xfrm>
            <a:off x="502920" y="2916936"/>
            <a:ext cx="8229600" cy="301752"/>
          </a:xfrm>
          <a:prstGeom prst="rect">
            <a:avLst/>
          </a:prstGeom>
          <a:noFill/>
          <a:ln/>
        </p:spPr>
        <p:txBody>
          <a:bodyPr wrap="square" rtlCol="0" anchor="ctr"/>
          <a:lstStyle/>
          <a:p>
            <a:pPr marL="0" indent="0">
              <a:buNone/>
            </a:pPr>
            <a:r>
              <a:rPr lang="en-US" sz="1150" b="1" dirty="0">
                <a:solidFill>
                  <a:srgbClr val="C9A227"/>
                </a:solidFill>
                <a:latin typeface="Calibri" pitchFamily="34" charset="0"/>
                <a:ea typeface="Calibri" pitchFamily="34" charset="-122"/>
                <a:cs typeface="Calibri" pitchFamily="34" charset="-120"/>
              </a:rPr>
              <a:t>Algorithm Types &amp; Common Applications</a:t>
            </a:r>
            <a:endParaRPr lang="en-US" sz="1150" dirty="0"/>
          </a:p>
        </p:txBody>
      </p:sp>
      <p:sp>
        <p:nvSpPr>
          <p:cNvPr id="11" name="Text 9"/>
          <p:cNvSpPr/>
          <p:nvPr/>
        </p:nvSpPr>
        <p:spPr>
          <a:xfrm>
            <a:off x="502920" y="3236976"/>
            <a:ext cx="8321040" cy="1618488"/>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Once the model has been designed and trained, it produces predictions through one of three algorithm types. Linear regression predicts a continuous numeric output value by fitting a line of best fit through the training data, and is well suited to data analysis and forecasting — predicting stock demand or property prices. Logistic regression is used for classification problems, outputting the probability that an input belongs to a discrete category; this algorithm is applied in virtual personal assistants to classify recognised spoken phrases into command categories. K-Nearest Neighbour (KNN) classifies a new data point by calculating its distance to the K most similar labelled examples in the training dataset and assigning the majority class, making it effective for image recognition tasks where classification depends on visual similarity to known examples. Together, these algorithm types translate supervised learning patterns into deployed systems capable of solving forecasting, language, and visual classification problems.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0"/>
            <a:ext cx="851299" cy="35849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extBox 1">
            <a:extLst>
              <a:ext uri="{FF2B5EF4-FFF2-40B4-BE49-F238E27FC236}">
                <a16:creationId xmlns:a16="http://schemas.microsoft.com/office/drawing/2014/main" id="{96AF5CFD-E765-2F32-85F9-2C42604B8D70}"/>
              </a:ext>
            </a:extLst>
          </p:cNvPr>
          <p:cNvSpPr txBox="1"/>
          <p:nvPr/>
        </p:nvSpPr>
        <p:spPr>
          <a:xfrm>
            <a:off x="628650" y="273843"/>
            <a:ext cx="7886700" cy="99417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100" kern="1200">
                <a:solidFill>
                  <a:schemeClr val="tx1"/>
                </a:solidFill>
                <a:latin typeface="+mj-lt"/>
                <a:ea typeface="+mj-ea"/>
                <a:cs typeface="+mj-cs"/>
              </a:rPr>
              <a:t>Linear regression, polynomial regression, and logistic regression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416783" y="1637417"/>
            <a:ext cx="3062575"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TextBox 2">
            <a:extLst>
              <a:ext uri="{FF2B5EF4-FFF2-40B4-BE49-F238E27FC236}">
                <a16:creationId xmlns:a16="http://schemas.microsoft.com/office/drawing/2014/main" id="{DEB0261D-5EF7-1998-0A2E-475CD08B2AD3}"/>
              </a:ext>
            </a:extLst>
          </p:cNvPr>
          <p:cNvSpPr txBox="1"/>
          <p:nvPr/>
        </p:nvSpPr>
        <p:spPr>
          <a:xfrm>
            <a:off x="863912" y="1273681"/>
            <a:ext cx="7643908" cy="3263504"/>
          </a:xfrm>
          <a:prstGeom prst="rect">
            <a:avLst/>
          </a:prstGeom>
        </p:spPr>
        <p:txBody>
          <a:bodyPr vert="horz" lIns="91440" tIns="45720" rIns="91440" bIns="45720" rtlCol="0">
            <a:normAutofit fontScale="92500"/>
          </a:bodyPr>
          <a:lstStyle/>
          <a:p>
            <a:pPr algn="just">
              <a:lnSpc>
                <a:spcPct val="90000"/>
              </a:lnSpc>
              <a:spcAft>
                <a:spcPts val="600"/>
              </a:spcAft>
            </a:pPr>
            <a:r>
              <a:rPr lang="en-US" dirty="0"/>
              <a:t>Linear regression, polynomial regression, and logistic regression are all supervised machine learning algorithms that are trained on labelled data, yet they differ fundamentally in the types of problems they solve and the nature of their output. </a:t>
            </a:r>
          </a:p>
          <a:p>
            <a:pPr algn="just">
              <a:lnSpc>
                <a:spcPct val="90000"/>
              </a:lnSpc>
              <a:spcAft>
                <a:spcPts val="600"/>
              </a:spcAft>
            </a:pPr>
            <a:r>
              <a:rPr lang="en-US" dirty="0"/>
              <a:t>Linear regression models the relationship between one or more input features and a continuous output variable by fitting a straight line through the training data, making it appropriate for predicting numeric values such as house prices or temperature readings where a proportional, linear relationship can be assumed. Polynomial regression extends this approach by fitting a curved line using higher-degree polynomial equations, enabling the model to capture non-linear relationships in the data — for example, predicting engine wear over time, where the rate of degradation accelerates rather than increases at a constant rate. Both linear and polynomial regression therefore belong to the same category of regression tasks: they predict values across a continuous numeric range. </a:t>
            </a:r>
          </a:p>
        </p:txBody>
      </p:sp>
    </p:spTree>
    <p:extLst>
      <p:ext uri="{BB962C8B-B14F-4D97-AF65-F5344CB8AC3E}">
        <p14:creationId xmlns:p14="http://schemas.microsoft.com/office/powerpoint/2010/main" val="16321507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extBox 2">
            <a:extLst>
              <a:ext uri="{FF2B5EF4-FFF2-40B4-BE49-F238E27FC236}">
                <a16:creationId xmlns:a16="http://schemas.microsoft.com/office/drawing/2014/main" id="{259D1CE7-9E54-8965-7ECE-C8EFBE94403F}"/>
              </a:ext>
            </a:extLst>
          </p:cNvPr>
          <p:cNvGraphicFramePr/>
          <p:nvPr>
            <p:extLst>
              <p:ext uri="{D42A27DB-BD31-4B8C-83A1-F6EECF244321}">
                <p14:modId xmlns:p14="http://schemas.microsoft.com/office/powerpoint/2010/main" val="2617510646"/>
              </p:ext>
            </p:extLst>
          </p:nvPr>
        </p:nvGraphicFramePr>
        <p:xfrm>
          <a:off x="2286000" y="170709"/>
          <a:ext cx="4572000" cy="48013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827797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2" name="Group 21">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223477" y="1768"/>
            <a:ext cx="1407490" cy="1324506"/>
            <a:chOff x="-648769" y="2358"/>
            <a:chExt cx="1876653" cy="1766008"/>
          </a:xfrm>
        </p:grpSpPr>
        <p:sp>
          <p:nvSpPr>
            <p:cNvPr id="10" name="Freeform: Shape 9">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Rectangle 23">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052897" y="4525250"/>
            <a:ext cx="484026" cy="484026"/>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Isosceles Triangle 14">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77" y="4290831"/>
            <a:ext cx="1696473" cy="852668"/>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55E6D86F-E69F-CEC6-6EE1-3B708A192E18}"/>
              </a:ext>
            </a:extLst>
          </p:cNvPr>
          <p:cNvGraphicFramePr>
            <a:graphicFrameLocks noGrp="1"/>
          </p:cNvGraphicFramePr>
          <p:nvPr>
            <p:extLst>
              <p:ext uri="{D42A27DB-BD31-4B8C-83A1-F6EECF244321}">
                <p14:modId xmlns:p14="http://schemas.microsoft.com/office/powerpoint/2010/main" val="1715446505"/>
              </p:ext>
            </p:extLst>
          </p:nvPr>
        </p:nvGraphicFramePr>
        <p:xfrm>
          <a:off x="482600" y="894053"/>
          <a:ext cx="8178801" cy="3355399"/>
        </p:xfrm>
        <a:graphic>
          <a:graphicData uri="http://schemas.openxmlformats.org/drawingml/2006/table">
            <a:tbl>
              <a:tblPr firstRow="1" firstCol="1">
                <a:tableStyleId>{5C22544A-7EE6-4342-B048-85BDC9FD1C3A}</a:tableStyleId>
              </a:tblPr>
              <a:tblGrid>
                <a:gridCol w="974449">
                  <a:extLst>
                    <a:ext uri="{9D8B030D-6E8A-4147-A177-3AD203B41FA5}">
                      <a16:colId xmlns:a16="http://schemas.microsoft.com/office/drawing/2014/main" val="70177600"/>
                    </a:ext>
                  </a:extLst>
                </a:gridCol>
                <a:gridCol w="2311395">
                  <a:extLst>
                    <a:ext uri="{9D8B030D-6E8A-4147-A177-3AD203B41FA5}">
                      <a16:colId xmlns:a16="http://schemas.microsoft.com/office/drawing/2014/main" val="2956071766"/>
                    </a:ext>
                  </a:extLst>
                </a:gridCol>
                <a:gridCol w="2505916">
                  <a:extLst>
                    <a:ext uri="{9D8B030D-6E8A-4147-A177-3AD203B41FA5}">
                      <a16:colId xmlns:a16="http://schemas.microsoft.com/office/drawing/2014/main" val="743006277"/>
                    </a:ext>
                  </a:extLst>
                </a:gridCol>
                <a:gridCol w="2387041">
                  <a:extLst>
                    <a:ext uri="{9D8B030D-6E8A-4147-A177-3AD203B41FA5}">
                      <a16:colId xmlns:a16="http://schemas.microsoft.com/office/drawing/2014/main" val="3758490309"/>
                    </a:ext>
                  </a:extLst>
                </a:gridCol>
              </a:tblGrid>
              <a:tr h="183776">
                <a:tc>
                  <a:txBody>
                    <a:bodyPr/>
                    <a:lstStyle/>
                    <a:p>
                      <a:pPr algn="ctr">
                        <a:buNone/>
                      </a:pPr>
                      <a:r>
                        <a:rPr lang="en-AU" sz="1000">
                          <a:effectLst/>
                        </a:rPr>
                        <a:t>Feature</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tc>
                  <a:txBody>
                    <a:bodyPr/>
                    <a:lstStyle/>
                    <a:p>
                      <a:pPr algn="ctr">
                        <a:buNone/>
                      </a:pPr>
                      <a:r>
                        <a:rPr lang="en-AU" sz="1000">
                          <a:effectLst/>
                        </a:rPr>
                        <a:t>Linear Regression</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tc>
                  <a:txBody>
                    <a:bodyPr/>
                    <a:lstStyle/>
                    <a:p>
                      <a:pPr algn="ctr">
                        <a:buNone/>
                      </a:pPr>
                      <a:r>
                        <a:rPr lang="en-AU" sz="1000">
                          <a:effectLst/>
                        </a:rPr>
                        <a:t>Polynomial Regression</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tc>
                  <a:txBody>
                    <a:bodyPr/>
                    <a:lstStyle/>
                    <a:p>
                      <a:pPr algn="ctr">
                        <a:buNone/>
                      </a:pPr>
                      <a:r>
                        <a:rPr lang="en-AU" sz="1000">
                          <a:effectLst/>
                        </a:rPr>
                        <a:t>Logistic Regression</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extLst>
                  <a:ext uri="{0D108BD9-81ED-4DB2-BD59-A6C34878D82A}">
                    <a16:rowId xmlns:a16="http://schemas.microsoft.com/office/drawing/2014/main" val="3708327710"/>
                  </a:ext>
                </a:extLst>
              </a:tr>
              <a:tr h="183776">
                <a:tc>
                  <a:txBody>
                    <a:bodyPr/>
                    <a:lstStyle/>
                    <a:p>
                      <a:pPr>
                        <a:buNone/>
                      </a:pPr>
                      <a:r>
                        <a:rPr lang="en-AU" sz="1000">
                          <a:effectLst/>
                        </a:rPr>
                        <a:t>Task type</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tc>
                  <a:txBody>
                    <a:bodyPr/>
                    <a:lstStyle/>
                    <a:p>
                      <a:pPr>
                        <a:buNone/>
                      </a:pPr>
                      <a:r>
                        <a:rPr lang="en-AU" sz="1000">
                          <a:effectLst/>
                        </a:rPr>
                        <a:t>Regression</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tc>
                  <a:txBody>
                    <a:bodyPr/>
                    <a:lstStyle/>
                    <a:p>
                      <a:pPr>
                        <a:buNone/>
                      </a:pPr>
                      <a:r>
                        <a:rPr lang="en-AU" sz="1000">
                          <a:effectLst/>
                        </a:rPr>
                        <a:t>Regression</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tc>
                  <a:txBody>
                    <a:bodyPr/>
                    <a:lstStyle/>
                    <a:p>
                      <a:pPr>
                        <a:buNone/>
                      </a:pPr>
                      <a:r>
                        <a:rPr lang="en-AU" sz="1000">
                          <a:effectLst/>
                        </a:rPr>
                        <a:t>Classification</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extLst>
                  <a:ext uri="{0D108BD9-81ED-4DB2-BD59-A6C34878D82A}">
                    <a16:rowId xmlns:a16="http://schemas.microsoft.com/office/drawing/2014/main" val="4230488106"/>
                  </a:ext>
                </a:extLst>
              </a:tr>
              <a:tr h="331983">
                <a:tc>
                  <a:txBody>
                    <a:bodyPr/>
                    <a:lstStyle/>
                    <a:p>
                      <a:pPr>
                        <a:buNone/>
                      </a:pPr>
                      <a:r>
                        <a:rPr lang="en-AU" sz="1000">
                          <a:effectLst/>
                        </a:rPr>
                        <a:t>Output type</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tc>
                  <a:txBody>
                    <a:bodyPr/>
                    <a:lstStyle/>
                    <a:p>
                      <a:pPr>
                        <a:buNone/>
                      </a:pPr>
                      <a:r>
                        <a:rPr lang="en-AU" sz="1000">
                          <a:effectLst/>
                        </a:rPr>
                        <a:t>Continuous numeric value</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tc>
                  <a:txBody>
                    <a:bodyPr/>
                    <a:lstStyle/>
                    <a:p>
                      <a:pPr>
                        <a:buNone/>
                      </a:pPr>
                      <a:r>
                        <a:rPr lang="en-AU" sz="1000">
                          <a:effectLst/>
                        </a:rPr>
                        <a:t>Continuous numeric value</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tc>
                  <a:txBody>
                    <a:bodyPr/>
                    <a:lstStyle/>
                    <a:p>
                      <a:pPr>
                        <a:buNone/>
                      </a:pPr>
                      <a:r>
                        <a:rPr lang="en-AU" sz="1000">
                          <a:effectLst/>
                        </a:rPr>
                        <a:t>Probability mapped to a discrete class (e.g. 0 or 1)</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extLst>
                  <a:ext uri="{0D108BD9-81ED-4DB2-BD59-A6C34878D82A}">
                    <a16:rowId xmlns:a16="http://schemas.microsoft.com/office/drawing/2014/main" val="1987202628"/>
                  </a:ext>
                </a:extLst>
              </a:tr>
              <a:tr h="331983">
                <a:tc>
                  <a:txBody>
                    <a:bodyPr/>
                    <a:lstStyle/>
                    <a:p>
                      <a:pPr>
                        <a:buNone/>
                      </a:pPr>
                      <a:r>
                        <a:rPr lang="en-AU" sz="1000">
                          <a:effectLst/>
                        </a:rPr>
                        <a:t>Relationship modelled</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tc>
                  <a:txBody>
                    <a:bodyPr/>
                    <a:lstStyle/>
                    <a:p>
                      <a:pPr>
                        <a:buNone/>
                      </a:pPr>
                      <a:r>
                        <a:rPr lang="en-AU" sz="1000">
                          <a:effectLst/>
                        </a:rPr>
                        <a:t>Straight-line (linear) relationship between input and output</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tc>
                  <a:txBody>
                    <a:bodyPr/>
                    <a:lstStyle/>
                    <a:p>
                      <a:pPr>
                        <a:buNone/>
                      </a:pPr>
                      <a:r>
                        <a:rPr lang="en-AU" sz="1000">
                          <a:effectLst/>
                        </a:rPr>
                        <a:t>Curved (non-linear) relationship using higher-degree polynomial equations</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tc>
                  <a:txBody>
                    <a:bodyPr/>
                    <a:lstStyle/>
                    <a:p>
                      <a:pPr>
                        <a:buNone/>
                      </a:pPr>
                      <a:r>
                        <a:rPr lang="en-AU" sz="1000">
                          <a:effectLst/>
                        </a:rPr>
                        <a:t>Non-linear relationship mapped through a sigmoid function to a probability</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extLst>
                  <a:ext uri="{0D108BD9-81ED-4DB2-BD59-A6C34878D82A}">
                    <a16:rowId xmlns:a16="http://schemas.microsoft.com/office/drawing/2014/main" val="729711169"/>
                  </a:ext>
                </a:extLst>
              </a:tr>
              <a:tr h="331983">
                <a:tc>
                  <a:txBody>
                    <a:bodyPr/>
                    <a:lstStyle/>
                    <a:p>
                      <a:pPr>
                        <a:buNone/>
                      </a:pPr>
                      <a:r>
                        <a:rPr lang="en-AU" sz="1000">
                          <a:effectLst/>
                        </a:rPr>
                        <a:t>Line/curve of best fit</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tc>
                  <a:txBody>
                    <a:bodyPr/>
                    <a:lstStyle/>
                    <a:p>
                      <a:pPr>
                        <a:buNone/>
                      </a:pPr>
                      <a:r>
                        <a:rPr lang="en-AU" sz="1000">
                          <a:effectLst/>
                        </a:rPr>
                        <a:t>Straight line</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tc>
                  <a:txBody>
                    <a:bodyPr/>
                    <a:lstStyle/>
                    <a:p>
                      <a:pPr>
                        <a:buNone/>
                      </a:pPr>
                      <a:r>
                        <a:rPr lang="en-AU" sz="1000">
                          <a:effectLst/>
                        </a:rPr>
                        <a:t>Curved polynomial curve</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tc>
                  <a:txBody>
                    <a:bodyPr/>
                    <a:lstStyle/>
                    <a:p>
                      <a:pPr>
                        <a:buNone/>
                      </a:pPr>
                      <a:r>
                        <a:rPr lang="en-AU" sz="1000">
                          <a:effectLst/>
                        </a:rPr>
                        <a:t>S-shaped sigmoid curve</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extLst>
                  <a:ext uri="{0D108BD9-81ED-4DB2-BD59-A6C34878D82A}">
                    <a16:rowId xmlns:a16="http://schemas.microsoft.com/office/drawing/2014/main" val="320614701"/>
                  </a:ext>
                </a:extLst>
              </a:tr>
              <a:tr h="331983">
                <a:tc>
                  <a:txBody>
                    <a:bodyPr/>
                    <a:lstStyle/>
                    <a:p>
                      <a:pPr>
                        <a:buNone/>
                      </a:pPr>
                      <a:r>
                        <a:rPr lang="en-AU" sz="1000">
                          <a:effectLst/>
                        </a:rPr>
                        <a:t>Training data required</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tc>
                  <a:txBody>
                    <a:bodyPr/>
                    <a:lstStyle/>
                    <a:p>
                      <a:pPr>
                        <a:buNone/>
                      </a:pPr>
                      <a:r>
                        <a:rPr lang="en-AU" sz="1000">
                          <a:effectLst/>
                        </a:rPr>
                        <a:t>Labelled (supervised)</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tc>
                  <a:txBody>
                    <a:bodyPr/>
                    <a:lstStyle/>
                    <a:p>
                      <a:pPr>
                        <a:buNone/>
                      </a:pPr>
                      <a:r>
                        <a:rPr lang="en-AU" sz="1000">
                          <a:effectLst/>
                        </a:rPr>
                        <a:t>Labelled (supervised)</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tc>
                  <a:txBody>
                    <a:bodyPr/>
                    <a:lstStyle/>
                    <a:p>
                      <a:pPr>
                        <a:buNone/>
                      </a:pPr>
                      <a:r>
                        <a:rPr lang="en-AU" sz="1000">
                          <a:effectLst/>
                        </a:rPr>
                        <a:t>Labelled (supervised)</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extLst>
                  <a:ext uri="{0D108BD9-81ED-4DB2-BD59-A6C34878D82A}">
                    <a16:rowId xmlns:a16="http://schemas.microsoft.com/office/drawing/2014/main" val="2200368081"/>
                  </a:ext>
                </a:extLst>
              </a:tr>
              <a:tr h="331983">
                <a:tc>
                  <a:txBody>
                    <a:bodyPr/>
                    <a:lstStyle/>
                    <a:p>
                      <a:pPr>
                        <a:buNone/>
                      </a:pPr>
                      <a:r>
                        <a:rPr lang="en-AU" sz="1000">
                          <a:effectLst/>
                        </a:rPr>
                        <a:t>When to use</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tc>
                  <a:txBody>
                    <a:bodyPr/>
                    <a:lstStyle/>
                    <a:p>
                      <a:pPr>
                        <a:buNone/>
                      </a:pPr>
                      <a:r>
                        <a:rPr lang="en-AU" sz="1000">
                          <a:effectLst/>
                        </a:rPr>
                        <a:t>Data follows a consistent, proportional trend</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tc>
                  <a:txBody>
                    <a:bodyPr/>
                    <a:lstStyle/>
                    <a:p>
                      <a:pPr>
                        <a:buNone/>
                      </a:pPr>
                      <a:r>
                        <a:rPr lang="en-AU" sz="1000">
                          <a:effectLst/>
                        </a:rPr>
                        <a:t>Data follows a curved or accelerating trend</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tc>
                  <a:txBody>
                    <a:bodyPr/>
                    <a:lstStyle/>
                    <a:p>
                      <a:pPr>
                        <a:buNone/>
                      </a:pPr>
                      <a:r>
                        <a:rPr lang="en-AU" sz="1000">
                          <a:effectLst/>
                        </a:rPr>
                        <a:t>Output is a category, not a number</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extLst>
                  <a:ext uri="{0D108BD9-81ED-4DB2-BD59-A6C34878D82A}">
                    <a16:rowId xmlns:a16="http://schemas.microsoft.com/office/drawing/2014/main" val="621603137"/>
                  </a:ext>
                </a:extLst>
              </a:tr>
              <a:tr h="331983">
                <a:tc>
                  <a:txBody>
                    <a:bodyPr/>
                    <a:lstStyle/>
                    <a:p>
                      <a:pPr>
                        <a:buNone/>
                      </a:pPr>
                      <a:r>
                        <a:rPr lang="en-AU" sz="1000">
                          <a:effectLst/>
                        </a:rPr>
                        <a:t>Real-world example</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tc>
                  <a:txBody>
                    <a:bodyPr/>
                    <a:lstStyle/>
                    <a:p>
                      <a:pPr>
                        <a:buNone/>
                      </a:pPr>
                      <a:r>
                        <a:rPr lang="en-AU" sz="1000">
                          <a:effectLst/>
                          <a:highlight>
                            <a:srgbClr val="FFFF00"/>
                          </a:highlight>
                        </a:rPr>
                        <a:t>Predicting a student's exam score from hours studied</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tc>
                  <a:txBody>
                    <a:bodyPr/>
                    <a:lstStyle/>
                    <a:p>
                      <a:pPr>
                        <a:buNone/>
                      </a:pPr>
                      <a:r>
                        <a:rPr lang="en-AU" sz="1000">
                          <a:effectLst/>
                          <a:highlight>
                            <a:srgbClr val="FFFF00"/>
                          </a:highlight>
                        </a:rPr>
                        <a:t>Predicting engine wear rate over time</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tc>
                  <a:txBody>
                    <a:bodyPr/>
                    <a:lstStyle/>
                    <a:p>
                      <a:pPr>
                        <a:buNone/>
                      </a:pPr>
                      <a:r>
                        <a:rPr lang="en-AU" sz="1000">
                          <a:effectLst/>
                          <a:highlight>
                            <a:srgbClr val="FFFF00"/>
                          </a:highlight>
                        </a:rPr>
                        <a:t>Classifying an email as spam or not spam</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extLst>
                  <a:ext uri="{0D108BD9-81ED-4DB2-BD59-A6C34878D82A}">
                    <a16:rowId xmlns:a16="http://schemas.microsoft.com/office/drawing/2014/main" val="3511358233"/>
                  </a:ext>
                </a:extLst>
              </a:tr>
              <a:tr h="331983">
                <a:tc>
                  <a:txBody>
                    <a:bodyPr/>
                    <a:lstStyle/>
                    <a:p>
                      <a:pPr>
                        <a:buNone/>
                      </a:pPr>
                      <a:r>
                        <a:rPr lang="en-AU" sz="1000">
                          <a:effectLst/>
                        </a:rPr>
                        <a:t>Python library</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tc>
                  <a:txBody>
                    <a:bodyPr/>
                    <a:lstStyle/>
                    <a:p>
                      <a:pPr>
                        <a:buNone/>
                      </a:pPr>
                      <a:r>
                        <a:rPr lang="en-AU" sz="1000">
                          <a:effectLst/>
                        </a:rPr>
                        <a:t>sklearn.linear_model.LinearRegression</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tc>
                  <a:txBody>
                    <a:bodyPr/>
                    <a:lstStyle/>
                    <a:p>
                      <a:pPr>
                        <a:buNone/>
                      </a:pPr>
                      <a:r>
                        <a:rPr lang="en-AU" sz="1000" dirty="0" err="1">
                          <a:effectLst/>
                        </a:rPr>
                        <a:t>sklearn.preprocessing.PolynomialFeatures</a:t>
                      </a:r>
                      <a:r>
                        <a:rPr lang="en-AU" sz="1000" dirty="0">
                          <a:effectLst/>
                        </a:rPr>
                        <a:t> + </a:t>
                      </a:r>
                      <a:r>
                        <a:rPr lang="en-AU" sz="1000" dirty="0" err="1">
                          <a:effectLst/>
                        </a:rPr>
                        <a:t>LinearRegression</a:t>
                      </a:r>
                      <a:endParaRPr lang="en-AU" sz="1000" dirty="0">
                        <a:effectLst/>
                        <a:latin typeface="Times New Roman" panose="02020603050405020304" pitchFamily="18" charset="0"/>
                        <a:ea typeface="Times New Roman" panose="02020603050405020304" pitchFamily="18" charset="0"/>
                      </a:endParaRPr>
                    </a:p>
                  </a:txBody>
                  <a:tcPr marL="40907" marR="40907" marT="0" marB="0" anchor="ctr"/>
                </a:tc>
                <a:tc>
                  <a:txBody>
                    <a:bodyPr/>
                    <a:lstStyle/>
                    <a:p>
                      <a:pPr>
                        <a:buNone/>
                      </a:pPr>
                      <a:r>
                        <a:rPr lang="en-AU" sz="1000">
                          <a:effectLst/>
                        </a:rPr>
                        <a:t>sklearn.linear_model.LogisticRegression</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extLst>
                  <a:ext uri="{0D108BD9-81ED-4DB2-BD59-A6C34878D82A}">
                    <a16:rowId xmlns:a16="http://schemas.microsoft.com/office/drawing/2014/main" val="4150466106"/>
                  </a:ext>
                </a:extLst>
              </a:tr>
              <a:tr h="331983">
                <a:tc>
                  <a:txBody>
                    <a:bodyPr/>
                    <a:lstStyle/>
                    <a:p>
                      <a:pPr>
                        <a:buNone/>
                      </a:pPr>
                      <a:r>
                        <a:rPr lang="en-AU" sz="1000">
                          <a:effectLst/>
                        </a:rPr>
                        <a:t>Common error</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tc>
                  <a:txBody>
                    <a:bodyPr/>
                    <a:lstStyle/>
                    <a:p>
                      <a:pPr>
                        <a:buNone/>
                      </a:pPr>
                      <a:r>
                        <a:rPr lang="en-AU" sz="1000">
                          <a:effectLst/>
                        </a:rPr>
                        <a:t>Applying to curved data, producing poor fit (underfitting)</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tc>
                  <a:txBody>
                    <a:bodyPr/>
                    <a:lstStyle/>
                    <a:p>
                      <a:pPr>
                        <a:buNone/>
                      </a:pPr>
                      <a:r>
                        <a:rPr lang="en-AU" sz="1000">
                          <a:effectLst/>
                        </a:rPr>
                        <a:t>Overfitting if polynomial degree is too high</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tc>
                  <a:txBody>
                    <a:bodyPr/>
                    <a:lstStyle/>
                    <a:p>
                      <a:pPr>
                        <a:buNone/>
                      </a:pPr>
                      <a:r>
                        <a:rPr lang="en-AU" sz="1000">
                          <a:effectLst/>
                        </a:rPr>
                        <a:t>Misidentifying it as a regression tool — it is a classifier</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extLst>
                  <a:ext uri="{0D108BD9-81ED-4DB2-BD59-A6C34878D82A}">
                    <a16:rowId xmlns:a16="http://schemas.microsoft.com/office/drawing/2014/main" val="836989903"/>
                  </a:ext>
                </a:extLst>
              </a:tr>
              <a:tr h="331983">
                <a:tc>
                  <a:txBody>
                    <a:bodyPr/>
                    <a:lstStyle/>
                    <a:p>
                      <a:pPr>
                        <a:buNone/>
                      </a:pPr>
                      <a:r>
                        <a:rPr lang="en-AU" sz="1000">
                          <a:effectLst/>
                        </a:rPr>
                        <a:t>HSC syllabus category</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tc>
                  <a:txBody>
                    <a:bodyPr/>
                    <a:lstStyle/>
                    <a:p>
                      <a:pPr>
                        <a:buNone/>
                      </a:pPr>
                      <a:r>
                        <a:rPr lang="en-AU" sz="1000">
                          <a:effectLst/>
                        </a:rPr>
                        <a:t>Regression algorithm — predicts continuous values</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tc>
                  <a:txBody>
                    <a:bodyPr/>
                    <a:lstStyle/>
                    <a:p>
                      <a:pPr>
                        <a:buNone/>
                      </a:pPr>
                      <a:r>
                        <a:rPr lang="en-AU" sz="1000">
                          <a:effectLst/>
                        </a:rPr>
                        <a:t>Regression algorithm — predicts continuous values</a:t>
                      </a:r>
                      <a:endParaRPr lang="en-AU" sz="1000">
                        <a:effectLst/>
                        <a:latin typeface="Times New Roman" panose="02020603050405020304" pitchFamily="18" charset="0"/>
                        <a:ea typeface="Times New Roman" panose="02020603050405020304" pitchFamily="18" charset="0"/>
                      </a:endParaRPr>
                    </a:p>
                  </a:txBody>
                  <a:tcPr marL="40907" marR="40907" marT="0" marB="0" anchor="ctr"/>
                </a:tc>
                <a:tc>
                  <a:txBody>
                    <a:bodyPr/>
                    <a:lstStyle/>
                    <a:p>
                      <a:pPr>
                        <a:buNone/>
                      </a:pPr>
                      <a:r>
                        <a:rPr lang="en-AU" sz="1000" dirty="0">
                          <a:effectLst/>
                        </a:rPr>
                        <a:t>Classification algorithm — predicts a category</a:t>
                      </a:r>
                      <a:endParaRPr lang="en-AU" sz="1000" dirty="0">
                        <a:effectLst/>
                        <a:latin typeface="Times New Roman" panose="02020603050405020304" pitchFamily="18" charset="0"/>
                        <a:ea typeface="Times New Roman" panose="02020603050405020304" pitchFamily="18" charset="0"/>
                      </a:endParaRPr>
                    </a:p>
                  </a:txBody>
                  <a:tcPr marL="40907" marR="40907" marT="0" marB="0" anchor="ctr"/>
                </a:tc>
                <a:extLst>
                  <a:ext uri="{0D108BD9-81ED-4DB2-BD59-A6C34878D82A}">
                    <a16:rowId xmlns:a16="http://schemas.microsoft.com/office/drawing/2014/main" val="494408395"/>
                  </a:ext>
                </a:extLst>
              </a:tr>
            </a:tbl>
          </a:graphicData>
        </a:graphic>
      </p:graphicFrame>
    </p:spTree>
    <p:extLst>
      <p:ext uri="{BB962C8B-B14F-4D97-AF65-F5344CB8AC3E}">
        <p14:creationId xmlns:p14="http://schemas.microsoft.com/office/powerpoint/2010/main" val="17907980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1498F1F8388FE47BDFE6C6EBC9FBC97" ma:contentTypeVersion="12" ma:contentTypeDescription="Create a new document." ma:contentTypeScope="" ma:versionID="3427986c250e7afe9158bc5715926d56">
  <xsd:schema xmlns:xsd="http://www.w3.org/2001/XMLSchema" xmlns:xs="http://www.w3.org/2001/XMLSchema" xmlns:p="http://schemas.microsoft.com/office/2006/metadata/properties" xmlns:ns2="a18c8287-e67d-4153-9c7a-3211f93ba17c" xmlns:ns3="b184bd36-9bc1-425f-a269-985a55be00b0" targetNamespace="http://schemas.microsoft.com/office/2006/metadata/properties" ma:root="true" ma:fieldsID="35970ea7f66336c0b1829e04b3611d28" ns2:_="" ns3:_="">
    <xsd:import namespace="a18c8287-e67d-4153-9c7a-3211f93ba17c"/>
    <xsd:import namespace="b184bd36-9bc1-425f-a269-985a55be00b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Location"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8c8287-e67d-4153-9c7a-3211f93ba17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Location" ma:index="15" nillable="true" ma:displayName="Location" ma:indexed="true" ma:internalName="MediaServiceLocation"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303cb54f-a539-4214-b742-115fcddb040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184bd36-9bc1-425f-a269-985a55be00b0"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c1e25aba-d57d-4f75-9c5c-87460aebaadd}" ma:internalName="TaxCatchAll" ma:showField="CatchAllData" ma:web="b184bd36-9bc1-425f-a269-985a55be00b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18c8287-e67d-4153-9c7a-3211f93ba17c">
      <Terms xmlns="http://schemas.microsoft.com/office/infopath/2007/PartnerControls"/>
    </lcf76f155ced4ddcb4097134ff3c332f>
    <TaxCatchAll xmlns="b184bd36-9bc1-425f-a269-985a55be00b0" xsi:nil="true"/>
  </documentManagement>
</p:properties>
</file>

<file path=customXml/itemProps1.xml><?xml version="1.0" encoding="utf-8"?>
<ds:datastoreItem xmlns:ds="http://schemas.openxmlformats.org/officeDocument/2006/customXml" ds:itemID="{3597C31B-1D06-4419-9F0D-7285277F6F47}"/>
</file>

<file path=customXml/itemProps2.xml><?xml version="1.0" encoding="utf-8"?>
<ds:datastoreItem xmlns:ds="http://schemas.openxmlformats.org/officeDocument/2006/customXml" ds:itemID="{F1C59FDE-6CC4-438F-84A4-03A012A0EE73}"/>
</file>

<file path=customXml/itemProps3.xml><?xml version="1.0" encoding="utf-8"?>
<ds:datastoreItem xmlns:ds="http://schemas.openxmlformats.org/officeDocument/2006/customXml" ds:itemID="{61D861E8-33BC-43C2-82FB-47E6599C053E}"/>
</file>

<file path=docProps/app.xml><?xml version="1.0" encoding="utf-8"?>
<Properties xmlns="http://schemas.openxmlformats.org/officeDocument/2006/extended-properties" xmlns:vt="http://schemas.openxmlformats.org/officeDocument/2006/docPropsVTypes">
  <TotalTime>83</TotalTime>
  <Words>2399</Words>
  <Application>Microsoft Macintosh PowerPoint</Application>
  <PresentationFormat>On-screen Show (16:9)</PresentationFormat>
  <Paragraphs>230</Paragraphs>
  <Slides>13</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Courier New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 From Supervised Learning to Applications</dc:title>
  <dc:subject>PptxGenJS Presentation</dc:subject>
  <dc:creator>PptxGenJS</dc:creator>
  <cp:lastModifiedBy>Wenshuo Li</cp:lastModifiedBy>
  <cp:revision>2</cp:revision>
  <dcterms:created xsi:type="dcterms:W3CDTF">2026-06-02T02:05:44Z</dcterms:created>
  <dcterms:modified xsi:type="dcterms:W3CDTF">2026-06-04T01:16:06Z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0x01010071498F1F8388FE47BDFE6C6EBC9FBC97</vt:lpwstr>
  </property>
</Properties>
</file>